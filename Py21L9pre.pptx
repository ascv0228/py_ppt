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  <p:sldMasterId id="2147483936" r:id="rId2"/>
    <p:sldMasterId id="2147483984" r:id="rId3"/>
    <p:sldMasterId id="2147483996" r:id="rId4"/>
    <p:sldMasterId id="2147484008" r:id="rId5"/>
  </p:sldMasterIdLst>
  <p:notesMasterIdLst>
    <p:notesMasterId r:id="rId135"/>
  </p:notesMasterIdLst>
  <p:sldIdLst>
    <p:sldId id="2007" r:id="rId6"/>
    <p:sldId id="2003" r:id="rId7"/>
    <p:sldId id="2004" r:id="rId8"/>
    <p:sldId id="1991" r:id="rId9"/>
    <p:sldId id="1985" r:id="rId10"/>
    <p:sldId id="1986" r:id="rId11"/>
    <p:sldId id="1988" r:id="rId12"/>
    <p:sldId id="1944" r:id="rId13"/>
    <p:sldId id="1945" r:id="rId14"/>
    <p:sldId id="1946" r:id="rId15"/>
    <p:sldId id="1947" r:id="rId16"/>
    <p:sldId id="1948" r:id="rId17"/>
    <p:sldId id="1949" r:id="rId18"/>
    <p:sldId id="1950" r:id="rId19"/>
    <p:sldId id="1951" r:id="rId20"/>
    <p:sldId id="1974" r:id="rId21"/>
    <p:sldId id="1975" r:id="rId22"/>
    <p:sldId id="1976" r:id="rId23"/>
    <p:sldId id="1977" r:id="rId24"/>
    <p:sldId id="1978" r:id="rId25"/>
    <p:sldId id="1979" r:id="rId26"/>
    <p:sldId id="1980" r:id="rId27"/>
    <p:sldId id="1981" r:id="rId28"/>
    <p:sldId id="1989" r:id="rId29"/>
    <p:sldId id="1983" r:id="rId30"/>
    <p:sldId id="1984" r:id="rId31"/>
    <p:sldId id="1904" r:id="rId32"/>
    <p:sldId id="1905" r:id="rId33"/>
    <p:sldId id="1785" r:id="rId34"/>
    <p:sldId id="1786" r:id="rId35"/>
    <p:sldId id="1787" r:id="rId36"/>
    <p:sldId id="1789" r:id="rId37"/>
    <p:sldId id="1943" r:id="rId38"/>
    <p:sldId id="1992" r:id="rId39"/>
    <p:sldId id="1907" r:id="rId40"/>
    <p:sldId id="1911" r:id="rId41"/>
    <p:sldId id="1908" r:id="rId42"/>
    <p:sldId id="1909" r:id="rId43"/>
    <p:sldId id="1910" r:id="rId44"/>
    <p:sldId id="1993" r:id="rId45"/>
    <p:sldId id="2001" r:id="rId46"/>
    <p:sldId id="1994" r:id="rId47"/>
    <p:sldId id="1998" r:id="rId48"/>
    <p:sldId id="1995" r:id="rId49"/>
    <p:sldId id="1999" r:id="rId50"/>
    <p:sldId id="2000" r:id="rId51"/>
    <p:sldId id="1913" r:id="rId52"/>
    <p:sldId id="1914" r:id="rId53"/>
    <p:sldId id="1915" r:id="rId54"/>
    <p:sldId id="1916" r:id="rId55"/>
    <p:sldId id="1917" r:id="rId56"/>
    <p:sldId id="1918" r:id="rId57"/>
    <p:sldId id="1919" r:id="rId58"/>
    <p:sldId id="1920" r:id="rId59"/>
    <p:sldId id="1921" r:id="rId60"/>
    <p:sldId id="1922" r:id="rId61"/>
    <p:sldId id="1923" r:id="rId62"/>
    <p:sldId id="2014" r:id="rId63"/>
    <p:sldId id="2015" r:id="rId64"/>
    <p:sldId id="2016" r:id="rId65"/>
    <p:sldId id="2010" r:id="rId66"/>
    <p:sldId id="2053" r:id="rId67"/>
    <p:sldId id="1931" r:id="rId68"/>
    <p:sldId id="1932" r:id="rId69"/>
    <p:sldId id="1933" r:id="rId70"/>
    <p:sldId id="1934" r:id="rId71"/>
    <p:sldId id="1935" r:id="rId72"/>
    <p:sldId id="2017" r:id="rId73"/>
    <p:sldId id="2024" r:id="rId74"/>
    <p:sldId id="2046" r:id="rId75"/>
    <p:sldId id="2042" r:id="rId76"/>
    <p:sldId id="2045" r:id="rId77"/>
    <p:sldId id="2044" r:id="rId78"/>
    <p:sldId id="2043" r:id="rId79"/>
    <p:sldId id="2028" r:id="rId80"/>
    <p:sldId id="2029" r:id="rId81"/>
    <p:sldId id="2030" r:id="rId82"/>
    <p:sldId id="2031" r:id="rId83"/>
    <p:sldId id="2032" r:id="rId84"/>
    <p:sldId id="2033" r:id="rId85"/>
    <p:sldId id="2037" r:id="rId86"/>
    <p:sldId id="2038" r:id="rId87"/>
    <p:sldId id="2040" r:id="rId88"/>
    <p:sldId id="2047" r:id="rId89"/>
    <p:sldId id="2048" r:id="rId90"/>
    <p:sldId id="2049" r:id="rId91"/>
    <p:sldId id="2050" r:id="rId92"/>
    <p:sldId id="2051" r:id="rId93"/>
    <p:sldId id="2052" r:id="rId94"/>
    <p:sldId id="1770" r:id="rId95"/>
    <p:sldId id="1771" r:id="rId96"/>
    <p:sldId id="1772" r:id="rId97"/>
    <p:sldId id="1773" r:id="rId98"/>
    <p:sldId id="1774" r:id="rId99"/>
    <p:sldId id="1775" r:id="rId100"/>
    <p:sldId id="1776" r:id="rId101"/>
    <p:sldId id="1777" r:id="rId102"/>
    <p:sldId id="1778" r:id="rId103"/>
    <p:sldId id="1779" r:id="rId104"/>
    <p:sldId id="1780" r:id="rId105"/>
    <p:sldId id="1781" r:id="rId106"/>
    <p:sldId id="1782" r:id="rId107"/>
    <p:sldId id="1783" r:id="rId108"/>
    <p:sldId id="2054" r:id="rId109"/>
    <p:sldId id="1745" r:id="rId110"/>
    <p:sldId id="1746" r:id="rId111"/>
    <p:sldId id="1747" r:id="rId112"/>
    <p:sldId id="1748" r:id="rId113"/>
    <p:sldId id="1749" r:id="rId114"/>
    <p:sldId id="1791" r:id="rId115"/>
    <p:sldId id="1840" r:id="rId116"/>
    <p:sldId id="1793" r:id="rId117"/>
    <p:sldId id="1750" r:id="rId118"/>
    <p:sldId id="1751" r:id="rId119"/>
    <p:sldId id="1872" r:id="rId120"/>
    <p:sldId id="1874" r:id="rId121"/>
    <p:sldId id="1873" r:id="rId122"/>
    <p:sldId id="1871" r:id="rId123"/>
    <p:sldId id="1752" r:id="rId124"/>
    <p:sldId id="2055" r:id="rId125"/>
    <p:sldId id="1859" r:id="rId126"/>
    <p:sldId id="1838" r:id="rId127"/>
    <p:sldId id="1885" r:id="rId128"/>
    <p:sldId id="2056" r:id="rId129"/>
    <p:sldId id="1893" r:id="rId130"/>
    <p:sldId id="1894" r:id="rId131"/>
    <p:sldId id="1895" r:id="rId132"/>
    <p:sldId id="1896" r:id="rId133"/>
    <p:sldId id="1897" r:id="rId134"/>
  </p:sldIdLst>
  <p:sldSz cx="9737725" cy="6858000"/>
  <p:notesSz cx="6858000" cy="9144000"/>
  <p:defaultTextStyle>
    <a:defPPr>
      <a:defRPr lang="en-US"/>
    </a:defPPr>
    <a:lvl1pPr marL="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6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9933"/>
    <a:srgbClr val="959595"/>
    <a:srgbClr val="2D2DB9"/>
    <a:srgbClr val="FF3300"/>
    <a:srgbClr val="9966FF"/>
    <a:srgbClr val="7030A0"/>
    <a:srgbClr val="006600"/>
    <a:srgbClr val="FFFFFF"/>
    <a:srgbClr val="EBAE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2" y="235"/>
      </p:cViewPr>
      <p:guideLst>
        <p:guide orient="horz" pos="2160"/>
        <p:guide pos="30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38" Type="http://schemas.openxmlformats.org/officeDocument/2006/relationships/theme" Target="theme/theme1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slide" Target="slides/slide129.xml"/><Relationship Id="rId139" Type="http://schemas.openxmlformats.org/officeDocument/2006/relationships/tableStyles" Target="tableStyles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slide" Target="slides/slide125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slide" Target="slides/slide126.xml"/><Relationship Id="rId136" Type="http://schemas.openxmlformats.org/officeDocument/2006/relationships/presProps" Target="presProps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13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slide" Target="slides/slide127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slide" Target="slides/slide1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D558E-8742-4BFA-AD8A-F33C97E8B945}" type="datetimeFigureOut">
              <a:rPr lang="en-US" smtClean="0"/>
              <a:pPr/>
              <a:t>4/27/2021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43000"/>
            <a:ext cx="4381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E9357-523C-40C5-B7CE-88AC67A9F1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68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1pPr>
    <a:lvl2pPr marL="423270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2pPr>
    <a:lvl3pPr marL="84654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3pPr>
    <a:lvl4pPr marL="1269811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4pPr>
    <a:lvl5pPr marL="169308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5pPr>
    <a:lvl6pPr marL="211635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6pPr>
    <a:lvl7pPr marL="2539622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7pPr>
    <a:lvl8pPr marL="2962893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8pPr>
    <a:lvl9pPr marL="3386164" algn="l" defTabSz="846541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47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3790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48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794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49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984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50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4152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51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0384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3F3EF-120F-43A2-8C64-62F53CEC1D39}" type="slidenum">
              <a:rPr lang="he-IL" altLang="en-US">
                <a:solidFill>
                  <a:prstClr val="black"/>
                </a:solidFill>
              </a:rPr>
              <a:pPr/>
              <a:t>58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055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90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9440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91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5665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92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5065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93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0549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94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9330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95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6350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96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474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97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502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98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327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99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035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100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021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101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12823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102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200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103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464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104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488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105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073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14352F07-876D-47FC-ADEF-DA8BBACCB2DA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106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2387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2388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205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107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86478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108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9032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5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1CBF60A-DCE8-4CEB-996E-073139D651B0}" type="slidenum">
              <a:rPr lang="en-GB" altLang="en-US" sz="1200" smtClean="0">
                <a:solidFill>
                  <a:prstClr val="black"/>
                </a:solidFill>
              </a:rPr>
              <a:pPr eaLnBrk="1" hangingPunct="1"/>
              <a:t>109</a:t>
            </a:fld>
            <a:endParaRPr lang="en-GB" altLang="en-US" sz="1200">
              <a:solidFill>
                <a:prstClr val="black"/>
              </a:solidFill>
            </a:endParaRPr>
          </a:p>
        </p:txBody>
      </p:sp>
      <p:sp>
        <p:nvSpPr>
          <p:cNvPr id="273411" name="Text Box 1"/>
          <p:cNvSpPr txBox="1">
            <a:spLocks noChangeArrowheads="1"/>
          </p:cNvSpPr>
          <p:nvPr/>
        </p:nvSpPr>
        <p:spPr bwMode="auto">
          <a:xfrm>
            <a:off x="1209675" y="693738"/>
            <a:ext cx="4424363" cy="34147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058" tIns="41029" rIns="82058" bIns="41029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341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1813"/>
            <a:ext cx="5461000" cy="40878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794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8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406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0805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840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73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47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843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6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8496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465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143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5586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885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92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0366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5415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0822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509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92794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3790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65945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2644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0330" y="3124200"/>
            <a:ext cx="8277066" cy="8382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60659" y="4191000"/>
            <a:ext cx="6654112" cy="990600"/>
          </a:xfrm>
        </p:spPr>
        <p:txBody>
          <a:bodyPr/>
          <a:lstStyle>
            <a:lvl1pPr marL="0" indent="0" algn="ctr">
              <a:buFontTx/>
              <a:buNone/>
              <a:defRPr sz="43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30329" y="6248400"/>
            <a:ext cx="2028693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Linux+ Guide to Linux Certification, Second Edition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327056" y="6248400"/>
            <a:ext cx="3083613" cy="457200"/>
          </a:xfrm>
        </p:spPr>
        <p:txBody>
          <a:bodyPr/>
          <a:lstStyle>
            <a:lvl1pPr algn="ctr">
              <a:defRPr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78703" y="6248400"/>
            <a:ext cx="2028693" cy="457200"/>
          </a:xfrm>
        </p:spPr>
        <p:txBody>
          <a:bodyPr/>
          <a:lstStyle>
            <a:lvl1pPr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BD07A6F-49B2-46CC-8694-7874204663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90683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33602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213" y="4406901"/>
            <a:ext cx="827706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9213" y="2906713"/>
            <a:ext cx="8277066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51563-9516-4805-BE0A-0F87CCE5BA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3275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034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0010" y="1676400"/>
            <a:ext cx="4219681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C43D5-2C6B-4F34-8BE0-B2269FA1DD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7092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6" y="274638"/>
            <a:ext cx="876395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86" y="1535113"/>
            <a:ext cx="430252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886" y="2174875"/>
            <a:ext cx="43025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6629" y="1535113"/>
            <a:ext cx="430421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6629" y="2174875"/>
            <a:ext cx="430421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EA570E-81C1-4C02-A389-471327DFF6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629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92C82-554D-4A9F-B6FC-AEA270041A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65136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9EB730-830B-4C2E-9CAC-497C9C0C71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843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887" y="273050"/>
            <a:ext cx="320364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7180" y="273051"/>
            <a:ext cx="544365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87" y="1435101"/>
            <a:ext cx="320364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C2BE9-C3A0-4A31-B6F8-4D3141C1FF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0560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8662" y="4800600"/>
            <a:ext cx="584263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08662" y="612775"/>
            <a:ext cx="584263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08662" y="5367338"/>
            <a:ext cx="584263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A5D563-7C76-4E75-87F1-430831F83A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479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054E59-0785-479E-97CA-D3C26E97C4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8390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19277" y="381000"/>
            <a:ext cx="2150414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8034" y="381000"/>
            <a:ext cx="628894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C385D-0273-440B-8A17-C776D5F973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1674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217" y="1122363"/>
            <a:ext cx="7303294" cy="2387600"/>
          </a:xfrm>
        </p:spPr>
        <p:txBody>
          <a:bodyPr anchor="b"/>
          <a:lstStyle>
            <a:lvl1pPr algn="ctr">
              <a:defRPr sz="47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7" y="3602038"/>
            <a:ext cx="7303294" cy="1655762"/>
          </a:xfrm>
        </p:spPr>
        <p:txBody>
          <a:bodyPr/>
          <a:lstStyle>
            <a:lvl1pPr marL="0" indent="0" algn="ctr">
              <a:buNone/>
              <a:defRPr sz="1915"/>
            </a:lvl1pPr>
            <a:lvl2pPr marL="364871" indent="0" algn="ctr">
              <a:buNone/>
              <a:defRPr sz="1596"/>
            </a:lvl2pPr>
            <a:lvl3pPr marL="729742" indent="0" algn="ctr">
              <a:buNone/>
              <a:defRPr sz="1436"/>
            </a:lvl3pPr>
            <a:lvl4pPr marL="1094613" indent="0" algn="ctr">
              <a:buNone/>
              <a:defRPr sz="1277"/>
            </a:lvl4pPr>
            <a:lvl5pPr marL="1459484" indent="0" algn="ctr">
              <a:buNone/>
              <a:defRPr sz="1277"/>
            </a:lvl5pPr>
            <a:lvl6pPr marL="1824356" indent="0" algn="ctr">
              <a:buNone/>
              <a:defRPr sz="1277"/>
            </a:lvl6pPr>
            <a:lvl7pPr marL="2189226" indent="0" algn="ctr">
              <a:buNone/>
              <a:defRPr sz="1277"/>
            </a:lvl7pPr>
            <a:lvl8pPr marL="2554097" indent="0" algn="ctr">
              <a:buNone/>
              <a:defRPr sz="1277"/>
            </a:lvl8pPr>
            <a:lvl9pPr marL="2918969" indent="0" algn="ctr">
              <a:buNone/>
              <a:defRPr sz="1277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525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68973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7" y="1709741"/>
            <a:ext cx="8398788" cy="2852737"/>
          </a:xfrm>
        </p:spPr>
        <p:txBody>
          <a:bodyPr anchor="b"/>
          <a:lstStyle>
            <a:lvl1pPr>
              <a:defRPr sz="47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7" y="4589466"/>
            <a:ext cx="8398788" cy="1500187"/>
          </a:xfrm>
        </p:spPr>
        <p:txBody>
          <a:bodyPr/>
          <a:lstStyle>
            <a:lvl1pPr marL="0" indent="0">
              <a:buNone/>
              <a:defRPr sz="1915">
                <a:solidFill>
                  <a:schemeClr val="tx1">
                    <a:tint val="75000"/>
                  </a:schemeClr>
                </a:solidFill>
              </a:defRPr>
            </a:lvl1pPr>
            <a:lvl2pPr marL="364871" indent="0">
              <a:buNone/>
              <a:defRPr sz="1596">
                <a:solidFill>
                  <a:schemeClr val="tx1">
                    <a:tint val="75000"/>
                  </a:schemeClr>
                </a:solidFill>
              </a:defRPr>
            </a:lvl2pPr>
            <a:lvl3pPr marL="729742" indent="0">
              <a:buNone/>
              <a:defRPr sz="1436">
                <a:solidFill>
                  <a:schemeClr val="tx1">
                    <a:tint val="75000"/>
                  </a:schemeClr>
                </a:solidFill>
              </a:defRPr>
            </a:lvl3pPr>
            <a:lvl4pPr marL="1094613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4pPr>
            <a:lvl5pPr marL="145948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5pPr>
            <a:lvl6pPr marL="182435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6pPr>
            <a:lvl7pPr marL="2189226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7pPr>
            <a:lvl8pPr marL="2554097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8pPr>
            <a:lvl9pPr marL="2918969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56193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02361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8"/>
            <a:ext cx="8398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3"/>
            <a:ext cx="4119514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3" y="1681163"/>
            <a:ext cx="4139802" cy="823912"/>
          </a:xfrm>
        </p:spPr>
        <p:txBody>
          <a:bodyPr anchor="b"/>
          <a:lstStyle>
            <a:lvl1pPr marL="0" indent="0">
              <a:buNone/>
              <a:defRPr sz="1915" b="1"/>
            </a:lvl1pPr>
            <a:lvl2pPr marL="364871" indent="0">
              <a:buNone/>
              <a:defRPr sz="1596" b="1"/>
            </a:lvl2pPr>
            <a:lvl3pPr marL="729742" indent="0">
              <a:buNone/>
              <a:defRPr sz="1436" b="1"/>
            </a:lvl3pPr>
            <a:lvl4pPr marL="1094613" indent="0">
              <a:buNone/>
              <a:defRPr sz="1277" b="1"/>
            </a:lvl4pPr>
            <a:lvl5pPr marL="1459484" indent="0">
              <a:buNone/>
              <a:defRPr sz="1277" b="1"/>
            </a:lvl5pPr>
            <a:lvl6pPr marL="1824356" indent="0">
              <a:buNone/>
              <a:defRPr sz="1277" b="1"/>
            </a:lvl6pPr>
            <a:lvl7pPr marL="2189226" indent="0">
              <a:buNone/>
              <a:defRPr sz="1277" b="1"/>
            </a:lvl7pPr>
            <a:lvl8pPr marL="2554097" indent="0">
              <a:buNone/>
              <a:defRPr sz="1277" b="1"/>
            </a:lvl8pPr>
            <a:lvl9pPr marL="2918969" indent="0">
              <a:buNone/>
              <a:defRPr sz="12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3" y="2505075"/>
            <a:ext cx="41398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6320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653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1071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3" y="987428"/>
            <a:ext cx="4929723" cy="4873625"/>
          </a:xfrm>
        </p:spPr>
        <p:txBody>
          <a:bodyPr/>
          <a:lstStyle>
            <a:lvl1pPr>
              <a:defRPr sz="2553"/>
            </a:lvl1pPr>
            <a:lvl2pPr>
              <a:defRPr sz="2234"/>
            </a:lvl2pPr>
            <a:lvl3pPr>
              <a:defRPr sz="191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3704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8" y="457200"/>
            <a:ext cx="3140670" cy="160020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39803" y="987428"/>
            <a:ext cx="4929723" cy="4873625"/>
          </a:xfrm>
        </p:spPr>
        <p:txBody>
          <a:bodyPr/>
          <a:lstStyle>
            <a:lvl1pPr marL="0" indent="0">
              <a:buNone/>
              <a:defRPr sz="2553"/>
            </a:lvl1pPr>
            <a:lvl2pPr marL="364871" indent="0">
              <a:buNone/>
              <a:defRPr sz="2234"/>
            </a:lvl2pPr>
            <a:lvl3pPr marL="729742" indent="0">
              <a:buNone/>
              <a:defRPr sz="1915"/>
            </a:lvl3pPr>
            <a:lvl4pPr marL="1094613" indent="0">
              <a:buNone/>
              <a:defRPr sz="1596"/>
            </a:lvl4pPr>
            <a:lvl5pPr marL="1459484" indent="0">
              <a:buNone/>
              <a:defRPr sz="1596"/>
            </a:lvl5pPr>
            <a:lvl6pPr marL="1824356" indent="0">
              <a:buNone/>
              <a:defRPr sz="1596"/>
            </a:lvl6pPr>
            <a:lvl7pPr marL="2189226" indent="0">
              <a:buNone/>
              <a:defRPr sz="1596"/>
            </a:lvl7pPr>
            <a:lvl8pPr marL="2554097" indent="0">
              <a:buNone/>
              <a:defRPr sz="1596"/>
            </a:lvl8pPr>
            <a:lvl9pPr marL="2918969" indent="0">
              <a:buNone/>
              <a:defRPr sz="159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8" y="2057400"/>
            <a:ext cx="3140670" cy="3811588"/>
          </a:xfrm>
        </p:spPr>
        <p:txBody>
          <a:bodyPr/>
          <a:lstStyle>
            <a:lvl1pPr marL="0" indent="0">
              <a:buNone/>
              <a:defRPr sz="1277"/>
            </a:lvl1pPr>
            <a:lvl2pPr marL="364871" indent="0">
              <a:buNone/>
              <a:defRPr sz="1117"/>
            </a:lvl2pPr>
            <a:lvl3pPr marL="729742" indent="0">
              <a:buNone/>
              <a:defRPr sz="958"/>
            </a:lvl3pPr>
            <a:lvl4pPr marL="1094613" indent="0">
              <a:buNone/>
              <a:defRPr sz="798"/>
            </a:lvl4pPr>
            <a:lvl5pPr marL="1459484" indent="0">
              <a:buNone/>
              <a:defRPr sz="798"/>
            </a:lvl5pPr>
            <a:lvl6pPr marL="1824356" indent="0">
              <a:buNone/>
              <a:defRPr sz="798"/>
            </a:lvl6pPr>
            <a:lvl7pPr marL="2189226" indent="0">
              <a:buNone/>
              <a:defRPr sz="798"/>
            </a:lvl7pPr>
            <a:lvl8pPr marL="2554097" indent="0">
              <a:buNone/>
              <a:defRPr sz="798"/>
            </a:lvl8pPr>
            <a:lvl9pPr marL="2918969" indent="0">
              <a:buNone/>
              <a:defRPr sz="7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3373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299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59" y="365125"/>
            <a:ext cx="209969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69" y="365125"/>
            <a:ext cx="61773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470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375BA7AC-D5B2-4EAB-A1FF-2BEE77A7CE74}" type="datetimeFigureOut">
              <a:rPr lang="en-US" sz="1800" smtClean="0">
                <a:solidFill>
                  <a:prstClr val="black"/>
                </a:solidFill>
              </a:rPr>
              <a:pPr defTabSz="914400"/>
              <a:t>4/27/2021</a:t>
            </a:fld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D192214B-8AB3-47AC-8DCC-1843CB75F973}" type="slidenum">
              <a:rPr lang="en-US" sz="1800" smtClean="0">
                <a:solidFill>
                  <a:prstClr val="black"/>
                </a:solidFill>
              </a:rPr>
              <a:pPr defTabSz="914400"/>
              <a:t>‹#›</a:t>
            </a:fld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1942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330" y="1122363"/>
            <a:ext cx="827706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217" y="3602038"/>
            <a:ext cx="730329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4596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3063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397" y="1709741"/>
            <a:ext cx="839878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4397" y="4589466"/>
            <a:ext cx="839878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1611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9469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29723" y="1825625"/>
            <a:ext cx="413853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42238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365128"/>
            <a:ext cx="8398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0738" y="1681163"/>
            <a:ext cx="41195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738" y="2505075"/>
            <a:ext cx="41195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29725" y="1681163"/>
            <a:ext cx="413980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29725" y="2505075"/>
            <a:ext cx="413980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42709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476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33896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802" y="987428"/>
            <a:ext cx="492972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7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2564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737" y="457200"/>
            <a:ext cx="314067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39802" y="987428"/>
            <a:ext cx="492972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737" y="2057400"/>
            <a:ext cx="314067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0967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02308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8560" y="365125"/>
            <a:ext cx="209969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9470" y="365125"/>
            <a:ext cx="617736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BA7AC-D5B2-4EAB-A1FF-2BEE77A7CE74}" type="datetimeFigureOut">
              <a:rPr lang="en-US" smtClean="0">
                <a:solidFill>
                  <a:prstClr val="black"/>
                </a:solidFill>
              </a:rPr>
              <a:pPr/>
              <a:t>4/27/2021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214B-8AB3-47AC-8DCC-1843CB75F973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37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496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77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68034" y="381000"/>
            <a:ext cx="860165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034" y="1295400"/>
            <a:ext cx="860165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68034" y="6324600"/>
            <a:ext cx="6248374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222222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Guide to Programming with Python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8703" y="6324600"/>
            <a:ext cx="2190988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222222"/>
                </a:solidFill>
                <a:latin typeface="Arial" pitchFamily="34" charset="0"/>
                <a:ea typeface="MS PGothic" pitchFamily="34" charset="-128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EECBAB90-F380-4A7C-A3EC-C9AFA9EB0263}" type="slidenum">
              <a:rPr lang="en-US" altLang="en-US" smtClean="0"/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18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+mj-lt"/>
          <a:ea typeface="MS PGothic" pitchFamily="34" charset="-128"/>
          <a:cs typeface="ＭＳ Ｐゴシック" pitchFamily="-65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D2DB9"/>
          </a:solidFill>
          <a:latin typeface="Arial" charset="0"/>
          <a:ea typeface="MS PGothic" pitchFamily="34" charset="-128"/>
          <a:cs typeface="ＭＳ Ｐゴシック" pitchFamily="-65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2D2DB9"/>
        </a:buClr>
        <a:buFont typeface="Wingdings" pitchFamily="2" charset="2"/>
        <a:buChar char="§"/>
        <a:defRPr sz="2600">
          <a:solidFill>
            <a:srgbClr val="222222"/>
          </a:solidFill>
          <a:latin typeface="+mn-lt"/>
          <a:ea typeface="MS PGothic" pitchFamily="34" charset="-128"/>
          <a:cs typeface="ＭＳ Ｐゴシック" pitchFamily="-65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  <a:ea typeface="MS PGothic" pitchFamily="34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737725" cy="11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369" y="1161143"/>
            <a:ext cx="9042173" cy="5015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535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</p:sldLayoutIdLst>
  <p:txStyles>
    <p:titleStyle>
      <a:lvl1pPr algn="ctr" defTabSz="729742" rtl="0" eaLnBrk="1" latinLnBrk="0" hangingPunct="1">
        <a:lnSpc>
          <a:spcPct val="90000"/>
        </a:lnSpc>
        <a:spcBef>
          <a:spcPct val="0"/>
        </a:spcBef>
        <a:buNone/>
        <a:defRPr sz="3511" kern="1200">
          <a:solidFill>
            <a:srgbClr val="002060"/>
          </a:solidFill>
          <a:latin typeface="Elephant" panose="02020904090505020303" pitchFamily="18" charset="0"/>
          <a:ea typeface="+mj-ea"/>
          <a:cs typeface="+mj-cs"/>
        </a:defRPr>
      </a:lvl1pPr>
    </p:titleStyle>
    <p:bodyStyle>
      <a:lvl1pPr marL="182436" indent="-182436" algn="l" defTabSz="729742" rtl="0" eaLnBrk="1" latinLnBrk="0" hangingPunct="1">
        <a:lnSpc>
          <a:spcPct val="90000"/>
        </a:lnSpc>
        <a:spcBef>
          <a:spcPts val="798"/>
        </a:spcBef>
        <a:buFont typeface="Arial" panose="020B0604020202020204" pitchFamily="34" charset="0"/>
        <a:buChar char="•"/>
        <a:defRPr sz="3192" kern="1200">
          <a:solidFill>
            <a:schemeClr val="tx1"/>
          </a:solidFill>
          <a:latin typeface="+mn-lt"/>
          <a:ea typeface="+mn-ea"/>
          <a:cs typeface="+mn-cs"/>
        </a:defRPr>
      </a:lvl1pPr>
      <a:lvl2pPr marL="54730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873" kern="1200">
          <a:solidFill>
            <a:schemeClr val="tx1"/>
          </a:solidFill>
          <a:latin typeface="+mn-lt"/>
          <a:ea typeface="+mn-ea"/>
          <a:cs typeface="+mn-cs"/>
        </a:defRPr>
      </a:lvl2pPr>
      <a:lvl3pPr marL="912177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553" kern="1200">
          <a:solidFill>
            <a:schemeClr val="tx1"/>
          </a:solidFill>
          <a:latin typeface="+mn-lt"/>
          <a:ea typeface="+mn-ea"/>
          <a:cs typeface="+mn-cs"/>
        </a:defRPr>
      </a:lvl3pPr>
      <a:lvl4pPr marL="1277049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4pPr>
      <a:lvl5pPr marL="164192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2234" kern="1200">
          <a:solidFill>
            <a:schemeClr val="tx1"/>
          </a:solidFill>
          <a:latin typeface="+mn-lt"/>
          <a:ea typeface="+mn-ea"/>
          <a:cs typeface="+mn-cs"/>
        </a:defRPr>
      </a:lvl5pPr>
      <a:lvl6pPr marL="2006790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371662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736533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3101404" indent="-182436" algn="l" defTabSz="729742" rtl="0" eaLnBrk="1" latinLnBrk="0" hangingPunct="1">
        <a:lnSpc>
          <a:spcPct val="90000"/>
        </a:lnSpc>
        <a:spcBef>
          <a:spcPts val="399"/>
        </a:spcBef>
        <a:buFont typeface="Arial" panose="020B0604020202020204" pitchFamily="34" charset="0"/>
        <a:buChar char="•"/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1pPr>
      <a:lvl2pPr marL="364871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2pPr>
      <a:lvl3pPr marL="729742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3pPr>
      <a:lvl4pPr marL="1094613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4pPr>
      <a:lvl5pPr marL="1459484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5pPr>
      <a:lvl6pPr marL="182435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6pPr>
      <a:lvl7pPr marL="2189226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7pPr>
      <a:lvl8pPr marL="2554097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8pPr>
      <a:lvl9pPr marL="2918969" algn="l" defTabSz="729742" rtl="0" eaLnBrk="1" latinLnBrk="0" hangingPunct="1">
        <a:defRPr sz="14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469" y="365128"/>
            <a:ext cx="839878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69" y="1825625"/>
            <a:ext cx="839878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9469" y="6356353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C764DE79-268F-4C1A-8933-263129D2AF9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4/27/2021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25623" y="6356353"/>
            <a:ext cx="3286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7268" y="6356353"/>
            <a:ext cx="2190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914400"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78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python/number_max.ht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python/number_ceil.htm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://www.tutorialspoint.com/python/number_abs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hyperlink" Target="http://www.tutorialspoint.com/python/number_min.htm" TargetMode="External"/><Relationship Id="rId4" Type="http://schemas.openxmlformats.org/officeDocument/2006/relationships/hyperlink" Target="http://www.tutorialspoint.com/python/number_max.htm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tutorialspoint.com/python/number_max.htm" TargetMode="Externa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5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://nvie.com/posts/iterators-vs-generator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hyperlink" Target="http://nvie.com/posts/iterators-vs-generators/" TargetMode="External"/><Relationship Id="rId1" Type="http://schemas.openxmlformats.org/officeDocument/2006/relationships/slideLayout" Target="../slideLayouts/slideLayout2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296862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dirty="0">
                <a:solidFill>
                  <a:prstClr val="black"/>
                </a:solidFill>
              </a:rPr>
              <a:t>Since C’s data types are ordered, it makes sense that C’s traversal method is ordered:</a:t>
            </a:r>
          </a:p>
          <a:p>
            <a:pPr marL="574675" lvl="1" indent="-287338"/>
            <a:r>
              <a:rPr lang="en-US" altLang="en-US" dirty="0">
                <a:solidFill>
                  <a:prstClr val="black"/>
                </a:solidFill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for (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=0;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&lt;10;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++)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d",A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[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]);</a:t>
            </a:r>
            <a:endParaRPr lang="en-US" altLang="en-US" dirty="0">
              <a:solidFill>
                <a:prstClr val="black"/>
              </a:solidFill>
            </a:endParaRPr>
          </a:p>
          <a:p>
            <a:pPr marL="574675" lvl="1" indent="-287338"/>
            <a:r>
              <a:rPr lang="en-US" altLang="en-US" dirty="0">
                <a:solidFill>
                  <a:prstClr val="black"/>
                </a:solidFill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for (p=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head;p;p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=p-&gt;next)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printf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("%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d",p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-&gt;v);</a:t>
            </a:r>
          </a:p>
          <a:p>
            <a:r>
              <a:rPr lang="en-US" altLang="en-US" sz="3200" dirty="0">
                <a:solidFill>
                  <a:prstClr val="black"/>
                </a:solidFill>
              </a:rPr>
              <a:t>Since Python has unordered sets, it makes sense to have a traversal method that doesn’t impose order:</a:t>
            </a:r>
          </a:p>
          <a:p>
            <a:pPr lvl="1"/>
            <a:r>
              <a:rPr lang="en-US" altLang="en-US" dirty="0">
                <a:solidFill>
                  <a:prstClr val="black"/>
                </a:solidFill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MyDictionary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  <a:endParaRPr lang="en-US" altLang="en-US" dirty="0">
              <a:solidFill>
                <a:prstClr val="white"/>
              </a:solidFill>
            </a:endParaRPr>
          </a:p>
          <a:p>
            <a:pPr lvl="1"/>
            <a:r>
              <a:rPr lang="en-US" altLang="en-US" dirty="0">
                <a:solidFill>
                  <a:prstClr val="black"/>
                </a:solidFill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in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MyList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: print (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  <a:p>
            <a:pPr lvl="1"/>
            <a:r>
              <a:rPr lang="en-US" altLang="en-US" dirty="0">
                <a:solidFill>
                  <a:prstClr val="black"/>
                </a:solidFill>
              </a:rPr>
              <a:t> 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dirty="0" err="1">
                <a:solidFill>
                  <a:prstClr val="black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dirty="0">
                <a:solidFill>
                  <a:prstClr val="black"/>
                </a:solidFill>
                <a:latin typeface="Lucida Sans Typewriter" panose="020B0509030504030204" pitchFamily="49" charset="0"/>
              </a:rPr>
              <a:t>)</a:t>
            </a:r>
          </a:p>
          <a:p>
            <a:pPr marL="457200" lvl="1" indent="0">
              <a:buNone/>
            </a:pPr>
            <a:endParaRPr lang="en-US" altLang="en-US" dirty="0">
              <a:solidFill>
                <a:prstClr val="black"/>
              </a:solidFill>
              <a:latin typeface="Lucida Sans Typewriter" panose="020B0509030504030204" pitchFamily="49" charset="0"/>
            </a:endParaRPr>
          </a:p>
          <a:p>
            <a:r>
              <a:rPr lang="en-US" altLang="en-US" sz="3200" dirty="0">
                <a:solidFill>
                  <a:srgbClr val="FF0000"/>
                </a:solidFill>
              </a:rPr>
              <a:t>Compared to C, Python is cleaner &amp; has more power.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968" y="-1927"/>
            <a:ext cx="9729788" cy="1449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95000"/>
              </a:lnSpc>
            </a:pPr>
            <a:r>
              <a:rPr lang="en-US" altLang="en-US" sz="4400" dirty="0">
                <a:solidFill>
                  <a:srgbClr val="0070C0"/>
                </a:solidFill>
              </a:rPr>
              <a:t>A Note on Traversing (</a:t>
            </a:r>
            <a:r>
              <a:rPr lang="zh-TW" altLang="en-US" sz="4000" b="1" dirty="0">
                <a:solidFill>
                  <a:srgbClr val="0070C0"/>
                </a:solidFill>
              </a:rPr>
              <a:t>遍歷</a:t>
            </a:r>
            <a:r>
              <a:rPr lang="en-US" altLang="en-US" sz="4400" dirty="0">
                <a:solidFill>
                  <a:srgbClr val="0070C0"/>
                </a:solidFill>
              </a:rPr>
              <a:t>)</a:t>
            </a:r>
            <a:br>
              <a:rPr lang="en-US" altLang="en-US" sz="4400" dirty="0">
                <a:solidFill>
                  <a:srgbClr val="0070C0"/>
                </a:solidFill>
              </a:rPr>
            </a:br>
            <a:r>
              <a:rPr lang="en-US" altLang="en-US" sz="4400" dirty="0">
                <a:solidFill>
                  <a:srgbClr val="0070C0"/>
                </a:solidFill>
              </a:rPr>
              <a:t>a Set of</a:t>
            </a:r>
            <a:r>
              <a:rPr lang="en-US" altLang="en-US" sz="3200" dirty="0">
                <a:solidFill>
                  <a:srgbClr val="0070C0"/>
                </a:solidFill>
              </a:rPr>
              <a:t>  </a:t>
            </a:r>
            <a:r>
              <a:rPr lang="en-US" altLang="en-US" sz="4400" dirty="0">
                <a:solidFill>
                  <a:srgbClr val="0070C0"/>
                </a:solidFill>
              </a:rPr>
              <a:t>Elements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68" y="459513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5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128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06054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96862" y="1188722"/>
            <a:ext cx="9144000" cy="4714875"/>
          </a:xfrm>
        </p:spPr>
        <p:txBody>
          <a:bodyPr>
            <a:normAutofit fontScale="92500"/>
          </a:bodyPr>
          <a:lstStyle/>
          <a:p>
            <a:r>
              <a:rPr lang="en-US" altLang="en-US" sz="3600" dirty="0"/>
              <a:t>In Python, </a:t>
            </a:r>
            <a:r>
              <a:rPr lang="en-US" altLang="en-US" sz="3600" i="1" dirty="0"/>
              <a:t>everything</a:t>
            </a:r>
            <a:r>
              <a:rPr lang="en-US" altLang="en-US" sz="3600" dirty="0"/>
              <a:t> is an object. </a:t>
            </a:r>
          </a:p>
          <a:p>
            <a:pPr lvl="1"/>
            <a:r>
              <a:rPr lang="en-US" altLang="en-US" sz="3600" dirty="0"/>
              <a:t>Including the space you wish to iterate over.</a:t>
            </a:r>
          </a:p>
          <a:p>
            <a:pPr>
              <a:spcBef>
                <a:spcPts val="2400"/>
              </a:spcBef>
            </a:pPr>
            <a:r>
              <a:rPr lang="en-US" altLang="en-US" sz="3600" dirty="0"/>
              <a:t>If, for example, you want to iterate over the numbers from 0 to 9</a:t>
            </a:r>
          </a:p>
          <a:p>
            <a:pPr lvl="1"/>
            <a:r>
              <a:rPr lang="en-US" altLang="en-US" sz="3600" dirty="0"/>
              <a:t>Then that means iterating over all of the numbers </a:t>
            </a:r>
            <a:r>
              <a:rPr lang="en-US" altLang="en-US" sz="3600" i="1" dirty="0">
                <a:solidFill>
                  <a:srgbClr val="0070C0"/>
                </a:solidFill>
              </a:rPr>
              <a:t>in</a:t>
            </a:r>
            <a:r>
              <a:rPr lang="en-US" altLang="en-US" sz="3600" dirty="0"/>
              <a:t> that range. </a:t>
            </a:r>
          </a:p>
          <a:p>
            <a:pPr marL="397810" lvl="1" indent="0">
              <a:buNone/>
            </a:pPr>
            <a:r>
              <a:rPr lang="en-US" altLang="en-US" sz="4000" dirty="0">
                <a:latin typeface="Lucida Sans Typewriter" panose="020B0509030504030204" pitchFamily="49" charset="0"/>
              </a:rPr>
              <a:t>	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for </a:t>
            </a:r>
            <a:r>
              <a:rPr lang="en-US" alt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 in range(10): print (</a:t>
            </a:r>
            <a:r>
              <a:rPr lang="en-US" altLang="en-US" sz="2800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i</a:t>
            </a:r>
            <a:r>
              <a:rPr lang="en-US" altLang="en-US" sz="2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)</a:t>
            </a:r>
          </a:p>
          <a:p>
            <a:pPr lvl="1"/>
            <a:endParaRPr lang="en-US" altLang="en-US" sz="3654" dirty="0"/>
          </a:p>
          <a:p>
            <a:pPr marL="0" indent="0">
              <a:buNone/>
            </a:pPr>
            <a:endParaRPr lang="en-US" altLang="en-US" sz="2784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2784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968" y="1"/>
            <a:ext cx="9729788" cy="111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For Loops</a:t>
            </a:r>
          </a:p>
        </p:txBody>
      </p:sp>
      <p:sp>
        <p:nvSpPr>
          <p:cNvPr id="4" name="Trapezoid 3"/>
          <p:cNvSpPr>
            <a:spLocks noChangeAspect="1"/>
          </p:cNvSpPr>
          <p:nvPr/>
        </p:nvSpPr>
        <p:spPr bwMode="auto">
          <a:xfrm rot="2700000" flipH="1">
            <a:off x="7439569" y="459514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5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129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Rounded Rectangular Callout 13"/>
          <p:cNvSpPr/>
          <p:nvPr/>
        </p:nvSpPr>
        <p:spPr bwMode="auto">
          <a:xfrm>
            <a:off x="4283901" y="3895595"/>
            <a:ext cx="2855936" cy="1172673"/>
          </a:xfrm>
          <a:prstGeom prst="wedgeRoundRectCallout">
            <a:avLst>
              <a:gd name="adj1" fmla="val -63958"/>
              <a:gd name="adj2" fmla="val 129084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 err="1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Question:</a:t>
            </a:r>
            <a:r>
              <a:rPr lang="en-US" altLang="zh-TW" sz="2800" kern="0" dirty="0" err="1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Are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you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ea typeface="MS PGothic" pitchFamily="34" charset="-128"/>
                <a:cs typeface="Times New Roman" panose="02020603050405020304" pitchFamily="18" charset="0"/>
              </a:rPr>
              <a:t>able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to </a:t>
            </a:r>
            <a:r>
              <a:rPr lang="en-US" altLang="zh-TW" sz="2800" b="1" kern="0" dirty="0">
                <a:ln>
                  <a:solidFill>
                    <a:schemeClr val="tx1"/>
                  </a:solidFill>
                </a:ln>
                <a:solidFill>
                  <a:srgbClr val="006600"/>
                </a:solidFill>
                <a:ea typeface="MS PGothic" pitchFamily="34" charset="-128"/>
                <a:cs typeface="Times New Roman" panose="02020603050405020304" pitchFamily="18" charset="0"/>
              </a:rPr>
              <a:t>iterate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over this object?</a:t>
            </a:r>
          </a:p>
        </p:txBody>
      </p:sp>
      <p:sp>
        <p:nvSpPr>
          <p:cNvPr id="7" name="Rounded Rectangular Callout 13"/>
          <p:cNvSpPr/>
          <p:nvPr/>
        </p:nvSpPr>
        <p:spPr bwMode="auto">
          <a:xfrm>
            <a:off x="1863354" y="4285161"/>
            <a:ext cx="2093929" cy="470945"/>
          </a:xfrm>
          <a:prstGeom prst="wedgeRoundRectCallout">
            <a:avLst>
              <a:gd name="adj1" fmla="val 69305"/>
              <a:gd name="adj2" fmla="val -60398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 err="1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Answer:</a:t>
            </a:r>
            <a:r>
              <a:rPr lang="en-US" altLang="zh-TW" sz="2800" kern="0" dirty="0" err="1">
                <a:ln>
                  <a:solidFill>
                    <a:schemeClr val="tx1"/>
                  </a:solidFill>
                </a:ln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Yes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ular Callout 13"/>
          <p:cNvSpPr/>
          <p:nvPr/>
        </p:nvSpPr>
        <p:spPr bwMode="auto">
          <a:xfrm>
            <a:off x="666907" y="2464586"/>
            <a:ext cx="2484327" cy="1200411"/>
          </a:xfrm>
          <a:prstGeom prst="wedgeRoundRectCallout">
            <a:avLst>
              <a:gd name="adj1" fmla="val 58059"/>
              <a:gd name="adj2" fmla="val 110229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Conclusion: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range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() is an 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 err="1">
                <a:ln>
                  <a:solidFill>
                    <a:schemeClr val="tx1"/>
                  </a:solidFill>
                </a:ln>
                <a:solidFill>
                  <a:srgbClr val="006600"/>
                </a:solidFill>
                <a:ea typeface="MS PGothic" pitchFamily="34" charset="-128"/>
                <a:cs typeface="Times New Roman" panose="02020603050405020304" pitchFamily="18" charset="0"/>
              </a:rPr>
              <a:t>iter</a:t>
            </a:r>
            <a:r>
              <a:rPr lang="en-US" altLang="zh-TW" sz="2800" b="1" kern="0" dirty="0" err="1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ea typeface="MS PGothic" pitchFamily="34" charset="-128"/>
                <a:cs typeface="Times New Roman" panose="02020603050405020304" pitchFamily="18" charset="0"/>
              </a:rPr>
              <a:t>able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 object.</a:t>
            </a:r>
          </a:p>
        </p:txBody>
      </p:sp>
      <p:sp>
        <p:nvSpPr>
          <p:cNvPr id="9" name="Down Arrow 8"/>
          <p:cNvSpPr/>
          <p:nvPr/>
        </p:nvSpPr>
        <p:spPr bwMode="auto">
          <a:xfrm rot="6585386">
            <a:off x="3185739" y="2578716"/>
            <a:ext cx="128876" cy="2743906"/>
          </a:xfrm>
          <a:prstGeom prst="downArrow">
            <a:avLst>
              <a:gd name="adj1" fmla="val 23912"/>
              <a:gd name="adj2" fmla="val 86956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Down Arrow 1"/>
          <p:cNvSpPr/>
          <p:nvPr/>
        </p:nvSpPr>
        <p:spPr bwMode="auto">
          <a:xfrm rot="6141057">
            <a:off x="3399776" y="1651548"/>
            <a:ext cx="128876" cy="4615373"/>
          </a:xfrm>
          <a:prstGeom prst="downArrow">
            <a:avLst>
              <a:gd name="adj1" fmla="val 23912"/>
              <a:gd name="adj2" fmla="val 86956"/>
            </a:avLst>
          </a:prstGeom>
          <a:solidFill>
            <a:srgbClr val="00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35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968" y="1188722"/>
            <a:ext cx="9436894" cy="792479"/>
          </a:xfrm>
        </p:spPr>
        <p:txBody>
          <a:bodyPr>
            <a:noAutofit/>
          </a:bodyPr>
          <a:lstStyle/>
          <a:p>
            <a:pPr marL="512763" indent="-222250">
              <a:spcAft>
                <a:spcPts val="1500"/>
              </a:spcAft>
            </a:pPr>
            <a:r>
              <a:rPr lang="en-US" altLang="en-US" sz="3600" dirty="0"/>
              <a:t>You can also loop through strings, lists, etc.: </a:t>
            </a:r>
            <a:br>
              <a:rPr lang="en-US" altLang="en-US" sz="2000" dirty="0"/>
            </a:br>
            <a:endParaRPr lang="en-US" altLang="en-US" sz="1600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lvl="1"/>
            <a:endParaRPr lang="en-US" altLang="en-US" sz="2000" dirty="0"/>
          </a:p>
          <a:p>
            <a:pPr marL="0" indent="0">
              <a:buNone/>
            </a:pP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1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968" y="2362200"/>
            <a:ext cx="9436894" cy="4512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0513" indent="0">
              <a:spcAft>
                <a:spcPts val="1500"/>
              </a:spcAft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S = "Python"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for letter in S: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   print('Current letter :', letter)</a:t>
            </a:r>
          </a:p>
          <a:p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fruits = ['</a:t>
            </a:r>
            <a:r>
              <a:rPr lang="en-US" altLang="en-US" dirty="0" err="1">
                <a:solidFill>
                  <a:srgbClr val="FF0000"/>
                </a:solidFill>
                <a:latin typeface="Lucida Sans Typewriter" panose="020B0509030504030204" pitchFamily="49" charset="0"/>
              </a:rPr>
              <a:t>banana','apple','mango</a:t>
            </a: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']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for fruit in fruits: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   print('Current fruit :', fruit)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	print("Good bye!")</a:t>
            </a:r>
          </a:p>
          <a:p>
            <a:endParaRPr lang="en-US" altLang="en-US" dirty="0">
              <a:solidFill>
                <a:srgbClr val="FF0000"/>
              </a:solidFill>
              <a:latin typeface="Lucida Sans Typewriter" panose="020B0509030504030204" pitchFamily="49" charset="0"/>
            </a:endParaRPr>
          </a:p>
          <a:p>
            <a:pPr lvl="1"/>
            <a:endParaRPr lang="en-US" altLang="en-US" sz="3600" dirty="0"/>
          </a:p>
          <a:p>
            <a:pPr marL="0" indent="0"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sz="24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968" y="1"/>
            <a:ext cx="9729788" cy="1112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rgbClr val="0070C0"/>
                </a:solidFill>
              </a:rPr>
              <a:t>For Loops</a:t>
            </a: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439569" y="459514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5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130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10" name="Rounded Rectangular Callout 13"/>
          <p:cNvSpPr/>
          <p:nvPr/>
        </p:nvSpPr>
        <p:spPr bwMode="auto">
          <a:xfrm>
            <a:off x="6305210" y="1621622"/>
            <a:ext cx="2855936" cy="1172673"/>
          </a:xfrm>
          <a:prstGeom prst="wedgeRoundRectCallout">
            <a:avLst>
              <a:gd name="adj1" fmla="val -2029"/>
              <a:gd name="adj2" fmla="val 124980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 err="1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Question:</a:t>
            </a:r>
            <a:r>
              <a:rPr lang="en-US" altLang="zh-TW" sz="2800" kern="0" dirty="0" err="1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Are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you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ea typeface="MS PGothic" pitchFamily="34" charset="-128"/>
                <a:cs typeface="Times New Roman" panose="02020603050405020304" pitchFamily="18" charset="0"/>
              </a:rPr>
              <a:t>able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to </a:t>
            </a:r>
            <a:r>
              <a:rPr lang="en-US" altLang="zh-TW" sz="2800" b="1" kern="0" dirty="0">
                <a:ln>
                  <a:solidFill>
                    <a:schemeClr val="tx1"/>
                  </a:solidFill>
                </a:ln>
                <a:solidFill>
                  <a:srgbClr val="006600"/>
                </a:solidFill>
                <a:ea typeface="MS PGothic" pitchFamily="34" charset="-128"/>
                <a:cs typeface="Times New Roman" panose="02020603050405020304" pitchFamily="18" charset="0"/>
              </a:rPr>
              <a:t>iterate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over this object?</a:t>
            </a:r>
          </a:p>
        </p:txBody>
      </p:sp>
      <p:sp>
        <p:nvSpPr>
          <p:cNvPr id="11" name="Rounded Rectangular Callout 13"/>
          <p:cNvSpPr/>
          <p:nvPr/>
        </p:nvSpPr>
        <p:spPr bwMode="auto">
          <a:xfrm>
            <a:off x="3884663" y="2011188"/>
            <a:ext cx="2093929" cy="470945"/>
          </a:xfrm>
          <a:prstGeom prst="wedgeRoundRectCallout">
            <a:avLst>
              <a:gd name="adj1" fmla="val 69305"/>
              <a:gd name="adj2" fmla="val -60398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 err="1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Answer:</a:t>
            </a:r>
            <a:r>
              <a:rPr lang="en-US" altLang="zh-TW" sz="2800" kern="0" dirty="0" err="1">
                <a:ln>
                  <a:solidFill>
                    <a:schemeClr val="tx1"/>
                  </a:solidFill>
                </a:ln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Yes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Rounded Rectangular Callout 13"/>
          <p:cNvSpPr/>
          <p:nvPr/>
        </p:nvSpPr>
        <p:spPr bwMode="auto">
          <a:xfrm>
            <a:off x="2688216" y="190613"/>
            <a:ext cx="2484327" cy="1200411"/>
          </a:xfrm>
          <a:prstGeom prst="wedgeRoundRectCallout">
            <a:avLst>
              <a:gd name="adj1" fmla="val 58059"/>
              <a:gd name="adj2" fmla="val 110229"/>
              <a:gd name="adj3" fmla="val 16667"/>
            </a:avLst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Conclusion: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A </a:t>
            </a:r>
            <a:r>
              <a:rPr lang="en-US" altLang="zh-TW" sz="2800" b="1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string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 is an 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 err="1">
                <a:ln>
                  <a:solidFill>
                    <a:schemeClr val="tx1"/>
                  </a:solidFill>
                </a:ln>
                <a:solidFill>
                  <a:srgbClr val="006600"/>
                </a:solidFill>
                <a:ea typeface="MS PGothic" pitchFamily="34" charset="-128"/>
                <a:cs typeface="Times New Roman" panose="02020603050405020304" pitchFamily="18" charset="0"/>
              </a:rPr>
              <a:t>iter</a:t>
            </a:r>
            <a:r>
              <a:rPr lang="en-US" altLang="zh-TW" sz="2800" b="1" kern="0" dirty="0" err="1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ea typeface="MS PGothic" pitchFamily="34" charset="-128"/>
                <a:cs typeface="Times New Roman" panose="02020603050405020304" pitchFamily="18" charset="0"/>
              </a:rPr>
              <a:t>able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 object.</a:t>
            </a:r>
          </a:p>
        </p:txBody>
      </p:sp>
      <p:sp>
        <p:nvSpPr>
          <p:cNvPr id="13" name="Down Arrow 12"/>
          <p:cNvSpPr/>
          <p:nvPr/>
        </p:nvSpPr>
        <p:spPr bwMode="auto">
          <a:xfrm rot="6585386">
            <a:off x="5207048" y="304743"/>
            <a:ext cx="128876" cy="2743906"/>
          </a:xfrm>
          <a:prstGeom prst="downArrow">
            <a:avLst>
              <a:gd name="adj1" fmla="val 23912"/>
              <a:gd name="adj2" fmla="val 86956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4" name="Down Arrow 13"/>
          <p:cNvSpPr/>
          <p:nvPr/>
        </p:nvSpPr>
        <p:spPr bwMode="auto">
          <a:xfrm rot="6141057">
            <a:off x="5421085" y="-622425"/>
            <a:ext cx="128876" cy="4615373"/>
          </a:xfrm>
          <a:prstGeom prst="downArrow">
            <a:avLst>
              <a:gd name="adj1" fmla="val 23912"/>
              <a:gd name="adj2" fmla="val 86956"/>
            </a:avLst>
          </a:prstGeom>
          <a:solidFill>
            <a:srgbClr val="00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5" name="Rounded Rectangular Callout 13"/>
          <p:cNvSpPr/>
          <p:nvPr/>
        </p:nvSpPr>
        <p:spPr bwMode="auto">
          <a:xfrm>
            <a:off x="4039253" y="3398280"/>
            <a:ext cx="2855936" cy="1172673"/>
          </a:xfrm>
          <a:prstGeom prst="wedgeRoundRectCallout">
            <a:avLst>
              <a:gd name="adj1" fmla="val -37417"/>
              <a:gd name="adj2" fmla="val 107538"/>
              <a:gd name="adj3" fmla="val 16667"/>
            </a:avLst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 err="1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Question:</a:t>
            </a:r>
            <a:r>
              <a:rPr lang="en-US" altLang="zh-TW" sz="2800" kern="0" dirty="0" err="1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Are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you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ea typeface="MS PGothic" pitchFamily="34" charset="-128"/>
                <a:cs typeface="Times New Roman" panose="02020603050405020304" pitchFamily="18" charset="0"/>
              </a:rPr>
              <a:t>able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to </a:t>
            </a:r>
            <a:r>
              <a:rPr lang="en-US" altLang="zh-TW" sz="2800" b="1" kern="0" dirty="0">
                <a:ln>
                  <a:solidFill>
                    <a:schemeClr val="tx1"/>
                  </a:solidFill>
                </a:ln>
                <a:solidFill>
                  <a:srgbClr val="006600"/>
                </a:solidFill>
                <a:ea typeface="MS PGothic" pitchFamily="34" charset="-128"/>
                <a:cs typeface="Times New Roman" panose="02020603050405020304" pitchFamily="18" charset="0"/>
              </a:rPr>
              <a:t>iterate</a:t>
            </a: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 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chemeClr val="accent2">
                    <a:lumMod val="75000"/>
                  </a:schemeClr>
                </a:solidFill>
                <a:ea typeface="MS PGothic" pitchFamily="34" charset="-128"/>
                <a:cs typeface="Times New Roman" panose="02020603050405020304" pitchFamily="18" charset="0"/>
              </a:rPr>
              <a:t>over this object?</a:t>
            </a:r>
          </a:p>
        </p:txBody>
      </p:sp>
      <p:sp>
        <p:nvSpPr>
          <p:cNvPr id="16" name="Rounded Rectangular Callout 13"/>
          <p:cNvSpPr/>
          <p:nvPr/>
        </p:nvSpPr>
        <p:spPr bwMode="auto">
          <a:xfrm>
            <a:off x="1618706" y="3787846"/>
            <a:ext cx="2093929" cy="470945"/>
          </a:xfrm>
          <a:prstGeom prst="wedgeRoundRectCallout">
            <a:avLst>
              <a:gd name="adj1" fmla="val 69305"/>
              <a:gd name="adj2" fmla="val -60398"/>
              <a:gd name="adj3" fmla="val 16667"/>
            </a:avLst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 err="1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Answer:</a:t>
            </a:r>
            <a:r>
              <a:rPr lang="en-US" altLang="zh-TW" sz="2800" kern="0" dirty="0" err="1">
                <a:ln>
                  <a:solidFill>
                    <a:schemeClr val="tx1"/>
                  </a:solidFill>
                </a:ln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Yes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Rounded Rectangular Callout 13"/>
          <p:cNvSpPr/>
          <p:nvPr/>
        </p:nvSpPr>
        <p:spPr bwMode="auto">
          <a:xfrm>
            <a:off x="422259" y="1967271"/>
            <a:ext cx="2484327" cy="1200411"/>
          </a:xfrm>
          <a:prstGeom prst="wedgeRoundRectCallout">
            <a:avLst>
              <a:gd name="adj1" fmla="val 58059"/>
              <a:gd name="adj2" fmla="val 110229"/>
              <a:gd name="adj3" fmla="val 16667"/>
            </a:avLst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FF3300"/>
                </a:solidFill>
                <a:ea typeface="MS PGothic" pitchFamily="34" charset="-128"/>
                <a:cs typeface="Times New Roman" panose="02020603050405020304" pitchFamily="18" charset="0"/>
              </a:rPr>
              <a:t>Conclusion: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A </a:t>
            </a:r>
            <a:r>
              <a:rPr lang="en-US" altLang="zh-TW" sz="2800" b="1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list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 is an </a:t>
            </a: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b="1" kern="0" dirty="0" err="1">
                <a:ln>
                  <a:solidFill>
                    <a:schemeClr val="tx1"/>
                  </a:solidFill>
                </a:ln>
                <a:solidFill>
                  <a:srgbClr val="006600"/>
                </a:solidFill>
                <a:ea typeface="MS PGothic" pitchFamily="34" charset="-128"/>
                <a:cs typeface="Times New Roman" panose="02020603050405020304" pitchFamily="18" charset="0"/>
              </a:rPr>
              <a:t>iter</a:t>
            </a:r>
            <a:r>
              <a:rPr lang="en-US" altLang="zh-TW" sz="2800" b="1" kern="0" dirty="0" err="1">
                <a:ln>
                  <a:solidFill>
                    <a:schemeClr val="tx1"/>
                  </a:solidFill>
                </a:ln>
                <a:solidFill>
                  <a:srgbClr val="7030A0"/>
                </a:solidFill>
                <a:ea typeface="MS PGothic" pitchFamily="34" charset="-128"/>
                <a:cs typeface="Times New Roman" panose="02020603050405020304" pitchFamily="18" charset="0"/>
              </a:rPr>
              <a:t>able</a:t>
            </a:r>
            <a:r>
              <a:rPr lang="en-US" altLang="zh-TW" sz="2800" kern="0" dirty="0">
                <a:solidFill>
                  <a:srgbClr val="262699"/>
                </a:solidFill>
                <a:ea typeface="MS PGothic" pitchFamily="34" charset="-128"/>
                <a:cs typeface="Times New Roman" panose="02020603050405020304" pitchFamily="18" charset="0"/>
              </a:rPr>
              <a:t> object.</a:t>
            </a:r>
          </a:p>
        </p:txBody>
      </p:sp>
      <p:sp>
        <p:nvSpPr>
          <p:cNvPr id="18" name="Down Arrow 17"/>
          <p:cNvSpPr/>
          <p:nvPr/>
        </p:nvSpPr>
        <p:spPr bwMode="auto">
          <a:xfrm rot="6585386">
            <a:off x="2941091" y="2081401"/>
            <a:ext cx="128876" cy="2743906"/>
          </a:xfrm>
          <a:prstGeom prst="downArrow">
            <a:avLst>
              <a:gd name="adj1" fmla="val 23912"/>
              <a:gd name="adj2" fmla="val 86956"/>
            </a:avLst>
          </a:prstGeom>
          <a:solidFill>
            <a:srgbClr val="7030A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9" name="Down Arrow 18"/>
          <p:cNvSpPr/>
          <p:nvPr/>
        </p:nvSpPr>
        <p:spPr bwMode="auto">
          <a:xfrm rot="6141057">
            <a:off x="3155128" y="1154233"/>
            <a:ext cx="128876" cy="4615373"/>
          </a:xfrm>
          <a:prstGeom prst="downArrow">
            <a:avLst>
              <a:gd name="adj1" fmla="val 23912"/>
              <a:gd name="adj2" fmla="val 86956"/>
            </a:avLst>
          </a:prstGeom>
          <a:solidFill>
            <a:srgbClr val="006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84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562" y="685800"/>
          <a:ext cx="9372600" cy="3749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len(S)</a:t>
                      </a:r>
                      <a:b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length of the string, </a:t>
                      </a:r>
                      <a:r>
                        <a:rPr kumimoji="0" lang="en-US" altLang="en-US" sz="2400" b="0" i="0" u="none" strike="noStrike" cap="none" spc="-7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max(S)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that character from the string S which has the highest Unicode value.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min(S)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that character from the string S which has the lowest Unicode value.</a:t>
                      </a: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[*reverse</a:t>
                      </a: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d(S)</a:t>
                      </a:r>
                      <a:r>
                        <a:rPr kumimoji="0" lang="en-US" altLang="en-US" sz="2400" b="0" i="0" u="none" strike="noStrike" cap="none" spc="-3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]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reversed list of the elements of the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string, S. (We can't splat back to a string.)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>
          <a:xfrm>
            <a:off x="68265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String Functions:</a:t>
            </a: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2700000" flipH="1">
            <a:off x="7439570" y="459515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112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6419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562" y="685800"/>
          <a:ext cx="9372600" cy="4572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abs(X)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absolute value of X: the (positive) distance between X and zero.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3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divmod(X, Y)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3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3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Creates a pair of numbers to hold X//Y and X%Y.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max(X1,</a:t>
                      </a:r>
                      <a:r>
                        <a:rPr kumimoji="0" lang="en-US" altLang="en-US" sz="1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X2,</a:t>
                      </a:r>
                      <a:r>
                        <a:rPr kumimoji="0" lang="en-US" altLang="en-US" sz="2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8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...</a:t>
                      </a: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400" b="0" i="0" u="none" strike="noStrike" cap="none" spc="-50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4"/>
                      </a:endParaRPr>
                    </a:p>
                  </a:txBody>
                  <a:tcPr marL="0" marR="0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largest of its arguments: the value closest to positive infinity.</a:t>
                      </a:r>
                    </a:p>
                  </a:txBody>
                  <a:tcPr marL="137160" marR="8287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5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min(X1,</a:t>
                      </a:r>
                      <a:r>
                        <a:rPr kumimoji="0" lang="en-US" altLang="en-US" sz="1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X2,</a:t>
                      </a:r>
                      <a:r>
                        <a:rPr kumimoji="0" lang="en-US" altLang="en-US" sz="20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r>
                        <a:rPr kumimoji="0" lang="en-US" altLang="en-US" sz="2400" b="0" i="0" u="none" strike="noStrike" cap="none" spc="-8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...</a:t>
                      </a:r>
                      <a:r>
                        <a:rPr kumimoji="0" lang="en-US" altLang="en-US" sz="2400" b="0" i="0" u="none" strike="noStrike" cap="none" spc="-5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  <a:hlinkClick r:id="rId5"/>
                        </a:rPr>
                        <a:t> </a:t>
                      </a: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0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 the smallest of its arguments: the value closest to negative infinity.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pow(X, Y)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value of X**Y.</a:t>
                      </a:r>
                    </a:p>
                  </a:txBody>
                  <a:tcPr marL="137160" marR="0" marT="0" marB="18288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68265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Number Functions: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79513" y="1977384"/>
            <a:ext cx="9521687" cy="356814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70" y="459515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107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15" name="Picture 4" descr="Mead Cork Bulletin Board, 24 X 18, Silver Aluminum Frame : Target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" t="13856" r="2099" b="14777"/>
          <a:stretch/>
        </p:blipFill>
        <p:spPr bwMode="auto">
          <a:xfrm>
            <a:off x="3959350" y="2542025"/>
            <a:ext cx="5791527" cy="43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4461288" y="2994375"/>
            <a:ext cx="1439894" cy="1661856"/>
            <a:chOff x="4461288" y="2994375"/>
            <a:chExt cx="1439894" cy="1661856"/>
          </a:xfrm>
        </p:grpSpPr>
        <p:pic>
          <p:nvPicPr>
            <p:cNvPr id="13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17050" r="76973" b="48638"/>
            <a:stretch/>
          </p:blipFill>
          <p:spPr bwMode="auto">
            <a:xfrm>
              <a:off x="4461288" y="2994375"/>
              <a:ext cx="1439894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/>
            <p:cNvSpPr/>
            <p:nvPr/>
          </p:nvSpPr>
          <p:spPr bwMode="auto">
            <a:xfrm>
              <a:off x="4496502" y="3149378"/>
              <a:ext cx="1384182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abs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is a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16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built-in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spc="-100" dirty="0">
                  <a:latin typeface="Times New Roman" charset="0"/>
                </a:rPr>
                <a:t>f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latin typeface="Times New Roman" charset="0"/>
                </a:rPr>
                <a:t>   </a:t>
              </a:r>
              <a:r>
                <a:rPr lang="en-US" sz="2800" dirty="0" err="1">
                  <a:latin typeface="Times New Roman" charset="0"/>
                </a:rPr>
                <a:t>ints</a:t>
              </a:r>
              <a:r>
                <a:rPr lang="en-US" sz="2800" dirty="0">
                  <a:latin typeface="Times New Roman" charset="0"/>
                </a:rPr>
                <a:t>, but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spc="-100" dirty="0">
                  <a:latin typeface="Times New Roman" charset="0"/>
                </a:rPr>
                <a:t>not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dirty="0">
                  <a:latin typeface="Times New Roman" charset="0"/>
                </a:rPr>
                <a:t>f </a:t>
              </a:r>
              <a:r>
                <a:rPr lang="en-US" sz="2800" dirty="0" err="1">
                  <a:latin typeface="Times New Roman" charset="0"/>
                </a:rPr>
                <a:t>strs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9129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562" y="685800"/>
          <a:ext cx="9372600" cy="6156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Function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( description )</a:t>
                      </a:r>
                    </a:p>
                  </a:txBody>
                  <a:tcPr marL="8287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any</a:t>
                      </a:r>
                      <a:r>
                        <a:rPr kumimoji="0" lang="en-US" altLang="en-US" sz="2400" b="0" i="0" u="none" strike="noStrike" cap="none" spc="7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any element 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L evaluates to True (</a:t>
                      </a:r>
                      <a:r>
                        <a:rPr kumimoji="0" lang="en-US" altLang="en-US" sz="2400" b="0" i="1" u="none" strike="noStrike" cap="none" spc="-1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 element is nonzero and nonempty)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all</a:t>
                      </a:r>
                      <a:r>
                        <a:rPr kumimoji="0" lang="en-US" altLang="en-US" sz="2400" b="0" i="0" u="none" strike="noStrike" cap="none" spc="7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True if all elements 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of L evaluate to</a:t>
                      </a:r>
                      <a:b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</a:b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True (</a:t>
                      </a:r>
                      <a:r>
                        <a:rPr kumimoji="0" lang="en-US" altLang="en-US" sz="2400" b="0" i="1" u="none" strike="noStrike" cap="none" spc="-10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ie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, they are all nonzero and nonempty)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len</a:t>
                      </a:r>
                      <a:r>
                        <a:rPr kumimoji="0" lang="en-US" altLang="en-US" sz="2400" b="0" i="0" u="none" strike="noStrike" cap="none" spc="8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length of the list, L.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max</a:t>
                      </a:r>
                      <a:r>
                        <a:rPr kumimoji="0" lang="en-US" altLang="en-US" sz="2400" b="0" i="0" u="none" strike="noStrike" cap="none" spc="8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largest element from the list, L.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min</a:t>
                      </a:r>
                      <a:r>
                        <a:rPr kumimoji="0" lang="en-US" altLang="en-US" sz="2400" b="0" i="0" u="none" strike="noStrike" cap="none" spc="8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  <a:hlinkClick r:id="rId2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13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smallest element from the list, L.</a:t>
                      </a:r>
                    </a:p>
                  </a:txBody>
                  <a:tcPr marL="137160" marR="8287" marT="91440" marB="9144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</a:t>
                      </a:r>
                      <a:r>
                        <a:rPr kumimoji="0" lang="en-US" altLang="en-US" sz="2400" b="0" i="0" u="none" strike="noStrike" cap="none" spc="8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(L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Returns the 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sum of all elements of the list, L.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8229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30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[*reversed(L)] </a:t>
                      </a: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B9BFF"/>
                          </a:solidFill>
                          <a:effectLst/>
                          <a:latin typeface="Calibri" panose="020F050202020403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</a:t>
                      </a: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5B9BFF"/>
                        </a:solidFill>
                        <a:effectLst/>
                        <a:latin typeface="Calibri" panose="020F0502020204030204" pitchFamily="34" charset="0"/>
                        <a:ea typeface="Lucida Sans Unicode" panose="020B0602030504020204" pitchFamily="34" charset="0"/>
                        <a:cs typeface="Lucida Sans Unicode" panose="020B0602030504020204" pitchFamily="34" charset="0"/>
                      </a:endParaRPr>
                    </a:p>
                  </a:txBody>
                  <a:tcPr marL="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1900"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accent2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666699"/>
                          </a:solidFill>
                          <a:latin typeface="Lucida Sans Unicode" panose="020B060203050402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spc="-2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Reverses the elements of the</a:t>
                      </a:r>
                      <a:r>
                        <a:rPr kumimoji="0" lang="en-US" altLang="en-US" sz="2400" b="0" i="0" u="none" strike="noStrike" cap="none" spc="-1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Lucida Sans Unicode" panose="020B0602030504020204" pitchFamily="34" charset="0"/>
                          <a:cs typeface="Lucida Sans Unicode" panose="020B0602030504020204" pitchFamily="34" charset="0"/>
                        </a:rPr>
                        <a:t> list, L. (This one's different, because it had to splat back to a list.)</a:t>
                      </a:r>
                    </a:p>
                  </a:txBody>
                  <a:tcPr marL="137160" marR="8287" marT="952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Rectangle 16"/>
          <p:cNvSpPr/>
          <p:nvPr/>
        </p:nvSpPr>
        <p:spPr bwMode="auto">
          <a:xfrm>
            <a:off x="79513" y="2783240"/>
            <a:ext cx="9521687" cy="4045731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265" y="0"/>
            <a:ext cx="9601199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9561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28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en-US" sz="4400" dirty="0">
                <a:solidFill>
                  <a:srgbClr val="0070C0"/>
                </a:solidFill>
              </a:rPr>
              <a:t>Built-in List Functions: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71" y="459516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108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7" name="Picture 4" descr="Mead Cork Bulletin Board, 24 X 18, Silver Aluminum Frame : Target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" t="13856" r="2099" b="14777"/>
          <a:stretch/>
        </p:blipFill>
        <p:spPr bwMode="auto">
          <a:xfrm>
            <a:off x="3959350" y="2542025"/>
            <a:ext cx="5791527" cy="43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461288" y="2994375"/>
            <a:ext cx="1439894" cy="1661856"/>
            <a:chOff x="4461288" y="2994375"/>
            <a:chExt cx="1439894" cy="1661856"/>
          </a:xfrm>
        </p:grpSpPr>
        <p:pic>
          <p:nvPicPr>
            <p:cNvPr id="9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17050" r="76973" b="48638"/>
            <a:stretch/>
          </p:blipFill>
          <p:spPr bwMode="auto">
            <a:xfrm>
              <a:off x="4461288" y="2994375"/>
              <a:ext cx="1439894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/>
            <p:cNvSpPr/>
            <p:nvPr/>
          </p:nvSpPr>
          <p:spPr bwMode="auto">
            <a:xfrm>
              <a:off x="4496502" y="3149378"/>
              <a:ext cx="1384182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abs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is a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16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built-in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spc="-100" dirty="0">
                  <a:latin typeface="Times New Roman" charset="0"/>
                </a:rPr>
                <a:t>f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latin typeface="Times New Roman" charset="0"/>
                </a:rPr>
                <a:t>   </a:t>
              </a:r>
              <a:r>
                <a:rPr lang="en-US" sz="2800" dirty="0" err="1">
                  <a:latin typeface="Times New Roman" charset="0"/>
                </a:rPr>
                <a:t>ints</a:t>
              </a:r>
              <a:r>
                <a:rPr lang="en-US" sz="2800" dirty="0">
                  <a:latin typeface="Times New Roman" charset="0"/>
                </a:rPr>
                <a:t>, but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spc="-100" dirty="0">
                  <a:latin typeface="Times New Roman" charset="0"/>
                </a:rPr>
                <a:t>not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dirty="0">
                  <a:latin typeface="Times New Roman" charset="0"/>
                </a:rPr>
                <a:t>f </a:t>
              </a:r>
              <a:r>
                <a:rPr lang="en-US" sz="2800" dirty="0" err="1">
                  <a:latin typeface="Times New Roman" charset="0"/>
                </a:rPr>
                <a:t>strs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45906" y="2971611"/>
            <a:ext cx="1667547" cy="1675306"/>
            <a:chOff x="6145906" y="2971611"/>
            <a:chExt cx="1667547" cy="1675306"/>
          </a:xfrm>
        </p:grpSpPr>
        <p:pic>
          <p:nvPicPr>
            <p:cNvPr id="12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92" t="16580" r="50678" b="49108"/>
            <a:stretch/>
          </p:blipFill>
          <p:spPr bwMode="auto">
            <a:xfrm>
              <a:off x="6145906" y="2971611"/>
              <a:ext cx="1667547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/>
            <p:cNvSpPr/>
            <p:nvPr/>
          </p:nvSpPr>
          <p:spPr bwMode="auto">
            <a:xfrm rot="21540000">
              <a:off x="6185471" y="3169767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all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everything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40" dirty="0">
                  <a:latin typeface="Times New Roman" charset="0"/>
                </a:rPr>
                <a:t>i</a:t>
              </a:r>
              <a:r>
                <a:rPr lang="en-US" sz="2800" dirty="0">
                  <a:latin typeface="Times New Roman" charset="0"/>
                </a:rPr>
                <a:t>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spc="-40" dirty="0">
                  <a:latin typeface="Times New Roman" charset="0"/>
                </a:rPr>
                <a:t>u</a:t>
              </a:r>
              <a:r>
                <a:rPr lang="en-US" sz="2800" dirty="0">
                  <a:latin typeface="Times New Roman" charset="0"/>
                </a:rPr>
                <a:t>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461286" y="4861116"/>
            <a:ext cx="1667546" cy="1662968"/>
            <a:chOff x="4461286" y="4861116"/>
            <a:chExt cx="1667546" cy="1662968"/>
          </a:xfrm>
        </p:grpSpPr>
        <p:pic>
          <p:nvPicPr>
            <p:cNvPr id="15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55591" r="73842" b="10450"/>
            <a:stretch/>
          </p:blipFill>
          <p:spPr bwMode="auto">
            <a:xfrm>
              <a:off x="4461286" y="4861116"/>
              <a:ext cx="1667546" cy="1644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/>
            <p:cNvSpPr/>
            <p:nvPr/>
          </p:nvSpPr>
          <p:spPr bwMode="auto">
            <a:xfrm rot="21660000">
              <a:off x="4492643" y="5046934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any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anything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39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3997398"/>
              </p:ext>
            </p:extLst>
          </p:nvPr>
        </p:nvGraphicFramePr>
        <p:xfrm>
          <a:off x="239123" y="914400"/>
          <a:ext cx="9258300" cy="589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2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6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Function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int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 [,base])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spc="-8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down to an integer. If x is a string, you can give the base.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float(x)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floating-point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15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complex(re[,</a:t>
                      </a:r>
                      <a:r>
                        <a:rPr lang="en-US" sz="1800" b="0" i="0" u="none" strike="noStrike" spc="-150" baseline="0" dirty="0" err="1">
                          <a:solidFill>
                            <a:srgbClr val="000000"/>
                          </a:solidFill>
                          <a:latin typeface="Verdana"/>
                        </a:rPr>
                        <a:t>im</a:t>
                      </a:r>
                      <a:r>
                        <a:rPr lang="en-US" sz="1800" b="0" i="0" u="none" strike="noStrike" spc="-15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Creates a complex number.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spc="-9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bool(x)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its logical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value (True or False).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ord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(c)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a single character to its integer value.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round(n[,d])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5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Roun</a:t>
                      </a:r>
                      <a:r>
                        <a:rPr lang="en-US" sz="1800" b="0" i="0" u="none" strike="noStrike" spc="-40" dirty="0">
                          <a:solidFill>
                            <a:srgbClr val="000000"/>
                          </a:solidFill>
                          <a:latin typeface="Verdana"/>
                        </a:rPr>
                        <a:t>ds</a:t>
                      </a:r>
                      <a:r>
                        <a:rPr lang="en-US" sz="1800" b="0" i="0" u="none" strike="noStrike" spc="-4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</a:t>
                      </a:r>
                      <a:r>
                        <a:rPr lang="en-US" sz="1800" b="0" i="0" u="none" strike="noStrike" spc="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t</a:t>
                      </a:r>
                      <a:r>
                        <a:rPr lang="en-US" sz="1800" b="0" i="0" u="none" strike="noStrike" spc="-4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he number </a:t>
                      </a:r>
                      <a:r>
                        <a:rPr lang="en-US" sz="1800" b="0" i="1" u="none" strike="noStrike" spc="-4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n</a:t>
                      </a:r>
                      <a:r>
                        <a:rPr lang="en-US" sz="1800" b="0" i="0" u="none" strike="noStrike" spc="-4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to nearest integer (or to </a:t>
                      </a:r>
                      <a:r>
                        <a:rPr lang="en-US" sz="1800" b="0" i="1" u="none" strike="noStrike" spc="-4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d</a:t>
                      </a:r>
                      <a:r>
                        <a:rPr lang="en-US" sz="1800" b="0" i="0" u="none" strike="noStrike" spc="-40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decimal places).</a:t>
                      </a:r>
                      <a:endParaRPr lang="en-US" sz="1800" b="0" i="0" u="none" strike="noStrike" spc="-40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tuple(x)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tuple.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list(x)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 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to a list.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sorted(x)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list that is sorted.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set(x)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set.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dict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(k1=v1,…)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729742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 the 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k=v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pairs</a:t>
                      </a:r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latin typeface="Verdana"/>
                        </a:rPr>
                        <a:t> t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o a dictionary.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str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Converts</a:t>
                      </a:r>
                      <a:r>
                        <a:rPr lang="en-US" sz="1800" b="0" i="1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x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to a “nice looking” string.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</a:t>
                      </a:r>
                      <a:r>
                        <a:rPr lang="en-US" sz="1800" b="0" i="1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 to a string</a:t>
                      </a:r>
                      <a:r>
                        <a:rPr lang="en-US" sz="1800" b="0" i="0" u="none" strike="noStrike" baseline="0" dirty="0">
                          <a:solidFill>
                            <a:schemeClr val="tx1"/>
                          </a:solidFill>
                          <a:latin typeface="Verdana"/>
                        </a:rPr>
                        <a:t> holding what you would type to create x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ascii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(x)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spc="-40" dirty="0">
                          <a:solidFill>
                            <a:schemeClr val="tx1"/>
                          </a:solidFill>
                          <a:latin typeface="Verdana"/>
                        </a:rPr>
                        <a:t>Creates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 a</a:t>
                      </a:r>
                      <a:r>
                        <a:rPr lang="en-US" sz="1800" b="0" i="0" u="none" strike="noStrike" spc="-40" dirty="0">
                          <a:solidFill>
                            <a:schemeClr val="tx1"/>
                          </a:solidFill>
                          <a:latin typeface="Verdana"/>
                        </a:rPr>
                        <a:t> string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 similar to </a:t>
                      </a:r>
                      <a:r>
                        <a:rPr lang="en-US" sz="1800" b="0" i="0" u="none" strike="noStrike" spc="-40" baseline="0" dirty="0" err="1">
                          <a:solidFill>
                            <a:schemeClr val="tx1"/>
                          </a:solidFill>
                          <a:latin typeface="Verdana"/>
                        </a:rPr>
                        <a:t>repr</a:t>
                      </a:r>
                      <a:r>
                        <a:rPr lang="en-US" sz="1800" b="0" i="0" u="none" strike="noStrike" spc="-40" baseline="0" dirty="0">
                          <a:solidFill>
                            <a:schemeClr val="tx1"/>
                          </a:solidFill>
                          <a:latin typeface="Verdana"/>
                        </a:rPr>
                        <a:t>(), but Unicode parts show by value.</a:t>
                      </a:r>
                      <a:endParaRPr lang="en-US" sz="1800" b="0" i="0" u="none" strike="noStrike" spc="-40" dirty="0">
                        <a:solidFill>
                          <a:schemeClr val="tx1"/>
                        </a:solidFill>
                        <a:latin typeface="Verdana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format(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s,spec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Adds padding to a string.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chr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character.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hex(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hexadecimal value, stored in a string.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oct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an octal value, stored in a string.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bin(</a:t>
                      </a:r>
                      <a:r>
                        <a:rPr lang="en-US" sz="1800" b="0" i="0" u="none" strike="noStrike" dirty="0" err="1">
                          <a:solidFill>
                            <a:schemeClr val="tx1"/>
                          </a:solidFill>
                          <a:latin typeface="Verdana"/>
                        </a:rPr>
                        <a:t>i</a:t>
                      </a: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latin typeface="Verdana"/>
                        </a:rPr>
                        <a:t>Converts an integer to a binary value, stored in a string.</a:t>
                      </a: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54379" y="4761133"/>
            <a:ext cx="9844644" cy="2096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54379" y="852755"/>
            <a:ext cx="9844644" cy="3612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60427" y="114300"/>
            <a:ext cx="8001000" cy="8813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dirty="0">
                <a:solidFill>
                  <a:srgbClr val="0070C0"/>
                </a:solidFill>
              </a:rPr>
              <a:t>Data Type Conversions:</a:t>
            </a:r>
          </a:p>
        </p:txBody>
      </p:sp>
      <p:pic>
        <p:nvPicPr>
          <p:cNvPr id="7" name="Picture 4" descr="Mead Cork Bulletin Board, 24 X 18, Silver Aluminum Frame : Targ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" t="13856" r="2099" b="14777"/>
          <a:stretch/>
        </p:blipFill>
        <p:spPr bwMode="auto">
          <a:xfrm>
            <a:off x="3959350" y="2542025"/>
            <a:ext cx="5791527" cy="43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461288" y="2994375"/>
            <a:ext cx="1439894" cy="1661856"/>
            <a:chOff x="4461288" y="2994375"/>
            <a:chExt cx="1439894" cy="1661856"/>
          </a:xfrm>
        </p:grpSpPr>
        <p:pic>
          <p:nvPicPr>
            <p:cNvPr id="9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17050" r="76973" b="48638"/>
            <a:stretch/>
          </p:blipFill>
          <p:spPr bwMode="auto">
            <a:xfrm>
              <a:off x="4461288" y="2994375"/>
              <a:ext cx="1439894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/>
            <p:cNvSpPr/>
            <p:nvPr/>
          </p:nvSpPr>
          <p:spPr bwMode="auto">
            <a:xfrm>
              <a:off x="4496502" y="3149378"/>
              <a:ext cx="1384182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abs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is a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16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built-in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spc="-100" dirty="0">
                  <a:latin typeface="Times New Roman" charset="0"/>
                </a:rPr>
                <a:t>f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latin typeface="Times New Roman" charset="0"/>
                </a:rPr>
                <a:t>   </a:t>
              </a:r>
              <a:r>
                <a:rPr lang="en-US" sz="2800" dirty="0" err="1">
                  <a:latin typeface="Times New Roman" charset="0"/>
                </a:rPr>
                <a:t>ints</a:t>
              </a:r>
              <a:r>
                <a:rPr lang="en-US" sz="2800" dirty="0">
                  <a:latin typeface="Times New Roman" charset="0"/>
                </a:rPr>
                <a:t>, but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spc="-100" dirty="0">
                  <a:latin typeface="Times New Roman" charset="0"/>
                </a:rPr>
                <a:t>not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dirty="0">
                  <a:latin typeface="Times New Roman" charset="0"/>
                </a:rPr>
                <a:t>f </a:t>
              </a:r>
              <a:r>
                <a:rPr lang="en-US" sz="2800" dirty="0" err="1">
                  <a:latin typeface="Times New Roman" charset="0"/>
                </a:rPr>
                <a:t>strs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45906" y="2971611"/>
            <a:ext cx="1667547" cy="1675306"/>
            <a:chOff x="6145906" y="2971611"/>
            <a:chExt cx="1667547" cy="1675306"/>
          </a:xfrm>
        </p:grpSpPr>
        <p:pic>
          <p:nvPicPr>
            <p:cNvPr id="12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92" t="16580" r="50678" b="49108"/>
            <a:stretch/>
          </p:blipFill>
          <p:spPr bwMode="auto">
            <a:xfrm>
              <a:off x="6145906" y="2971611"/>
              <a:ext cx="1667547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/>
            <p:cNvSpPr/>
            <p:nvPr/>
          </p:nvSpPr>
          <p:spPr bwMode="auto">
            <a:xfrm rot="21540000">
              <a:off x="6185471" y="3169767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all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everything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461286" y="4861116"/>
            <a:ext cx="1667546" cy="1662968"/>
            <a:chOff x="4461286" y="4861116"/>
            <a:chExt cx="1667546" cy="1662968"/>
          </a:xfrm>
        </p:grpSpPr>
        <p:pic>
          <p:nvPicPr>
            <p:cNvPr id="15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55591" r="73842" b="10450"/>
            <a:stretch/>
          </p:blipFill>
          <p:spPr bwMode="auto">
            <a:xfrm>
              <a:off x="4461286" y="4861116"/>
              <a:ext cx="1667546" cy="1644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/>
            <p:cNvSpPr/>
            <p:nvPr/>
          </p:nvSpPr>
          <p:spPr bwMode="auto">
            <a:xfrm rot="21660000">
              <a:off x="4492643" y="5046934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any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anything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00987" y="4832661"/>
            <a:ext cx="1611713" cy="1713324"/>
            <a:chOff x="6200987" y="4832661"/>
            <a:chExt cx="1611713" cy="1713324"/>
          </a:xfrm>
        </p:grpSpPr>
        <p:pic>
          <p:nvPicPr>
            <p:cNvPr id="18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75" t="55004" r="52321" b="11154"/>
            <a:stretch/>
          </p:blipFill>
          <p:spPr bwMode="auto">
            <a:xfrm>
              <a:off x="6333718" y="4832661"/>
              <a:ext cx="1360218" cy="1639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 18"/>
            <p:cNvSpPr/>
            <p:nvPr/>
          </p:nvSpPr>
          <p:spPr bwMode="auto">
            <a:xfrm rot="21540000">
              <a:off x="6200987" y="5068835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 err="1">
                  <a:latin typeface="Times New Roman" charset="0"/>
                </a:rPr>
                <a:t>str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can</a:t>
              </a:r>
            </a:p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spc="-30" dirty="0">
                  <a:latin typeface="Times New Roman" charset="0"/>
                </a:rPr>
                <a:t>represent</a:t>
              </a:r>
              <a:br>
                <a:rPr lang="en-US" sz="2800" spc="-3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 anything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as a str.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sp>
        <p:nvSpPr>
          <p:cNvPr id="26" name="Trapezoid 25"/>
          <p:cNvSpPr>
            <a:spLocks noChangeAspect="1"/>
          </p:cNvSpPr>
          <p:nvPr/>
        </p:nvSpPr>
        <p:spPr bwMode="auto">
          <a:xfrm rot="2700000" flipH="1">
            <a:off x="7439571" y="459516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3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66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217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968" y="0"/>
            <a:ext cx="9729788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A lambda (or anonymous </a:t>
            </a:r>
            <a:r>
              <a:rPr lang="zh-TW" altLang="en-US" sz="4000" spc="-100" dirty="0">
                <a:solidFill>
                  <a:srgbClr val="0070C0"/>
                </a:solidFill>
                <a:cs typeface="Arial" panose="020B0604020202020204" pitchFamily="34" charset="0"/>
              </a:rPr>
              <a:t>匿名</a:t>
            </a:r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) function</a:t>
            </a:r>
          </a:p>
        </p:txBody>
      </p:sp>
      <p:pic>
        <p:nvPicPr>
          <p:cNvPr id="6" name="Picture 4" descr="Mead Cork Bulletin Board, 24 X 18, Silver Aluminum Frame : Targ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" t="13856" r="2099" b="14777"/>
          <a:stretch/>
        </p:blipFill>
        <p:spPr bwMode="auto">
          <a:xfrm>
            <a:off x="3959350" y="2542025"/>
            <a:ext cx="5791527" cy="43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4461288" y="2994375"/>
            <a:ext cx="1439894" cy="1661856"/>
            <a:chOff x="4461288" y="2994375"/>
            <a:chExt cx="1439894" cy="1661856"/>
          </a:xfrm>
        </p:grpSpPr>
        <p:pic>
          <p:nvPicPr>
            <p:cNvPr id="9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17050" r="76973" b="48638"/>
            <a:stretch/>
          </p:blipFill>
          <p:spPr bwMode="auto">
            <a:xfrm>
              <a:off x="4461288" y="2994375"/>
              <a:ext cx="1439894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Rectangle 9"/>
            <p:cNvSpPr/>
            <p:nvPr/>
          </p:nvSpPr>
          <p:spPr bwMode="auto">
            <a:xfrm>
              <a:off x="4496502" y="3149378"/>
              <a:ext cx="1384182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abs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is a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16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built-in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spc="-100" dirty="0">
                  <a:latin typeface="Times New Roman" charset="0"/>
                </a:rPr>
                <a:t>f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latin typeface="Times New Roman" charset="0"/>
                </a:rPr>
                <a:t>   </a:t>
              </a:r>
              <a:r>
                <a:rPr lang="en-US" sz="2800" dirty="0" err="1">
                  <a:latin typeface="Times New Roman" charset="0"/>
                </a:rPr>
                <a:t>ints</a:t>
              </a:r>
              <a:r>
                <a:rPr lang="en-US" sz="2800" dirty="0">
                  <a:latin typeface="Times New Roman" charset="0"/>
                </a:rPr>
                <a:t>, but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spc="-100" dirty="0">
                  <a:latin typeface="Times New Roman" charset="0"/>
                </a:rPr>
                <a:t>not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dirty="0">
                  <a:latin typeface="Times New Roman" charset="0"/>
                </a:rPr>
                <a:t>f </a:t>
              </a:r>
              <a:r>
                <a:rPr lang="en-US" sz="2800" dirty="0" err="1">
                  <a:latin typeface="Times New Roman" charset="0"/>
                </a:rPr>
                <a:t>strs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45906" y="2971611"/>
            <a:ext cx="1667547" cy="1675306"/>
            <a:chOff x="6145906" y="2971611"/>
            <a:chExt cx="1667547" cy="1675306"/>
          </a:xfrm>
        </p:grpSpPr>
        <p:pic>
          <p:nvPicPr>
            <p:cNvPr id="12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92" t="16580" r="50678" b="49108"/>
            <a:stretch/>
          </p:blipFill>
          <p:spPr bwMode="auto">
            <a:xfrm>
              <a:off x="6145906" y="2971611"/>
              <a:ext cx="1667547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Rectangle 12"/>
            <p:cNvSpPr/>
            <p:nvPr/>
          </p:nvSpPr>
          <p:spPr bwMode="auto">
            <a:xfrm rot="21540000">
              <a:off x="6185471" y="3169767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all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everything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461286" y="4861116"/>
            <a:ext cx="1667546" cy="1662968"/>
            <a:chOff x="4461286" y="4861116"/>
            <a:chExt cx="1667546" cy="1662968"/>
          </a:xfrm>
        </p:grpSpPr>
        <p:pic>
          <p:nvPicPr>
            <p:cNvPr id="15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55591" r="73842" b="10450"/>
            <a:stretch/>
          </p:blipFill>
          <p:spPr bwMode="auto">
            <a:xfrm>
              <a:off x="4461286" y="4861116"/>
              <a:ext cx="1667546" cy="1644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Rectangle 15"/>
            <p:cNvSpPr/>
            <p:nvPr/>
          </p:nvSpPr>
          <p:spPr bwMode="auto">
            <a:xfrm rot="21660000">
              <a:off x="4492643" y="5046934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any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anything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00987" y="4832661"/>
            <a:ext cx="1611713" cy="1713324"/>
            <a:chOff x="6200987" y="4832661"/>
            <a:chExt cx="1611713" cy="1713324"/>
          </a:xfrm>
        </p:grpSpPr>
        <p:pic>
          <p:nvPicPr>
            <p:cNvPr id="18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75" t="55004" r="52321" b="11154"/>
            <a:stretch/>
          </p:blipFill>
          <p:spPr bwMode="auto">
            <a:xfrm>
              <a:off x="6333718" y="4832661"/>
              <a:ext cx="1360218" cy="1639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Rectangle 18"/>
            <p:cNvSpPr/>
            <p:nvPr/>
          </p:nvSpPr>
          <p:spPr bwMode="auto">
            <a:xfrm rot="21540000">
              <a:off x="6200987" y="5068835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 err="1">
                  <a:latin typeface="Times New Roman" charset="0"/>
                </a:rPr>
                <a:t>str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can</a:t>
              </a:r>
            </a:p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spc="-30" dirty="0">
                  <a:latin typeface="Times New Roman" charset="0"/>
                </a:rPr>
                <a:t>represent</a:t>
              </a:r>
              <a:br>
                <a:rPr lang="en-US" sz="2800" spc="-3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 anything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as a str.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sp>
        <p:nvSpPr>
          <p:cNvPr id="40" name="Rectangle 39"/>
          <p:cNvSpPr/>
          <p:nvPr/>
        </p:nvSpPr>
        <p:spPr bwMode="auto">
          <a:xfrm>
            <a:off x="3909391" y="2570923"/>
            <a:ext cx="6215270" cy="4492486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3836504" y="2524541"/>
            <a:ext cx="6215270" cy="2710068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3684104" y="2478157"/>
            <a:ext cx="6215270" cy="1311965"/>
          </a:xfrm>
          <a:prstGeom prst="rect">
            <a:avLst/>
          </a:prstGeom>
          <a:solidFill>
            <a:srgbClr val="FFFFFF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71" y="459516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89743" y="1523999"/>
            <a:ext cx="8722519" cy="5334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small and unnamed.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return just one value, in the form of an expression. 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be a single expression.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 its own local namespace and cannot access variables other than </a:t>
            </a:r>
            <a:r>
              <a:rPr lang="en-US" sz="34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globals</a:t>
            </a: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those in its parameter list.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defRPr/>
            </a:pPr>
            <a:r>
              <a:rPr lang="en-US" sz="3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Although it looks like a one-line version of a function, it has its own uses.</a:t>
            </a:r>
          </a:p>
        </p:txBody>
      </p:sp>
    </p:spTree>
    <p:extLst>
      <p:ext uri="{BB962C8B-B14F-4D97-AF65-F5344CB8AC3E}">
        <p14:creationId xmlns:p14="http://schemas.microsoft.com/office/powerpoint/2010/main" val="168280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39" grpId="0" animBg="1"/>
      <p:bldP spid="39" grpId="1" animBg="1"/>
      <p:bldP spid="2" grpId="0" animBg="1"/>
      <p:bldP spid="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5463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37260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sum = lambda arg1, arg2: arg1 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hon3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68" y="0"/>
            <a:ext cx="9729788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</a:t>
            </a:r>
            <a:r>
              <a:rPr lang="en-US" altLang="en-US" sz="4400" spc="-100" dirty="0">
                <a:solidFill>
                  <a:schemeClr val="bg1"/>
                </a:solidFill>
                <a:cs typeface="Arial" panose="020B0604020202020204" pitchFamily="34" charset="0"/>
              </a:rPr>
              <a:t>vs conventional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pic>
        <p:nvPicPr>
          <p:cNvPr id="8" name="Picture 4" descr="Mead Cork Bulletin Board, 24 X 18, Silver Aluminum Frame : Targe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7" t="13856" r="2099" b="14777"/>
          <a:stretch/>
        </p:blipFill>
        <p:spPr bwMode="auto">
          <a:xfrm>
            <a:off x="3959350" y="2542025"/>
            <a:ext cx="5791527" cy="43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4461288" y="2994375"/>
            <a:ext cx="1439894" cy="1661856"/>
            <a:chOff x="4461288" y="2994375"/>
            <a:chExt cx="1439894" cy="1661856"/>
          </a:xfrm>
        </p:grpSpPr>
        <p:pic>
          <p:nvPicPr>
            <p:cNvPr id="10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17050" r="76973" b="48638"/>
            <a:stretch/>
          </p:blipFill>
          <p:spPr bwMode="auto">
            <a:xfrm>
              <a:off x="4461288" y="2994375"/>
              <a:ext cx="1439894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/>
            <p:cNvSpPr/>
            <p:nvPr/>
          </p:nvSpPr>
          <p:spPr bwMode="auto">
            <a:xfrm>
              <a:off x="4496502" y="3149378"/>
              <a:ext cx="1384182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abs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is a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16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built-in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spc="-100" dirty="0">
                  <a:latin typeface="Times New Roman" charset="0"/>
                </a:rPr>
                <a:t>f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100" dirty="0">
                  <a:latin typeface="Times New Roman" charset="0"/>
                </a:rPr>
                <a:t>   </a:t>
              </a:r>
              <a:r>
                <a:rPr lang="en-US" sz="2800" dirty="0" err="1">
                  <a:latin typeface="Times New Roman" charset="0"/>
                </a:rPr>
                <a:t>ints</a:t>
              </a:r>
              <a:r>
                <a:rPr lang="en-US" sz="2800" dirty="0">
                  <a:latin typeface="Times New Roman" charset="0"/>
                </a:rPr>
                <a:t>, but</a:t>
              </a:r>
            </a:p>
            <a:p>
              <a:pPr marL="0" marR="0" indent="0" algn="l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spc="-100" dirty="0">
                  <a:latin typeface="Times New Roman" charset="0"/>
                </a:rPr>
                <a:t>not </a:t>
              </a:r>
              <a:r>
                <a:rPr lang="en-US" sz="2800" spc="-300" dirty="0">
                  <a:latin typeface="Times New Roman" charset="0"/>
                </a:rPr>
                <a:t>o</a:t>
              </a:r>
              <a:r>
                <a:rPr lang="en-US" sz="2800" dirty="0">
                  <a:latin typeface="Times New Roman" charset="0"/>
                </a:rPr>
                <a:t>f </a:t>
              </a:r>
              <a:r>
                <a:rPr lang="en-US" sz="2800" dirty="0" err="1">
                  <a:latin typeface="Times New Roman" charset="0"/>
                </a:rPr>
                <a:t>strs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45906" y="2971611"/>
            <a:ext cx="1667547" cy="1675306"/>
            <a:chOff x="6145906" y="2971611"/>
            <a:chExt cx="1667547" cy="1675306"/>
          </a:xfrm>
        </p:grpSpPr>
        <p:pic>
          <p:nvPicPr>
            <p:cNvPr id="13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92" t="16580" r="50678" b="49108"/>
            <a:stretch/>
          </p:blipFill>
          <p:spPr bwMode="auto">
            <a:xfrm>
              <a:off x="6145906" y="2971611"/>
              <a:ext cx="1667547" cy="1661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ctangle 13"/>
            <p:cNvSpPr/>
            <p:nvPr/>
          </p:nvSpPr>
          <p:spPr bwMode="auto">
            <a:xfrm rot="21540000">
              <a:off x="6185471" y="3169767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all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everything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61286" y="4861116"/>
            <a:ext cx="1667546" cy="1662968"/>
            <a:chOff x="4461286" y="4861116"/>
            <a:chExt cx="1667546" cy="1662968"/>
          </a:xfrm>
        </p:grpSpPr>
        <p:pic>
          <p:nvPicPr>
            <p:cNvPr id="16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" t="55591" r="73842" b="10450"/>
            <a:stretch/>
          </p:blipFill>
          <p:spPr bwMode="auto">
            <a:xfrm>
              <a:off x="4461286" y="4861116"/>
              <a:ext cx="1667546" cy="16447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Rectangle 16"/>
            <p:cNvSpPr/>
            <p:nvPr/>
          </p:nvSpPr>
          <p:spPr bwMode="auto">
            <a:xfrm rot="21660000">
              <a:off x="4492643" y="5046934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any</a:t>
              </a:r>
              <a:r>
                <a:rPr lang="en-US" sz="2800" dirty="0">
                  <a:latin typeface="Agency FB" panose="020B0503020202020204" pitchFamily="34" charset="0"/>
                </a:rPr>
                <a:t>(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800" dirty="0">
                  <a:latin typeface="Agency FB" panose="020B0503020202020204" pitchFamily="34" charset="0"/>
                </a:rPr>
                <a:t>):</a:t>
              </a:r>
              <a:r>
                <a:rPr lang="en-US" sz="2800" dirty="0">
                  <a:latin typeface="Times New Roman" charset="0"/>
                </a:rPr>
                <a:t>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is True if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anything</a:t>
              </a:r>
            </a:p>
            <a:p>
              <a:pPr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in</a:t>
              </a:r>
              <a:r>
                <a:rPr lang="en-US" sz="24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L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is</a:t>
              </a: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T</a:t>
              </a:r>
              <a:r>
                <a:rPr lang="en-US" sz="2800" spc="100" dirty="0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ue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6200987" y="4832661"/>
            <a:ext cx="1611713" cy="1713324"/>
            <a:chOff x="6200987" y="4832661"/>
            <a:chExt cx="1611713" cy="1713324"/>
          </a:xfrm>
        </p:grpSpPr>
        <p:pic>
          <p:nvPicPr>
            <p:cNvPr id="19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975" t="55004" r="52321" b="11154"/>
            <a:stretch/>
          </p:blipFill>
          <p:spPr bwMode="auto">
            <a:xfrm>
              <a:off x="6333718" y="4832661"/>
              <a:ext cx="1360218" cy="16390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Rectangle 19"/>
            <p:cNvSpPr/>
            <p:nvPr/>
          </p:nvSpPr>
          <p:spPr bwMode="auto">
            <a:xfrm rot="21540000">
              <a:off x="6200987" y="5068835"/>
              <a:ext cx="1611713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 err="1">
                  <a:latin typeface="Times New Roman" charset="0"/>
                </a:rPr>
                <a:t>str</a:t>
              </a:r>
              <a:r>
                <a:rPr lang="en-US" sz="2800" dirty="0">
                  <a:latin typeface="Agency FB" panose="020B0503020202020204" pitchFamily="34" charset="0"/>
                </a:rPr>
                <a:t>():</a:t>
              </a:r>
              <a:r>
                <a:rPr lang="en-US" sz="2800" dirty="0">
                  <a:latin typeface="Times New Roman" charset="0"/>
                </a:rPr>
                <a:t> can</a:t>
              </a:r>
            </a:p>
            <a:p>
              <a:pPr algn="ctr" defTabSz="914400"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spc="-30" dirty="0">
                  <a:latin typeface="Times New Roman" charset="0"/>
                </a:rPr>
                <a:t>represent</a:t>
              </a:r>
              <a:br>
                <a:rPr lang="en-US" sz="2800" spc="-3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 anything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as a str.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942997" y="2971611"/>
            <a:ext cx="1474220" cy="1707387"/>
            <a:chOff x="7942997" y="2971611"/>
            <a:chExt cx="1474220" cy="1707387"/>
          </a:xfrm>
        </p:grpSpPr>
        <p:pic>
          <p:nvPicPr>
            <p:cNvPr id="22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671" t="16580" r="29312" b="48168"/>
            <a:stretch/>
          </p:blipFill>
          <p:spPr bwMode="auto">
            <a:xfrm>
              <a:off x="7984191" y="2971611"/>
              <a:ext cx="1382984" cy="17073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Rectangle 22"/>
            <p:cNvSpPr/>
            <p:nvPr/>
          </p:nvSpPr>
          <p:spPr bwMode="auto">
            <a:xfrm rot="21600000">
              <a:off x="7942997" y="3090981"/>
              <a:ext cx="1474220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latin typeface="Times New Roman" charset="0"/>
                </a:rPr>
                <a:t> </a:t>
              </a:r>
              <a:r>
                <a:rPr lang="en-US" sz="2800" dirty="0">
                  <a:latin typeface="Times New Roman" charset="0"/>
                </a:rPr>
                <a:t>'lambda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spc="-50" dirty="0" err="1">
                  <a:latin typeface="Times New Roman" charset="0"/>
                </a:rPr>
                <a:t>arg</a:t>
              </a:r>
              <a:r>
                <a:rPr lang="en-US" sz="2800" spc="-100" dirty="0" err="1">
                  <a:latin typeface="Times New Roman" charset="0"/>
                </a:rPr>
                <a:t>s:ex</a:t>
              </a:r>
              <a:r>
                <a:rPr lang="en-US" sz="2800" spc="-50" dirty="0" err="1">
                  <a:latin typeface="Times New Roman" charset="0"/>
                </a:rPr>
                <a:t>p</a:t>
              </a:r>
              <a:r>
                <a:rPr lang="en-US" sz="2800" dirty="0" err="1">
                  <a:latin typeface="Times New Roman" charset="0"/>
                </a:rPr>
                <a:t>r</a:t>
              </a:r>
              <a:r>
                <a:rPr lang="en-US" sz="2800" dirty="0">
                  <a:latin typeface="Times New Roman" charset="0"/>
                </a:rPr>
                <a:t>'</a:t>
              </a:r>
            </a:p>
            <a:p>
              <a:pPr algn="ctr" defTabSz="914400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creates a</a:t>
              </a:r>
            </a:p>
            <a:p>
              <a:pPr algn="ctr" defTabSz="914400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spc="-100" dirty="0">
                  <a:latin typeface="Times New Roman" charset="0"/>
                </a:rPr>
                <a:t>t</a:t>
              </a:r>
              <a:r>
                <a: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rPr>
                <a:t>e</a:t>
              </a:r>
              <a:r>
                <a:rPr kumimoji="0" lang="en-US" sz="2800" b="0" i="0" u="none" strike="noStrike" cap="none" spc="-150" normalizeH="0" dirty="0">
                  <a:ln>
                    <a:noFill/>
                  </a:ln>
                  <a:effectLst/>
                  <a:latin typeface="Times New Roman" charset="0"/>
                </a:rPr>
                <a:t>m</a:t>
              </a:r>
              <a:r>
                <a: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rPr>
                <a:t>p</a:t>
              </a:r>
              <a:r>
                <a:rPr kumimoji="0" lang="en-US" sz="2800" b="0" i="0" u="none" strike="noStrike" cap="none" spc="-200" normalizeH="0" dirty="0">
                  <a:ln>
                    <a:noFill/>
                  </a:ln>
                  <a:effectLst/>
                  <a:latin typeface="Times New Roman" charset="0"/>
                </a:rPr>
                <a:t>o</a:t>
              </a:r>
              <a:r>
                <a: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rPr>
                <a:t>ra</a:t>
              </a:r>
              <a:r>
                <a: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rPr>
                <a:t>ry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dirty="0">
                  <a:latin typeface="Times New Roman" charset="0"/>
                </a:rPr>
                <a:t>function</a:t>
              </a:r>
              <a:endParaRPr kumimoji="0" lang="en-US" sz="2800" b="0" i="0" u="none" strike="noStrike" cap="none" normalizeH="0" baseline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071773" y="1638609"/>
            <a:ext cx="3902896" cy="2844047"/>
            <a:chOff x="5071773" y="1638609"/>
            <a:chExt cx="3902896" cy="2844047"/>
          </a:xfrm>
        </p:grpSpPr>
        <p:sp>
          <p:nvSpPr>
            <p:cNvPr id="24" name="Right Brace 23"/>
            <p:cNvSpPr/>
            <p:nvPr/>
          </p:nvSpPr>
          <p:spPr bwMode="auto">
            <a:xfrm rot="5400000">
              <a:off x="6010649" y="727127"/>
              <a:ext cx="324953" cy="2202706"/>
            </a:xfrm>
            <a:prstGeom prst="rightBrace">
              <a:avLst>
                <a:gd name="adj1" fmla="val 43867"/>
                <a:gd name="adj2" fmla="val 50336"/>
              </a:avLst>
            </a:prstGeom>
            <a:noFill/>
            <a:ln w="38100" cap="flat" cmpd="sng" algn="ctr">
              <a:solidFill>
                <a:srgbClr val="99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4" name="Arc 53"/>
            <p:cNvSpPr/>
            <p:nvPr/>
          </p:nvSpPr>
          <p:spPr bwMode="auto">
            <a:xfrm rot="10800000" flipH="1" flipV="1">
              <a:off x="7418164" y="2438679"/>
              <a:ext cx="1556505" cy="2043977"/>
            </a:xfrm>
            <a:prstGeom prst="arc">
              <a:avLst/>
            </a:prstGeom>
            <a:noFill/>
            <a:ln w="38100" cap="flat" cmpd="sng" algn="ctr">
              <a:solidFill>
                <a:srgbClr val="9966FF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55" name="Straight Connector 54"/>
            <p:cNvCxnSpPr/>
            <p:nvPr/>
          </p:nvCxnSpPr>
          <p:spPr bwMode="auto">
            <a:xfrm rot="10800000">
              <a:off x="6392399" y="2440039"/>
              <a:ext cx="1806556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9966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6" name="Arc 55"/>
            <p:cNvSpPr/>
            <p:nvPr/>
          </p:nvSpPr>
          <p:spPr bwMode="auto">
            <a:xfrm rot="16200000" flipH="1">
              <a:off x="5993226" y="1809118"/>
              <a:ext cx="801736" cy="460717"/>
            </a:xfrm>
            <a:prstGeom prst="arc">
              <a:avLst/>
            </a:prstGeom>
            <a:noFill/>
            <a:ln w="38100" cap="flat" cmpd="sng" algn="ctr">
              <a:solidFill>
                <a:srgbClr val="9966FF"/>
              </a:solidFill>
              <a:prstDash val="solid"/>
              <a:round/>
              <a:headEnd type="none" w="lg" len="lg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1362841" y="1659960"/>
            <a:ext cx="7143854" cy="1515095"/>
            <a:chOff x="1362841" y="1659960"/>
            <a:chExt cx="7143854" cy="1515095"/>
          </a:xfrm>
        </p:grpSpPr>
        <p:cxnSp>
          <p:nvCxnSpPr>
            <p:cNvPr id="33" name="Curved Connector 32"/>
            <p:cNvCxnSpPr/>
            <p:nvPr/>
          </p:nvCxnSpPr>
          <p:spPr bwMode="auto">
            <a:xfrm rot="16200000" flipH="1">
              <a:off x="4675975" y="-655665"/>
              <a:ext cx="1130098" cy="6531342"/>
            </a:xfrm>
            <a:prstGeom prst="curvedConnector3">
              <a:avLst>
                <a:gd name="adj1" fmla="val 60385"/>
              </a:avLst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61" name="Right Brace 60"/>
            <p:cNvSpPr/>
            <p:nvPr/>
          </p:nvSpPr>
          <p:spPr bwMode="auto">
            <a:xfrm rot="5400000">
              <a:off x="1809979" y="1212822"/>
              <a:ext cx="324953" cy="1219229"/>
            </a:xfrm>
            <a:prstGeom prst="rightBrace">
              <a:avLst>
                <a:gd name="adj1" fmla="val 43867"/>
                <a:gd name="adj2" fmla="val 50000"/>
              </a:avLst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2739498" y="1010653"/>
            <a:ext cx="5500116" cy="2856773"/>
            <a:chOff x="2684362" y="1020536"/>
            <a:chExt cx="5679948" cy="2846889"/>
          </a:xfrm>
        </p:grpSpPr>
        <p:sp>
          <p:nvSpPr>
            <p:cNvPr id="25" name="Right Brace 24"/>
            <p:cNvSpPr/>
            <p:nvPr/>
          </p:nvSpPr>
          <p:spPr bwMode="auto">
            <a:xfrm rot="5400000">
              <a:off x="3549966" y="800395"/>
              <a:ext cx="324953" cy="2056161"/>
            </a:xfrm>
            <a:prstGeom prst="rightBrace">
              <a:avLst>
                <a:gd name="adj1" fmla="val 43867"/>
                <a:gd name="adj2" fmla="val 50000"/>
              </a:avLst>
            </a:prstGeom>
            <a:noFill/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8" name="Arc 47"/>
            <p:cNvSpPr/>
            <p:nvPr/>
          </p:nvSpPr>
          <p:spPr bwMode="auto">
            <a:xfrm flipH="1" flipV="1">
              <a:off x="3711843" y="1020536"/>
              <a:ext cx="2576222" cy="2043977"/>
            </a:xfrm>
            <a:prstGeom prst="arc">
              <a:avLst/>
            </a:prstGeom>
            <a:noFill/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4995753" y="3065993"/>
              <a:ext cx="2990088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Arc 50"/>
            <p:cNvSpPr/>
            <p:nvPr/>
          </p:nvSpPr>
          <p:spPr bwMode="auto">
            <a:xfrm rot="5400000" flipH="1">
              <a:off x="7582169" y="3085283"/>
              <a:ext cx="801736" cy="762547"/>
            </a:xfrm>
            <a:prstGeom prst="arc">
              <a:avLst/>
            </a:prstGeom>
            <a:noFill/>
            <a:ln w="38100" cap="flat" cmpd="sng" algn="ctr">
              <a:solidFill>
                <a:srgbClr val="006600"/>
              </a:solidFill>
              <a:prstDash val="solid"/>
              <a:round/>
              <a:headEnd type="triangle" w="lg" len="lg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09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37260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sum = lambda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arg1, arg2 :        arg1 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prstClr val="black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hon3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68" y="0"/>
            <a:ext cx="9729788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</a:t>
            </a:r>
            <a:r>
              <a:rPr lang="en-US" altLang="en-US" sz="4400" spc="-100" dirty="0">
                <a:solidFill>
                  <a:schemeClr val="bg1"/>
                </a:solidFill>
                <a:cs typeface="Arial" panose="020B0604020202020204" pitchFamily="34" charset="0"/>
              </a:rPr>
              <a:t>vs conventional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8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9" name="Group 8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1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Rectangle 10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1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Rectangle 13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2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9052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3726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sum = lambda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arg1, arg2 :        arg1 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#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hon3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test.py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-274320" y="914400"/>
            <a:ext cx="9665494" cy="58674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cat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conventionalFunction.py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(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arg1, arg2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sum( 20, 20 ))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sum( 50,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python3 </a:t>
            </a:r>
            <a:r>
              <a:rPr lang="en-US" altLang="zh-TW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conventionalFunction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4" name="Rectangle 6" hidden="1"/>
          <p:cNvSpPr>
            <a:spLocks noChangeArrowheads="1"/>
          </p:cNvSpPr>
          <p:nvPr/>
        </p:nvSpPr>
        <p:spPr bwMode="auto">
          <a:xfrm>
            <a:off x="124413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68" y="0"/>
            <a:ext cx="9729788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2D2DB9"/>
                </a:solidFill>
                <a:cs typeface="Arial" panose="020B0604020202020204" pitchFamily="34" charset="0"/>
              </a:rPr>
              <a:t>lambda function </a:t>
            </a:r>
            <a:r>
              <a:rPr lang="en-US" altLang="en-US" sz="4400" spc="-100" dirty="0">
                <a:solidFill>
                  <a:srgbClr val="B5B5ED"/>
                </a:solidFill>
                <a:cs typeface="Arial" panose="020B0604020202020204" pitchFamily="34" charset="0"/>
              </a:rPr>
              <a:t>vs conventional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968" y="0"/>
            <a:ext cx="9729788" cy="84124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B5B5ED"/>
                </a:solidFill>
                <a:cs typeface="Arial" panose="020B0604020202020204" pitchFamily="34" charset="0"/>
              </a:rPr>
              <a:t>lambda function vs </a:t>
            </a:r>
            <a:r>
              <a:rPr lang="en-US" altLang="en-US" sz="4400" spc="-100" dirty="0">
                <a:solidFill>
                  <a:srgbClr val="2D2DB9"/>
                </a:solidFill>
                <a:cs typeface="Arial" panose="020B0604020202020204" pitchFamily="34" charset="0"/>
              </a:rPr>
              <a:t>conventional</a:t>
            </a:r>
          </a:p>
        </p:txBody>
      </p: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11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Group 11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5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Rectangle 23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2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8121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5463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cat test1.py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(arg1, arg2): return 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( 20, 20 ))</a:t>
            </a:r>
          </a:p>
          <a:p>
            <a:pPr lvl="1">
              <a:buFontTx/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python3 test1.py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3968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Functions are just objects</a:t>
            </a:r>
          </a:p>
        </p:txBody>
      </p:sp>
      <p:sp>
        <p:nvSpPr>
          <p:cNvPr id="6" name="Trapezoid 5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9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Rectangle 23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5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Rectangle 15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3008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5463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cat test2.py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(arg1, arg2): return 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( 10, 20 )) 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( 20, 20 ))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S=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python3 test2.py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30 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40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968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Functions are just objects</a:t>
            </a: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9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Rectangle 23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5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Rectangle 15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442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968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vs conventional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5463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cat test3.py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(arg1, arg2): return arg1 + arg2</a:t>
            </a:r>
          </a:p>
          <a:p>
            <a:pPr lvl="1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S=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</a:p>
          <a:p>
            <a:pPr lvl="1">
              <a:buFontTx/>
              <a:buNone/>
            </a:pPr>
            <a:r>
              <a:rPr lang="en-US" sz="2800" dirty="0" err="1"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     (arg1, arg2): return arg1 *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 of product: ",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( 20, 20 ))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python3 test3.py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 of product: 400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968" y="0"/>
            <a:ext cx="9729788" cy="8382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Redefine a function, copy remains </a:t>
            </a: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10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oup 10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Rectangle 24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2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1095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525463" y="1327057"/>
            <a:ext cx="8915400" cy="525486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sz="1552">
              <a:solidFill>
                <a:prstClr val="black"/>
              </a:solidFill>
              <a:ea typeface="MS PGothic" pitchFamily="34" charset="-128"/>
            </a:endParaRPr>
          </a:p>
        </p:txBody>
      </p:sp>
      <p:sp>
        <p:nvSpPr>
          <p:cNvPr id="5" name="Content Placeholder 4"/>
          <p:cNvSpPr txBox="1">
            <a:spLocks/>
          </p:cNvSpPr>
          <p:nvPr/>
        </p:nvSpPr>
        <p:spPr>
          <a:xfrm>
            <a:off x="-274320" y="914400"/>
            <a:ext cx="9665494" cy="5867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97053" indent="-197053" algn="l" defTabSz="788213" rtl="0" eaLnBrk="1" latinLnBrk="0" hangingPunct="1">
              <a:lnSpc>
                <a:spcPct val="90000"/>
              </a:lnSpc>
              <a:spcBef>
                <a:spcPts val="862"/>
              </a:spcBef>
              <a:buFont typeface="Arial" panose="020B0604020202020204" pitchFamily="34" charset="0"/>
              <a:buChar char="•"/>
              <a:defRPr sz="34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1160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310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5266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75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937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3479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24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7585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61692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55798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49904" indent="-197053" algn="l" defTabSz="788213" rtl="0" eaLnBrk="1" latinLnBrk="0" hangingPunct="1">
              <a:lnSpc>
                <a:spcPct val="90000"/>
              </a:lnSpc>
              <a:spcBef>
                <a:spcPts val="431"/>
              </a:spcBef>
              <a:buFont typeface="Arial" panose="020B0604020202020204" pitchFamily="34" charset="0"/>
              <a:buChar char="•"/>
              <a:defRPr sz="15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cat test4.py</a:t>
            </a:r>
          </a:p>
          <a:p>
            <a:pPr lvl="1">
              <a:buFontTx/>
              <a:buNone/>
            </a:pP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def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 sum     (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arg1, arg2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: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return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arg1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+ arg2</a:t>
            </a:r>
          </a:p>
          <a:p>
            <a:pPr lvl="1">
              <a:buNone/>
            </a:pP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S=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  <a:cs typeface="Courier New" pitchFamily="49" charset="0"/>
              </a:rPr>
              <a:t>sum</a:t>
            </a:r>
          </a:p>
          <a:p>
            <a:pPr lvl="1">
              <a:buFontTx/>
              <a:buNone/>
            </a:pP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P </a:t>
            </a:r>
            <a:r>
              <a:rPr lang="en-US" altLang="zh-TW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= lambda  </a:t>
            </a:r>
            <a:r>
              <a:rPr lang="en-US" altLang="zh-TW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arg1, arg2: arg1 * arg2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 of product: ", </a:t>
            </a:r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  <a:cs typeface="Courier New" pitchFamily="49" charset="0"/>
              </a:rPr>
              <a:t>P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( 20, 20 ))</a:t>
            </a:r>
          </a:p>
          <a:p>
            <a:pPr lvl="1"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print ("Value of total: ",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  <a:cs typeface="Courier New" pitchFamily="49" charset="0"/>
              </a:rPr>
              <a:t>S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  ( 50, 50 ))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#</a:t>
            </a:r>
            <a:endParaRPr lang="en-US" sz="280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 </a:t>
            </a: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python3 test4.py</a:t>
            </a:r>
          </a:p>
          <a:p>
            <a:pPr lvl="1">
              <a:buNone/>
            </a:pPr>
            <a:r>
              <a:rPr lang="en-US" sz="2800" dirty="0">
                <a:latin typeface="Consolas" panose="020B0609020204030204" pitchFamily="49" charset="0"/>
                <a:cs typeface="Courier New" pitchFamily="49" charset="0"/>
              </a:rPr>
              <a:t>Va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l of product: 400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cs typeface="Courier New" pitchFamily="49" charset="0"/>
              </a:rPr>
              <a:t>Value of total: 100</a:t>
            </a:r>
          </a:p>
          <a:p>
            <a:pPr lvl="1">
              <a:buFontTx/>
              <a:buNone/>
            </a:pPr>
            <a:r>
              <a:rPr lang="en-US" sz="280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%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968" y="0"/>
            <a:ext cx="9729788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78821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93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400" spc="-100" dirty="0">
                <a:solidFill>
                  <a:srgbClr val="0070C0"/>
                </a:solidFill>
                <a:cs typeface="Arial" panose="020B0604020202020204" pitchFamily="34" charset="0"/>
              </a:rPr>
              <a:t>lambda function vs conventional</a:t>
            </a:r>
          </a:p>
        </p:txBody>
      </p:sp>
      <p:sp>
        <p:nvSpPr>
          <p:cNvPr id="7" name="Trapezoid 6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7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166-173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9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Rectangle 23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5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Rectangle 15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69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.__doc__) </a:t>
            </a: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</a:t>
            </a:r>
            <a:r>
              <a:rPr lang="en-US" altLang="zh-TW" sz="26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97624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39812" y="647866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rapezoid 8"/>
          <p:cNvSpPr>
            <a:spLocks noChangeAspect="1"/>
          </p:cNvSpPr>
          <p:nvPr/>
        </p:nvSpPr>
        <p:spPr bwMode="auto">
          <a:xfrm rot="2700000" flipH="1">
            <a:off x="7439572" y="459517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Lecture 8</a:t>
            </a:r>
            <a:b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Slides 183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11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Group 11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5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Rectangle 23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2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grpSp>
        <p:nvGrpSpPr>
          <p:cNvPr id="27" name="Group 26"/>
          <p:cNvGrpSpPr/>
          <p:nvPr/>
        </p:nvGrpSpPr>
        <p:grpSpPr>
          <a:xfrm>
            <a:off x="3959350" y="2542025"/>
            <a:ext cx="5791527" cy="4312465"/>
            <a:chOff x="3959350" y="2542025"/>
            <a:chExt cx="5791527" cy="4312465"/>
          </a:xfrm>
        </p:grpSpPr>
        <p:pic>
          <p:nvPicPr>
            <p:cNvPr id="28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9" name="Group 28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4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Rectangle 42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4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Rectangle 40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3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Rectangle 38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3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Rectangle 36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3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Rectangle 34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994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64" presetClass="path" presetSubtype="0" decel="1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7665E-6 -3.7037E-6 L -0.00033 -0.3784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-18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.__doc__) </a:t>
            </a:r>
          </a:p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kern="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97624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9316349" y="650717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11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Group 11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5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3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4" name="Rectangle 23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2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Rectangle 21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0" name="Rectangle 19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sp>
        <p:nvSpPr>
          <p:cNvPr id="10" name="Rounded Rectangular Callout 13"/>
          <p:cNvSpPr/>
          <p:nvPr/>
        </p:nvSpPr>
        <p:spPr bwMode="auto">
          <a:xfrm>
            <a:off x="6621463" y="3288275"/>
            <a:ext cx="2303099" cy="489812"/>
          </a:xfrm>
          <a:prstGeom prst="wedgeRoundRectCallout">
            <a:avLst>
              <a:gd name="adj1" fmla="val -113743"/>
              <a:gd name="adj2" fmla="val 32980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What is this?</a:t>
            </a:r>
          </a:p>
        </p:txBody>
      </p:sp>
      <p:cxnSp>
        <p:nvCxnSpPr>
          <p:cNvPr id="27" name="Straight Connector 26"/>
          <p:cNvCxnSpPr/>
          <p:nvPr/>
        </p:nvCxnSpPr>
        <p:spPr>
          <a:xfrm>
            <a:off x="1039812" y="647866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73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0000"/>
              </a:lnSpc>
            </a:pP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Create a new </a:t>
            </a:r>
            <a:r>
              <a:rPr lang="en-US" altLang="zh-TW" sz="2400" kern="0" spc="-25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250" dirty="0">
                <a:solidFill>
                  <a:srgbClr val="9D9D9D"/>
                </a:solidFill>
                <a:latin typeface="Consolas" panose="020B0609020204030204" pitchFamily="49" charset="0"/>
              </a:rPr>
              <a:t> object which references the given object.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6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Rectangle 14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sp>
        <p:nvSpPr>
          <p:cNvPr id="10" name="Rounded Rectangular Callout 13"/>
          <p:cNvSpPr/>
          <p:nvPr/>
        </p:nvSpPr>
        <p:spPr bwMode="auto">
          <a:xfrm>
            <a:off x="6621463" y="2971800"/>
            <a:ext cx="2303099" cy="489812"/>
          </a:xfrm>
          <a:prstGeom prst="wedgeRoundRectCallout">
            <a:avLst>
              <a:gd name="adj1" fmla="val -113743"/>
              <a:gd name="adj2" fmla="val 329805"/>
              <a:gd name="adj3" fmla="val 16667"/>
            </a:avLst>
          </a:prstGeom>
          <a:solidFill>
            <a:srgbClr val="FFC000">
              <a:alpha val="6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2619993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4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4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4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</a:t>
            </a:r>
            <a:r>
              <a:rPr lang="en-US" altLang="zh-TW" sz="24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800" dirty="0">
              <a:solidFill>
                <a:srgbClr val="FFCC9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6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Rectangle 14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sp>
        <p:nvSpPr>
          <p:cNvPr id="10" name="Rounded Rectangular Callout 13"/>
          <p:cNvSpPr/>
          <p:nvPr/>
        </p:nvSpPr>
        <p:spPr bwMode="auto">
          <a:xfrm>
            <a:off x="6621463" y="2651760"/>
            <a:ext cx="2303099" cy="489812"/>
          </a:xfrm>
          <a:prstGeom prst="wedgeRoundRectCallout">
            <a:avLst>
              <a:gd name="adj1" fmla="val -113743"/>
              <a:gd name="adj2" fmla="val 329805"/>
              <a:gd name="adj3" fmla="val 16667"/>
            </a:avLst>
          </a:prstGeom>
          <a:solidFill>
            <a:srgbClr val="FFC000">
              <a:alpha val="3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What is this?</a:t>
            </a:r>
          </a:p>
        </p:txBody>
      </p:sp>
    </p:spTree>
    <p:extLst>
      <p:ext uri="{BB962C8B-B14F-4D97-AF65-F5344CB8AC3E}">
        <p14:creationId xmlns:p14="http://schemas.microsoft.com/office/powerpoint/2010/main" val="139599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5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5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quit</a:t>
            </a:r>
          </a:p>
          <a:p>
            <a:pPr>
              <a:lnSpc>
                <a:spcPct val="90000"/>
              </a:lnSpc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5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0" name="Rounded Rectangular Callout 13"/>
          <p:cNvSpPr/>
          <p:nvPr/>
        </p:nvSpPr>
        <p:spPr bwMode="auto">
          <a:xfrm>
            <a:off x="6621463" y="2331720"/>
            <a:ext cx="2303099" cy="489812"/>
          </a:xfrm>
          <a:prstGeom prst="wedgeRoundRectCallout">
            <a:avLst>
              <a:gd name="adj1" fmla="val -113743"/>
              <a:gd name="adj2" fmla="val 32980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What is this?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6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Rectangle 14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7775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b="1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__)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quit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0" name="Rounded Rectangular Callout 13"/>
          <p:cNvSpPr/>
          <p:nvPr/>
        </p:nvSpPr>
        <p:spPr bwMode="auto">
          <a:xfrm>
            <a:off x="6621463" y="1965960"/>
            <a:ext cx="2303099" cy="489812"/>
          </a:xfrm>
          <a:prstGeom prst="wedgeRoundRectCallout">
            <a:avLst>
              <a:gd name="adj1" fmla="val -113743"/>
              <a:gd name="adj2" fmla="val 32980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What is this?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6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oup 7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2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3" name="Rectangle 22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2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1" name="Rectangle 20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1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1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1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Rectangle 14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84016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quit</a:t>
            </a: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'map',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200" dirty="0">
              <a:solidFill>
                <a:srgbClr val="FFCC9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97624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39812" y="647866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ular Callout 13"/>
          <p:cNvSpPr/>
          <p:nvPr/>
        </p:nvSpPr>
        <p:spPr bwMode="auto">
          <a:xfrm>
            <a:off x="6621463" y="1645920"/>
            <a:ext cx="2303099" cy="489812"/>
          </a:xfrm>
          <a:prstGeom prst="wedgeRoundRectCallout">
            <a:avLst>
              <a:gd name="adj1" fmla="val -113743"/>
              <a:gd name="adj2" fmla="val 32980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lnSpc>
                <a:spcPct val="9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What is this?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3959350" y="-55403"/>
            <a:ext cx="5791527" cy="4312465"/>
            <a:chOff x="3959350" y="2542025"/>
            <a:chExt cx="5791527" cy="4312465"/>
          </a:xfrm>
        </p:grpSpPr>
        <p:pic>
          <p:nvPicPr>
            <p:cNvPr id="30" name="Picture 4" descr="Mead Cork Bulletin Board, 24 X 18, Silver Aluminum Frame : Target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7" t="13856" r="2099" b="14777"/>
            <a:stretch/>
          </p:blipFill>
          <p:spPr bwMode="auto">
            <a:xfrm>
              <a:off x="3959350" y="2542025"/>
              <a:ext cx="5791527" cy="4312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1" name="Group 30"/>
            <p:cNvGrpSpPr/>
            <p:nvPr/>
          </p:nvGrpSpPr>
          <p:grpSpPr>
            <a:xfrm>
              <a:off x="4461288" y="2994375"/>
              <a:ext cx="1439894" cy="1661856"/>
              <a:chOff x="4461288" y="2994375"/>
              <a:chExt cx="1439894" cy="1661856"/>
            </a:xfrm>
          </p:grpSpPr>
          <p:pic>
            <p:nvPicPr>
              <p:cNvPr id="4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17050" r="76973" b="48638"/>
              <a:stretch/>
            </p:blipFill>
            <p:spPr bwMode="auto">
              <a:xfrm>
                <a:off x="4461288" y="2994375"/>
                <a:ext cx="1439894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5" name="Rectangle 44"/>
              <p:cNvSpPr/>
              <p:nvPr/>
            </p:nvSpPr>
            <p:spPr bwMode="auto">
              <a:xfrm>
                <a:off x="4496502" y="3149378"/>
                <a:ext cx="1384182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abs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is a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16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built-in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spc="-100" dirty="0">
                    <a:latin typeface="Times New Roman" charset="0"/>
                  </a:rPr>
                  <a:t>f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1100" dirty="0">
                    <a:latin typeface="Times New Roman" charset="0"/>
                  </a:rPr>
                  <a:t>   </a:t>
                </a:r>
                <a:r>
                  <a:rPr lang="en-US" sz="2800" dirty="0" err="1">
                    <a:latin typeface="Times New Roman" charset="0"/>
                  </a:rPr>
                  <a:t>ints</a:t>
                </a:r>
                <a:r>
                  <a:rPr lang="en-US" sz="2800" dirty="0">
                    <a:latin typeface="Times New Roman" charset="0"/>
                  </a:rPr>
                  <a:t>, but</a:t>
                </a:r>
              </a:p>
              <a:p>
                <a:pPr marL="0" marR="0" indent="0" algn="l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800" spc="-100" dirty="0">
                    <a:latin typeface="Times New Roman" charset="0"/>
                  </a:rPr>
                  <a:t>not </a:t>
                </a:r>
                <a:r>
                  <a:rPr lang="en-US" sz="2800" spc="-300" dirty="0">
                    <a:latin typeface="Times New Roman" charset="0"/>
                  </a:rPr>
                  <a:t>o</a:t>
                </a:r>
                <a:r>
                  <a:rPr lang="en-US" sz="2800" dirty="0">
                    <a:latin typeface="Times New Roman" charset="0"/>
                  </a:rPr>
                  <a:t>f </a:t>
                </a:r>
                <a:r>
                  <a:rPr lang="en-US" sz="2800" dirty="0" err="1">
                    <a:latin typeface="Times New Roman" charset="0"/>
                  </a:rPr>
                  <a:t>strs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6145906" y="2971611"/>
              <a:ext cx="1667547" cy="1675306"/>
              <a:chOff x="6145906" y="2971611"/>
              <a:chExt cx="1667547" cy="1675306"/>
            </a:xfrm>
          </p:grpSpPr>
          <p:pic>
            <p:nvPicPr>
              <p:cNvPr id="42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2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92" t="16580" r="50678" b="49108"/>
              <a:stretch/>
            </p:blipFill>
            <p:spPr bwMode="auto">
              <a:xfrm>
                <a:off x="6145906" y="2971611"/>
                <a:ext cx="1667547" cy="16618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Rectangle 42"/>
              <p:cNvSpPr/>
              <p:nvPr/>
            </p:nvSpPr>
            <p:spPr bwMode="auto">
              <a:xfrm rot="21540000">
                <a:off x="6185471" y="3169767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all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everything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4461286" y="4861116"/>
              <a:ext cx="1667546" cy="1662968"/>
              <a:chOff x="4461286" y="4861116"/>
              <a:chExt cx="1667546" cy="1662968"/>
            </a:xfrm>
          </p:grpSpPr>
          <p:pic>
            <p:nvPicPr>
              <p:cNvPr id="40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28" t="55591" r="73842" b="10450"/>
              <a:stretch/>
            </p:blipFill>
            <p:spPr bwMode="auto">
              <a:xfrm>
                <a:off x="4461286" y="4861116"/>
                <a:ext cx="1667546" cy="16447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1" name="Rectangle 40"/>
              <p:cNvSpPr/>
              <p:nvPr/>
            </p:nvSpPr>
            <p:spPr bwMode="auto">
              <a:xfrm rot="21660000">
                <a:off x="4492643" y="5046934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any</a:t>
                </a:r>
                <a:r>
                  <a:rPr lang="en-US" sz="280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800" dirty="0">
                    <a:latin typeface="Agency FB" panose="020B0503020202020204" pitchFamily="34" charset="0"/>
                  </a:rPr>
                  <a:t>):</a:t>
                </a:r>
                <a:r>
                  <a:rPr lang="en-US" sz="2800" dirty="0">
                    <a:latin typeface="Times New Roman" charset="0"/>
                  </a:rPr>
                  <a:t>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is True if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anything</a:t>
                </a:r>
              </a:p>
              <a:p>
                <a:pPr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in</a:t>
                </a:r>
                <a:r>
                  <a:rPr lang="en-US" sz="24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L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is</a:t>
                </a: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lang="en-US" sz="2800" spc="100" dirty="0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ue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6200987" y="4832661"/>
              <a:ext cx="1611713" cy="1713324"/>
              <a:chOff x="6200987" y="4832661"/>
              <a:chExt cx="1611713" cy="1713324"/>
            </a:xfrm>
          </p:grpSpPr>
          <p:pic>
            <p:nvPicPr>
              <p:cNvPr id="3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975" t="55004" r="52321" b="11154"/>
              <a:stretch/>
            </p:blipFill>
            <p:spPr bwMode="auto">
              <a:xfrm>
                <a:off x="6333718" y="4832661"/>
                <a:ext cx="1360218" cy="16390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9" name="Rectangle 38"/>
              <p:cNvSpPr/>
              <p:nvPr/>
            </p:nvSpPr>
            <p:spPr bwMode="auto">
              <a:xfrm rot="21540000">
                <a:off x="6200987" y="5068835"/>
                <a:ext cx="1611713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 err="1">
                    <a:latin typeface="Times New Roman" charset="0"/>
                  </a:rPr>
                  <a:t>str</a:t>
                </a:r>
                <a:r>
                  <a:rPr lang="en-US" sz="2800" dirty="0">
                    <a:latin typeface="Agency FB" panose="020B0503020202020204" pitchFamily="34" charset="0"/>
                  </a:rPr>
                  <a:t>():</a:t>
                </a:r>
                <a:r>
                  <a:rPr lang="en-US" sz="2800" dirty="0">
                    <a:latin typeface="Times New Roman" charset="0"/>
                  </a:rPr>
                  <a:t> can</a:t>
                </a:r>
              </a:p>
              <a:p>
                <a:pPr algn="ctr" defTabSz="914400" fontAlgn="base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30" dirty="0">
                    <a:latin typeface="Times New Roman" charset="0"/>
                  </a:rPr>
                  <a:t>represent</a:t>
                </a:r>
                <a:br>
                  <a:rPr lang="en-US" sz="2800" spc="-3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 anything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as a str.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7942997" y="2971611"/>
              <a:ext cx="1474220" cy="1707387"/>
              <a:chOff x="7942997" y="2971611"/>
              <a:chExt cx="1474220" cy="1707387"/>
            </a:xfrm>
          </p:grpSpPr>
          <p:pic>
            <p:nvPicPr>
              <p:cNvPr id="36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3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671" t="16580" r="29312" b="48168"/>
              <a:stretch/>
            </p:blipFill>
            <p:spPr bwMode="auto">
              <a:xfrm>
                <a:off x="7984191" y="2971611"/>
                <a:ext cx="1382984" cy="17073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7" name="Rectangle 36"/>
              <p:cNvSpPr/>
              <p:nvPr/>
            </p:nvSpPr>
            <p:spPr bwMode="auto">
              <a:xfrm rot="21600000">
                <a:off x="7942997" y="3090981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>
                    <a:latin typeface="Times New Roman" charset="0"/>
                  </a:rPr>
                  <a:t> </a:t>
                </a:r>
                <a:r>
                  <a:rPr lang="en-US" sz="2800" dirty="0">
                    <a:latin typeface="Times New Roman" charset="0"/>
                  </a:rPr>
                  <a:t>'lambda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50" dirty="0" err="1">
                    <a:latin typeface="Times New Roman" charset="0"/>
                  </a:rPr>
                  <a:t>arg</a:t>
                </a:r>
                <a:r>
                  <a:rPr lang="en-US" sz="2800" spc="-100" dirty="0" err="1">
                    <a:latin typeface="Times New Roman" charset="0"/>
                  </a:rPr>
                  <a:t>s:ex</a:t>
                </a:r>
                <a:r>
                  <a:rPr lang="en-US" sz="2800" spc="-50" dirty="0" err="1">
                    <a:latin typeface="Times New Roman" charset="0"/>
                  </a:rPr>
                  <a:t>p</a:t>
                </a:r>
                <a:r>
                  <a:rPr lang="en-US" sz="2800" dirty="0" err="1">
                    <a:latin typeface="Times New Roman" charset="0"/>
                  </a:rPr>
                  <a:t>r</a:t>
                </a:r>
                <a:r>
                  <a:rPr lang="en-US" sz="2800" dirty="0">
                    <a:latin typeface="Times New Roman" charset="0"/>
                  </a:rPr>
                  <a:t>'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creates a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t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e</a:t>
                </a:r>
                <a:r>
                  <a:rPr kumimoji="0" lang="en-US" sz="2800" b="0" i="0" u="none" strike="noStrike" cap="none" spc="-150" normalizeH="0" dirty="0">
                    <a:ln>
                      <a:noFill/>
                    </a:ln>
                    <a:effectLst/>
                    <a:latin typeface="Times New Roman" charset="0"/>
                  </a:rPr>
                  <a:t>m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p</a:t>
                </a:r>
                <a:r>
                  <a:rPr kumimoji="0" lang="en-US" sz="2800" b="0" i="0" u="none" strike="noStrike" cap="none" spc="-200" normalizeH="0" dirty="0">
                    <a:ln>
                      <a:noFill/>
                    </a:ln>
                    <a:effectLst/>
                    <a:latin typeface="Times New Roman" charset="0"/>
                  </a:rPr>
                  <a:t>o</a:t>
                </a:r>
                <a:r>
                  <a:rPr kumimoji="0" lang="en-US" sz="2800" b="0" i="0" u="none" strike="noStrike" cap="none" spc="-100" normalizeH="0" dirty="0">
                    <a:ln>
                      <a:noFill/>
                    </a:ln>
                    <a:effectLst/>
                    <a:latin typeface="Times New Roman" charset="0"/>
                  </a:rPr>
                  <a:t>ra</a:t>
                </a:r>
                <a:r>
                  <a: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rPr>
                  <a:t>ry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dirty="0">
                    <a:latin typeface="Times New Roman" charset="0"/>
                  </a:rPr>
                  <a:t>function</a:t>
                </a:r>
                <a:endParaRPr kumimoji="0" lang="en-US" sz="2800" b="0" i="0" u="none" strike="noStrike" cap="none" normalizeH="0" baseline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7919695" y="2288243"/>
            <a:ext cx="1474220" cy="1633398"/>
            <a:chOff x="7919695" y="4832661"/>
            <a:chExt cx="1474220" cy="1633398"/>
          </a:xfrm>
        </p:grpSpPr>
        <p:pic>
          <p:nvPicPr>
            <p:cNvPr id="27" name="Picture 2" descr="Close Up Post It Notes In The Wall At Meeting Room Sticky Note Paper  Reminder Schedule Board Colorful Variety Copy Empty Space Soft Focus Stock  Photo - Download Image Now - iStock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49" t="55004" r="29782" b="11271"/>
            <a:stretch/>
          </p:blipFill>
          <p:spPr bwMode="auto">
            <a:xfrm>
              <a:off x="7989883" y="4832661"/>
              <a:ext cx="1343144" cy="16333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Rectangle 27"/>
            <p:cNvSpPr/>
            <p:nvPr/>
          </p:nvSpPr>
          <p:spPr bwMode="auto">
            <a:xfrm rot="21600000">
              <a:off x="7919695" y="4961829"/>
              <a:ext cx="1474220" cy="147715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0" tIns="4572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spc="50" dirty="0">
                  <a:latin typeface="Times New Roman" charset="0"/>
                </a:rPr>
                <a:t>f</a:t>
              </a:r>
              <a:r>
                <a:rPr lang="en-US" sz="2800" spc="-170" dirty="0">
                  <a:latin typeface="Times New Roman" charset="0"/>
                </a:rPr>
                <a:t>i</a:t>
              </a:r>
              <a:r>
                <a:rPr lang="en-US" sz="2800" spc="-110" dirty="0">
                  <a:latin typeface="Times New Roman" charset="0"/>
                </a:rPr>
                <a:t>l</a:t>
              </a:r>
              <a:r>
                <a:rPr lang="en-US" sz="2800" spc="-70" dirty="0">
                  <a:latin typeface="Times New Roman" charset="0"/>
                </a:rPr>
                <a:t>te</a:t>
              </a:r>
              <a:r>
                <a:rPr lang="en-US" sz="2800" spc="-40" dirty="0">
                  <a:latin typeface="Times New Roman" charset="0"/>
                </a:rPr>
                <a:t>r</a:t>
              </a:r>
              <a:r>
                <a:rPr lang="en-US" sz="2800" spc="-250" dirty="0">
                  <a:latin typeface="Agency FB" panose="020B0503020202020204" pitchFamily="34" charset="0"/>
                </a:rPr>
                <a:t>(</a:t>
              </a:r>
              <a:r>
                <a:rPr lang="en-US" sz="2800" dirty="0" err="1">
                  <a:latin typeface="Times New Roman" charset="0"/>
                </a:rPr>
                <a:t>f</a:t>
              </a:r>
              <a:r>
                <a:rPr lang="en-US" sz="2800" spc="-100" dirty="0" err="1">
                  <a:latin typeface="Times New Roman" charset="0"/>
                </a:rPr>
                <a:t>u</a:t>
              </a:r>
              <a:r>
                <a:rPr lang="en-US" sz="2800" spc="-200" dirty="0" err="1">
                  <a:latin typeface="Times New Roman" charset="0"/>
                </a:rPr>
                <a:t>n</a:t>
              </a:r>
              <a:r>
                <a:rPr lang="en-US" sz="2800" dirty="0" err="1">
                  <a:latin typeface="Times New Roman" charset="0"/>
                </a:rPr>
                <a:t>c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spc="-100" dirty="0">
                  <a:latin typeface="Times New Roman" charset="0"/>
                </a:rPr>
                <a:t>o</a:t>
              </a:r>
              <a:r>
                <a:rPr lang="en-US" sz="2800" spc="-70" dirty="0">
                  <a:latin typeface="Times New Roman" charset="0"/>
                </a:rPr>
                <a:t>r</a:t>
              </a:r>
              <a:r>
                <a:rPr lang="en-US" sz="2000" spc="-70" dirty="0">
                  <a:latin typeface="Times New Roman" charset="0"/>
                </a:rPr>
                <a:t>  </a:t>
              </a:r>
              <a:r>
                <a:rPr lang="en-US" sz="2800" spc="-70" dirty="0">
                  <a:latin typeface="Times New Roman" charset="0"/>
                </a:rPr>
                <a:t>N</a:t>
              </a:r>
              <a:r>
                <a:rPr lang="en-US" sz="2800" dirty="0">
                  <a:latin typeface="Times New Roman" charset="0"/>
                </a:rPr>
                <a:t>one, </a:t>
              </a:r>
              <a:br>
                <a:rPr lang="en-US" sz="2800" dirty="0">
                  <a:latin typeface="Times New Roman" charset="0"/>
                </a:rPr>
              </a:br>
              <a:r>
                <a:rPr lang="en-US" sz="2800" spc="100" dirty="0" err="1">
                  <a:latin typeface="Times New Roman" charset="0"/>
                </a:rPr>
                <a:t>iter</a:t>
              </a:r>
              <a:r>
                <a:rPr lang="en-US" sz="2800" dirty="0" err="1">
                  <a:latin typeface="Times New Roman" charset="0"/>
                </a:rPr>
                <a:t>able</a:t>
              </a:r>
              <a:r>
                <a:rPr lang="en-US" sz="2800" dirty="0">
                  <a:latin typeface="Agency FB" panose="020B0503020202020204" pitchFamily="34" charset="0"/>
                </a:rPr>
                <a:t>)</a:t>
              </a:r>
              <a:r>
                <a:rPr lang="en-US" sz="2800" dirty="0">
                  <a:latin typeface="Times New Roman" charset="0"/>
                </a:rPr>
                <a:t>:</a:t>
              </a:r>
            </a:p>
            <a:p>
              <a:pPr algn="ctr" defTabSz="914400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dirty="0">
                  <a:latin typeface="Times New Roman" charset="0"/>
                </a:rPr>
                <a:t>ta</a:t>
              </a:r>
              <a:r>
                <a:rPr lang="en-US" sz="2800" spc="-250" dirty="0">
                  <a:latin typeface="Times New Roman" charset="0"/>
                </a:rPr>
                <a:t>k</a:t>
              </a:r>
              <a:r>
                <a:rPr lang="en-US" sz="2800" dirty="0">
                  <a:latin typeface="Times New Roman" charset="0"/>
                </a:rPr>
                <a:t>e</a:t>
              </a:r>
              <a:r>
                <a:rPr lang="en-US" sz="1800" dirty="0">
                  <a:latin typeface="Times New Roman" charset="0"/>
                </a:rPr>
                <a:t> </a:t>
              </a:r>
              <a:r>
                <a:rPr lang="en-US" sz="2800" spc="-100" dirty="0">
                  <a:latin typeface="Times New Roman" charset="0"/>
                </a:rPr>
                <a:t>s</a:t>
              </a:r>
              <a:r>
                <a:rPr lang="en-US" sz="2800" spc="-180" dirty="0">
                  <a:latin typeface="Times New Roman" charset="0"/>
                </a:rPr>
                <a:t>om</a:t>
              </a:r>
              <a:r>
                <a:rPr lang="en-US" sz="2800" spc="-100" dirty="0">
                  <a:latin typeface="Times New Roman" charset="0"/>
                </a:rPr>
                <a:t>e</a:t>
              </a:r>
              <a:r>
                <a:rPr lang="en-US" sz="1050" spc="-100" dirty="0">
                  <a:latin typeface="Times New Roman" charset="0"/>
                </a:rPr>
                <a:t> </a:t>
              </a:r>
              <a:endParaRPr lang="en-US" sz="2800" spc="-100" dirty="0">
                <a:latin typeface="Times New Roman" charset="0"/>
              </a:endParaRPr>
            </a:p>
            <a:p>
              <a:pPr algn="ctr" defTabSz="914400" fontAlgn="base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800" spc="-100" dirty="0">
                  <a:latin typeface="Times New Roman" charset="0"/>
                </a:rPr>
                <a:t>items out</a:t>
              </a:r>
              <a:endParaRPr kumimoji="0" lang="en-US" sz="2800" b="0" i="0" u="none" strike="noStrike" cap="none" spc="-100" normalizeH="0" dirty="0">
                <a:ln>
                  <a:noFill/>
                </a:ln>
                <a:effectLst/>
                <a:latin typeface="Times New Roman" charset="0"/>
              </a:endParaRPr>
            </a:p>
          </p:txBody>
        </p:sp>
      </p:grpSp>
      <p:cxnSp>
        <p:nvCxnSpPr>
          <p:cNvPr id="46" name="Straight Arrow Connector 45"/>
          <p:cNvCxnSpPr/>
          <p:nvPr/>
        </p:nvCxnSpPr>
        <p:spPr bwMode="auto">
          <a:xfrm flipV="1">
            <a:off x="2660904" y="2624328"/>
            <a:ext cx="6062472" cy="264261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 flipV="1">
            <a:off x="5482784" y="3296653"/>
            <a:ext cx="2987448" cy="198853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9966FF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1" name="Straight Arrow Connector 60"/>
          <p:cNvCxnSpPr/>
          <p:nvPr/>
        </p:nvCxnSpPr>
        <p:spPr bwMode="auto">
          <a:xfrm flipV="1">
            <a:off x="4200477" y="2999232"/>
            <a:ext cx="4349163" cy="228678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66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110906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1" y="762000"/>
            <a:ext cx="9440863" cy="6096000"/>
          </a:xfrm>
        </p:spPr>
        <p:txBody>
          <a:bodyPr/>
          <a:lstStyle/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=[</a:t>
            </a:r>
            <a:r>
              <a:rPr lang="en-US" altLang="zh-TW" sz="2400" dirty="0">
                <a:solidFill>
                  <a:srgbClr val="3333CC"/>
                </a:solidFill>
                <a:latin typeface="Lucida Console" panose="020B0609040504020204" pitchFamily="49" charset="0"/>
                <a:ea typeface="inherit"/>
              </a:rPr>
              <a:t>0,1,2,"","0","1","2",{},{1:0},{2:1,1:0}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any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all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False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2D2DB9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None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&lt;filter object at 0x6ffffff2c400&gt;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all(</a:t>
            </a:r>
            <a:r>
              <a:rPr lang="en-US" altLang="zh-TW" sz="2400" b="1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_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None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[1, 2, '0', '1', '2', {2: 1, 1: 0}, {1: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endParaRPr lang="en-US" altLang="zh-TW" sz="2400" dirty="0">
              <a:solidFill>
                <a:schemeClr val="accent2"/>
              </a:solidFill>
              <a:latin typeface="Lucida Console" panose="020B0609040504020204" pitchFamily="49" charset="0"/>
              <a:ea typeface="inheri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altLang="en-US" sz="44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filter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GB" altLang="en-US" sz="12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TW" sz="4400" b="1" kern="0" dirty="0">
              <a:latin typeface="Lucida Fax" panose="02060602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6862" y="762000"/>
            <a:ext cx="70326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3711448" y="2297299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842456" y="348674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243544" y="2895588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9084710" y="78055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243544" y="169720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2243544" y="1101111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1100536" y="2278124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1100536" y="406942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1100536" y="346756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1100536" y="2876413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1100536" y="78677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1100536" y="167803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1100536" y="1081936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flipH="1">
            <a:off x="557561" y="1073683"/>
            <a:ext cx="1165051" cy="290358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66" name="Straight Arrow Connector 65"/>
          <p:cNvCxnSpPr/>
          <p:nvPr/>
        </p:nvCxnSpPr>
        <p:spPr bwMode="auto">
          <a:xfrm flipH="1">
            <a:off x="1613210" y="1013974"/>
            <a:ext cx="1354973" cy="294099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grpSp>
        <p:nvGrpSpPr>
          <p:cNvPr id="29" name="Group 28"/>
          <p:cNvGrpSpPr/>
          <p:nvPr/>
        </p:nvGrpSpPr>
        <p:grpSpPr>
          <a:xfrm>
            <a:off x="3959350" y="2576957"/>
            <a:ext cx="5791527" cy="4312465"/>
            <a:chOff x="3959350" y="-55403"/>
            <a:chExt cx="5791527" cy="4312465"/>
          </a:xfrm>
        </p:grpSpPr>
        <p:sp>
          <p:nvSpPr>
            <p:cNvPr id="8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10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1" name="Group 10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24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5" name="Rectangle 24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22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Rectangle 22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20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1" name="Rectangle 20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18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" name="Rectangle 18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16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Rectangle 16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26" name="Group 25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2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Rectangle 27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grpSp>
        <p:nvGrpSpPr>
          <p:cNvPr id="30" name="Group 29"/>
          <p:cNvGrpSpPr/>
          <p:nvPr/>
        </p:nvGrpSpPr>
        <p:grpSpPr>
          <a:xfrm>
            <a:off x="3959350" y="-55403"/>
            <a:ext cx="5791527" cy="4312465"/>
            <a:chOff x="3959350" y="-55403"/>
            <a:chExt cx="5791527" cy="4312465"/>
          </a:xfrm>
        </p:grpSpPr>
        <p:sp>
          <p:nvSpPr>
            <p:cNvPr id="31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36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7" name="Group 36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50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1" name="Rectangle 50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48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9" name="Rectangle 48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46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7" name="Rectangle 46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44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5" name="Rectangle 44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42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3" name="Rectangle 42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33" name="Group 32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3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Rectangle 34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cxnSp>
        <p:nvCxnSpPr>
          <p:cNvPr id="73" name="Straight Arrow Connector 72"/>
          <p:cNvCxnSpPr/>
          <p:nvPr/>
        </p:nvCxnSpPr>
        <p:spPr bwMode="auto">
          <a:xfrm flipH="1">
            <a:off x="4324227" y="1022311"/>
            <a:ext cx="1395033" cy="300104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>
            <a:off x="1643270" y="1358348"/>
            <a:ext cx="3187493" cy="386300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6" name="Straight Arrow Connector 75"/>
          <p:cNvCxnSpPr/>
          <p:nvPr/>
        </p:nvCxnSpPr>
        <p:spPr bwMode="auto">
          <a:xfrm>
            <a:off x="1663148" y="1848678"/>
            <a:ext cx="4909931" cy="159026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3" name="Straight Arrow Connector 82"/>
          <p:cNvCxnSpPr/>
          <p:nvPr/>
        </p:nvCxnSpPr>
        <p:spPr bwMode="auto">
          <a:xfrm>
            <a:off x="2961861" y="2531165"/>
            <a:ext cx="5420139" cy="290885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8" name="Straight Arrow Connector 87"/>
          <p:cNvCxnSpPr/>
          <p:nvPr/>
        </p:nvCxnSpPr>
        <p:spPr bwMode="auto">
          <a:xfrm>
            <a:off x="1961323" y="1994453"/>
            <a:ext cx="0" cy="10972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2" name="Straight Arrow Connector 91"/>
          <p:cNvCxnSpPr/>
          <p:nvPr/>
        </p:nvCxnSpPr>
        <p:spPr bwMode="auto">
          <a:xfrm>
            <a:off x="788509" y="2252869"/>
            <a:ext cx="0" cy="96012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03826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path" presetSubtype="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7665E-6 0 L -0.00017 0.3831 " pathEditMode="relative" rAng="0" ptsTypes="AA">
                                      <p:cBhvr>
                                        <p:cTn id="1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191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2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9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6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5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1" y="762000"/>
            <a:ext cx="9440863" cy="6096000"/>
          </a:xfrm>
        </p:spPr>
        <p:txBody>
          <a:bodyPr/>
          <a:lstStyle/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=[0,1,2,"","0","1","2",{},{1:0},{2:1,1:0}]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   any(</a:t>
            </a:r>
            <a:r>
              <a:rPr lang="en-US" altLang="zh-TW" sz="2400" b="1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   all(</a:t>
            </a:r>
            <a:r>
              <a:rPr lang="en-US" altLang="zh-TW" sz="2400" b="1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False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None,</a:t>
            </a:r>
            <a:r>
              <a:rPr lang="en-US" altLang="zh-TW" sz="2400" b="1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&lt;filter object at 0x6ffffff2c400&gt;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   all(</a:t>
            </a:r>
            <a:r>
              <a:rPr lang="en-US" altLang="zh-TW" sz="2400" b="1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_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None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[1, 2, '0', '1', '2', {1: 0}, {2: 1, 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abs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FF99CC"/>
                </a:solidFill>
                <a:latin typeface="Lucida Console" panose="020B0609040504020204" pitchFamily="49" charset="0"/>
                <a:ea typeface="inherit"/>
              </a:rPr>
              <a:t>Traceback</a:t>
            </a:r>
            <a:r>
              <a:rPr lang="en-US" altLang="zh-TW" sz="2400" dirty="0">
                <a:solidFill>
                  <a:srgbClr val="FF99CC"/>
                </a:solidFill>
                <a:latin typeface="Lucida Console" panose="020B0609040504020204" pitchFamily="49" charset="0"/>
                <a:ea typeface="inherit"/>
              </a:rPr>
              <a:t> (most recent call last):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FF99CC"/>
                </a:solidFill>
                <a:latin typeface="Lucida Console" panose="020B0609040504020204" pitchFamily="49" charset="0"/>
                <a:ea typeface="inherit"/>
              </a:rPr>
              <a:t>  File "&lt;</a:t>
            </a:r>
            <a:r>
              <a:rPr lang="en-US" altLang="zh-TW" sz="2400" dirty="0" err="1">
                <a:solidFill>
                  <a:srgbClr val="FF99CC"/>
                </a:solidFill>
                <a:latin typeface="Lucida Console" panose="020B0609040504020204" pitchFamily="49" charset="0"/>
                <a:ea typeface="inherit"/>
              </a:rPr>
              <a:t>stdin</a:t>
            </a:r>
            <a:r>
              <a:rPr lang="en-US" altLang="zh-TW" sz="2400" dirty="0">
                <a:solidFill>
                  <a:srgbClr val="FF99CC"/>
                </a:solidFill>
                <a:latin typeface="Lucida Console" panose="020B0609040504020204" pitchFamily="49" charset="0"/>
                <a:ea typeface="inherit"/>
              </a:rPr>
              <a:t>&gt;", line 1, in &lt;module&gt;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TypeError</a:t>
            </a:r>
            <a:r>
              <a:rPr lang="en-US" altLang="zh-TW" sz="2400" dirty="0">
                <a:solidFill>
                  <a:srgbClr val="FF99CC"/>
                </a:solidFill>
                <a:latin typeface="Lucida Console" panose="020B0609040504020204" pitchFamily="49" charset="0"/>
                <a:ea typeface="inherit"/>
              </a:rPr>
              <a:t>: bad operand type for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abs(): '</a:t>
            </a:r>
            <a:r>
              <a:rPr lang="en-US" altLang="zh-TW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[0, 1, 2, '0', '1', '2', {}, {1: 0}, {2: 1, 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isStr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): return </a:t>
            </a: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type(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==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endParaRPr lang="en-US" altLang="zh-TW" sz="2400" b="1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endParaRPr lang="en-US" altLang="zh-TW" sz="2400" dirty="0">
              <a:solidFill>
                <a:schemeClr val="accent2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  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isStr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altLang="en-US" sz="44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filter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GB" altLang="en-US" sz="12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TW" sz="4400" b="1" kern="0" dirty="0">
              <a:latin typeface="Lucida Fax" panose="02060602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6862" y="762000"/>
            <a:ext cx="703263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...</a:t>
            </a: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</p:txBody>
      </p:sp>
      <p:cxnSp>
        <p:nvCxnSpPr>
          <p:cNvPr id="53" name="Straight Connector 52"/>
          <p:cNvCxnSpPr/>
          <p:nvPr/>
        </p:nvCxnSpPr>
        <p:spPr>
          <a:xfrm>
            <a:off x="5027378" y="6499848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7296891" y="5897371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637912" y="529432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4649944" y="4097675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100536" y="647866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1100536" y="5880370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1100536" y="5273141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1100536" y="406942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4842456" y="348674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557561" y="1013974"/>
            <a:ext cx="5161699" cy="3009386"/>
            <a:chOff x="557561" y="1013974"/>
            <a:chExt cx="5161699" cy="3009386"/>
          </a:xfrm>
        </p:grpSpPr>
        <p:cxnSp>
          <p:nvCxnSpPr>
            <p:cNvPr id="70" name="Straight Arrow Connector 69"/>
            <p:cNvCxnSpPr/>
            <p:nvPr/>
          </p:nvCxnSpPr>
          <p:spPr bwMode="auto">
            <a:xfrm flipH="1">
              <a:off x="557561" y="1073683"/>
              <a:ext cx="1165051" cy="290358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71" name="Straight Arrow Connector 70"/>
            <p:cNvCxnSpPr/>
            <p:nvPr/>
          </p:nvCxnSpPr>
          <p:spPr bwMode="auto">
            <a:xfrm flipH="1">
              <a:off x="1613210" y="1013974"/>
              <a:ext cx="1354973" cy="2940992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cxnSp>
          <p:nvCxnSpPr>
            <p:cNvPr id="83" name="Straight Arrow Connector 82"/>
            <p:cNvCxnSpPr/>
            <p:nvPr/>
          </p:nvCxnSpPr>
          <p:spPr bwMode="auto">
            <a:xfrm flipH="1">
              <a:off x="4324227" y="1022311"/>
              <a:ext cx="1395033" cy="3001049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</p:grpSp>
      <p:grpSp>
        <p:nvGrpSpPr>
          <p:cNvPr id="30" name="Group 29"/>
          <p:cNvGrpSpPr/>
          <p:nvPr/>
        </p:nvGrpSpPr>
        <p:grpSpPr>
          <a:xfrm>
            <a:off x="3959350" y="-517295"/>
            <a:ext cx="5791527" cy="4312465"/>
            <a:chOff x="3959350" y="-55403"/>
            <a:chExt cx="5791527" cy="4312465"/>
          </a:xfrm>
        </p:grpSpPr>
        <p:sp>
          <p:nvSpPr>
            <p:cNvPr id="31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36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37" name="Group 36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50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51" name="Rectangle 50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48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9" name="Rectangle 48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46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7" name="Rectangle 46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40" name="Group 39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44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5" name="Rectangle 44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42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43" name="Rectangle 42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33" name="Group 32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34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Rectangle 34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grpSp>
        <p:nvGrpSpPr>
          <p:cNvPr id="29" name="Group 28"/>
          <p:cNvGrpSpPr/>
          <p:nvPr/>
        </p:nvGrpSpPr>
        <p:grpSpPr>
          <a:xfrm>
            <a:off x="3959350" y="2576957"/>
            <a:ext cx="5791527" cy="4312465"/>
            <a:chOff x="3959350" y="-55403"/>
            <a:chExt cx="5791527" cy="4312465"/>
          </a:xfrm>
        </p:grpSpPr>
        <p:sp>
          <p:nvSpPr>
            <p:cNvPr id="8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10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1" name="Group 10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24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5" name="Rectangle 24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22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Rectangle 22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20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1" name="Rectangle 20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18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9" name="Rectangle 18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16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" name="Rectangle 16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26" name="Group 25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27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Rectangle 27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cxnSp>
        <p:nvCxnSpPr>
          <p:cNvPr id="72" name="Straight Arrow Connector 71"/>
          <p:cNvCxnSpPr/>
          <p:nvPr/>
        </p:nvCxnSpPr>
        <p:spPr bwMode="auto">
          <a:xfrm flipH="1" flipV="1">
            <a:off x="5613992" y="1424764"/>
            <a:ext cx="2360427" cy="359380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79" name="Straight Arrow Connector 78"/>
          <p:cNvCxnSpPr/>
          <p:nvPr/>
        </p:nvCxnSpPr>
        <p:spPr bwMode="auto">
          <a:xfrm flipV="1">
            <a:off x="3848986" y="2998381"/>
            <a:ext cx="2998381" cy="233916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89" name="Straight Arrow Connector 88"/>
          <p:cNvCxnSpPr/>
          <p:nvPr/>
        </p:nvCxnSpPr>
        <p:spPr bwMode="auto">
          <a:xfrm flipV="1">
            <a:off x="3636952" y="424070"/>
            <a:ext cx="1160681" cy="369427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1" name="Straight Arrow Connector 90"/>
          <p:cNvCxnSpPr/>
          <p:nvPr/>
        </p:nvCxnSpPr>
        <p:spPr bwMode="auto">
          <a:xfrm flipH="1" flipV="1">
            <a:off x="2994991" y="901148"/>
            <a:ext cx="4873415" cy="412404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4" name="Straight Arrow Connector 93"/>
          <p:cNvCxnSpPr/>
          <p:nvPr/>
        </p:nvCxnSpPr>
        <p:spPr bwMode="auto">
          <a:xfrm flipH="1">
            <a:off x="2150533" y="1032933"/>
            <a:ext cx="846667" cy="475826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cxnSp>
        <p:nvCxnSpPr>
          <p:cNvPr id="97" name="Straight Connector 96"/>
          <p:cNvCxnSpPr/>
          <p:nvPr/>
        </p:nvCxnSpPr>
        <p:spPr>
          <a:xfrm>
            <a:off x="1100538" y="6182824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14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7665E-6 3.7037E-6 L -0.00033 -0.4509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-225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1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1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2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0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96000"/>
          </a:xfrm>
        </p:spPr>
        <p:txBody>
          <a:bodyPr/>
          <a:lstStyle/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any(L)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all(L)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False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filter(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None,L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&lt;filter object at 0x6ffffff2c400&gt;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all(_)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list(filter(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None,L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[1, 2, '0', '1', '2', {1: 0}, {2: 1, 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</a:t>
            </a:r>
            <a:r>
              <a:rPr lang="en-US" altLang="zh-TW" sz="2400" dirty="0">
                <a:solidFill>
                  <a:srgbClr val="BFBFBF"/>
                </a:solidFill>
                <a:latin typeface="Lucida Console" panose="020B0609040504020204" pitchFamily="49" charset="0"/>
                <a:ea typeface="inherit"/>
              </a:rPr>
              <a:t>&gt;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list(filter(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abs,L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Traceback</a:t>
            </a:r>
            <a:r>
              <a:rPr lang="en-US" altLang="zh-TW" sz="2400" dirty="0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 (most recent call last):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  File "&lt;</a:t>
            </a:r>
            <a:r>
              <a:rPr lang="en-US" altLang="zh-TW" sz="2400" dirty="0" err="1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stdin</a:t>
            </a:r>
            <a:r>
              <a:rPr lang="en-US" altLang="zh-TW" sz="2400" dirty="0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&gt;", line 1, in &lt;module&gt;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TypeError</a:t>
            </a:r>
            <a:r>
              <a:rPr lang="en-US" altLang="zh-TW" sz="2400" dirty="0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: bad operand type for abs(): '</a:t>
            </a:r>
            <a:r>
              <a:rPr lang="en-US" altLang="zh-TW" sz="2400" dirty="0" err="1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str</a:t>
            </a:r>
            <a:r>
              <a:rPr lang="en-US" altLang="zh-TW" sz="2400" dirty="0">
                <a:solidFill>
                  <a:srgbClr val="EBAEC5"/>
                </a:solidFill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[1, 2, '0', '1', '2', {1: 0}, {2: 1, 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isStr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): return </a:t>
            </a: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type(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==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endParaRPr lang="en-US" altLang="zh-TW" sz="2400" b="1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...</a:t>
            </a:r>
            <a:endParaRPr lang="en-US" altLang="zh-TW" sz="2400" dirty="0">
              <a:solidFill>
                <a:schemeClr val="accent2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isStr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['', '0', '1', '2']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altLang="en-US" sz="44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filter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GB" altLang="en-US" sz="12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TW" sz="4400" b="1" kern="0" dirty="0">
              <a:latin typeface="Lucida Fax" panose="02060602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59350" y="-517295"/>
            <a:ext cx="5791527" cy="4312465"/>
            <a:chOff x="3959350" y="-55403"/>
            <a:chExt cx="5791527" cy="4312465"/>
          </a:xfrm>
        </p:grpSpPr>
        <p:sp>
          <p:nvSpPr>
            <p:cNvPr id="6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11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2" name="Group 11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25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Rectangle 25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23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4" name="Rectangle 23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21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2" name="Rectangle 21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19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" name="Rectangle 19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17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" name="Rectangle 17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8" name="Group 7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9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Rectangle 9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8382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96000"/>
          </a:xfrm>
        </p:spPr>
        <p:txBody>
          <a:bodyPr/>
          <a:lstStyle/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all(L)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False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filter(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None,L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&lt;filter object at 0x6ffffff2c400&gt;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all(_)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True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list(filter(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None,L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[1, 2, '0', '1', '2', {1: 0}, {2: 1, 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 list(filter(</a:t>
            </a:r>
            <a:r>
              <a:rPr lang="en-US" altLang="zh-TW" sz="2400" dirty="0" err="1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abs,L</a:t>
            </a: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Traceback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(most recent call last):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  File "&lt;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stdin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&gt;", line 1, in &lt;module&gt;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TypeError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: bad operand type for abs(): '</a:t>
            </a:r>
            <a:r>
              <a:rPr lang="en-US" altLang="zh-TW" sz="2400" dirty="0" err="1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str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'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[1, 2, '0', '1', '2', {1: 0}, {2: 1, 1: 0}]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def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isStr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): return </a:t>
            </a: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type(</a:t>
            </a:r>
            <a:r>
              <a:rPr lang="en-US" altLang="zh-TW" sz="2400" b="1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x</a:t>
            </a: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)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  <a:ea typeface="inherit"/>
              </a:rPr>
              <a:t>==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str</a:t>
            </a:r>
            <a:endParaRPr lang="en-US" altLang="zh-TW" sz="2400" b="1" dirty="0">
              <a:solidFill>
                <a:srgbClr val="FF0000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...</a:t>
            </a:r>
            <a:endParaRPr lang="en-US" altLang="zh-TW" sz="2400" dirty="0">
              <a:solidFill>
                <a:schemeClr val="accent2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Lucida Console" panose="020B0609040504020204" pitchFamily="49" charset="0"/>
                <a:ea typeface="inherit"/>
              </a:rPr>
              <a:t>list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filter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(</a:t>
            </a:r>
            <a:r>
              <a:rPr lang="en-US" altLang="zh-TW" sz="2400" b="1" dirty="0" err="1">
                <a:solidFill>
                  <a:srgbClr val="FF0000"/>
                </a:solidFill>
                <a:latin typeface="Lucida Console" panose="020B0609040504020204" pitchFamily="49" charset="0"/>
                <a:ea typeface="inherit"/>
              </a:rPr>
              <a:t>isStr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,</a:t>
            </a:r>
            <a:r>
              <a:rPr lang="en-US" altLang="zh-TW" sz="2400" b="1" dirty="0" err="1">
                <a:solidFill>
                  <a:srgbClr val="006600"/>
                </a:solidFill>
                <a:latin typeface="Lucida Console" panose="020B0609040504020204" pitchFamily="49" charset="0"/>
                <a:ea typeface="inherit"/>
              </a:rPr>
              <a:t>L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  <a:ea typeface="inherit"/>
              </a:rPr>
              <a:t>))</a:t>
            </a:r>
            <a:endParaRPr lang="en-US" altLang="zh-TW" sz="2400" dirty="0">
              <a:solidFill>
                <a:schemeClr val="tx1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  <a:ea typeface="inherit"/>
              </a:rPr>
              <a:t>['', '0', '1', '2']</a:t>
            </a: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endParaRPr lang="en-US" altLang="zh-TW" sz="2400" dirty="0">
              <a:solidFill>
                <a:schemeClr val="tx1"/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endParaRPr lang="en-US" altLang="zh-TW" sz="2400" dirty="0">
              <a:solidFill>
                <a:schemeClr val="tx1"/>
              </a:solidFill>
              <a:latin typeface="Lucida Console" panose="020B0609040504020204" pitchFamily="49" charset="0"/>
              <a:ea typeface="inheri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altLang="en-US" sz="44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filter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GB" altLang="en-US" sz="12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TW" sz="4400" b="1" kern="0" dirty="0">
              <a:latin typeface="Lucida Fax" panose="02060602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96862" y="6452382"/>
            <a:ext cx="703263" cy="40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ea typeface="inherit"/>
              </a:rPr>
              <a:t>&gt;&gt;&gt;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100536" y="647866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959350" y="-517295"/>
            <a:ext cx="5791527" cy="4312465"/>
            <a:chOff x="3959350" y="-55403"/>
            <a:chExt cx="5791527" cy="4312465"/>
          </a:xfrm>
        </p:grpSpPr>
        <p:sp>
          <p:nvSpPr>
            <p:cNvPr id="8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13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4" name="Group 13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27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8" name="Rectangle 27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5" name="Group 14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25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6" name="Rectangle 25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23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4" name="Rectangle 23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21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2" name="Rectangle 21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18" name="Group 17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19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0" name="Rectangle 19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10" name="Group 9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11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2" name="Rectangle 11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142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indefinite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96000"/>
          </a:xfrm>
        </p:spPr>
        <p:txBody>
          <a:bodyPr/>
          <a:lstStyle/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 </a:t>
            </a: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import </a:t>
            </a:r>
            <a:r>
              <a:rPr lang="en-US" altLang="zh-TW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os</a:t>
            </a:r>
            <a:endParaRPr lang="en-US" altLang="zh-TW" sz="24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>
              <a:lnSpc>
                <a:spcPct val="82000"/>
              </a:lnSpc>
              <a:spcBef>
                <a:spcPct val="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 </a:t>
            </a: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x=</a:t>
            </a:r>
            <a:r>
              <a:rPr lang="en-US" altLang="zh-TW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os.system</a:t>
            </a: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  <a:ea typeface="inherit"/>
              </a:rPr>
              <a:t>("cat prime.py")</a:t>
            </a:r>
            <a:endParaRPr lang="en-US" altLang="zh-TW" sz="240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fro</a:t>
            </a:r>
            <a:r>
              <a:rPr lang="en-US" altLang="zh-TW" sz="2400" dirty="0">
                <a:latin typeface="Lucida Console" panose="020B0609040504020204" pitchFamily="49" charset="0"/>
              </a:rPr>
              <a:t>m math import </a:t>
            </a:r>
            <a:r>
              <a:rPr lang="en-US" altLang="zh-TW" sz="2400" dirty="0" err="1">
                <a:latin typeface="Lucida Console" panose="020B0609040504020204" pitchFamily="49" charset="0"/>
              </a:rPr>
              <a:t>sqrt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gcd</a:t>
            </a:r>
            <a:r>
              <a:rPr lang="en-US" altLang="zh-TW" sz="2400" dirty="0">
                <a:latin typeface="Lucida Console" panose="020B0609040504020204" pitchFamily="49" charset="0"/>
              </a:rPr>
              <a:t>, floor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 prime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400" dirty="0">
                <a:latin typeface="Lucida Console" panose="020B0609040504020204" pitchFamily="49" charset="0"/>
              </a:rPr>
              <a:t>):</a:t>
            </a:r>
          </a:p>
          <a:p>
            <a:pPr marL="0" lv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   '''Tests if the argument is prime (</a:t>
            </a:r>
            <a:r>
              <a:rPr lang="zh-TW" altLang="en-US" sz="240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質數</a:t>
            </a:r>
            <a:r>
              <a:rPr lang="en-US" altLang="zh-TW" sz="2400" dirty="0">
                <a:solidFill>
                  <a:srgbClr val="FFFFFF">
                    <a:lumMod val="50000"/>
                  </a:srgbClr>
                </a:solidFill>
                <a:latin typeface="Lucida Console" panose="020B0609040504020204" pitchFamily="49" charset="0"/>
              </a:rPr>
              <a:t>).'''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   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if a&lt;2</a:t>
            </a:r>
            <a:r>
              <a:rPr lang="en-US" altLang="zh-TW" sz="2400" dirty="0">
                <a:latin typeface="Lucida Console" panose="020B0609040504020204" pitchFamily="49" charset="0"/>
              </a:rPr>
              <a:t>: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False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   for </a:t>
            </a:r>
            <a:r>
              <a:rPr lang="en-US" altLang="zh-TW" sz="2400" dirty="0" err="1">
                <a:latin typeface="Lucida Console" panose="020B0609040504020204" pitchFamily="49" charset="0"/>
              </a:rPr>
              <a:t>i</a:t>
            </a:r>
            <a:r>
              <a:rPr lang="en-US" altLang="zh-TW" sz="2400" dirty="0">
                <a:latin typeface="Lucida Console" panose="020B0609040504020204" pitchFamily="49" charset="0"/>
              </a:rPr>
              <a:t> in range(2,floor(</a:t>
            </a:r>
            <a:r>
              <a:rPr lang="en-US" altLang="zh-TW" sz="2400" dirty="0" err="1">
                <a:latin typeface="Lucida Console" panose="020B0609040504020204" pitchFamily="49" charset="0"/>
              </a:rPr>
              <a:t>sqrt</a:t>
            </a:r>
            <a:r>
              <a:rPr lang="en-US" altLang="zh-TW" sz="2400" dirty="0">
                <a:latin typeface="Lucida Console" panose="020B0609040504020204" pitchFamily="49" charset="0"/>
              </a:rPr>
              <a:t>(a))+1):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      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if 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gcd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i,a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)&gt;1</a:t>
            </a:r>
            <a:r>
              <a:rPr lang="en-US" altLang="zh-TW" sz="2400" dirty="0">
                <a:latin typeface="Lucida Console" panose="020B0609040504020204" pitchFamily="49" charset="0"/>
              </a:rPr>
              <a:t>: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False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  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return True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endParaRPr lang="en-US" altLang="zh-TW" sz="22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altLang="zh-TW" sz="2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 range(15)))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#all primes &lt; 15</a:t>
            </a:r>
            <a:endParaRPr lang="en-US" altLang="zh-TW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lnSpc>
                <a:spcPct val="82000"/>
              </a:lnSpc>
              <a:spcBef>
                <a:spcPts val="0"/>
              </a:spcBef>
              <a:buNone/>
            </a:pPr>
            <a:endParaRPr lang="en-US" altLang="zh-TW" sz="24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#How to get numbers &lt; 15 where 2x+1 is prime?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u="sng" dirty="0">
                <a:solidFill>
                  <a:srgbClr val="00B0F0"/>
                </a:solidFill>
                <a:latin typeface="Lucida Console" panose="020B0609040504020204" pitchFamily="49" charset="0"/>
              </a:rPr>
              <a:t>lambda</a:t>
            </a:r>
            <a:r>
              <a:rPr lang="en-US" altLang="zh-TW" sz="2400" dirty="0">
                <a:latin typeface="Lucida Console" panose="020B0609040504020204" pitchFamily="49" charset="0"/>
              </a:rPr>
              <a:t> x: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(2*x+1), </a:t>
            </a:r>
            <a:r>
              <a:rPr lang="en-US" altLang="zh-TW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range(15)</a:t>
            </a:r>
            <a:r>
              <a:rPr lang="en-US" altLang="zh-TW" sz="2400" dirty="0">
                <a:latin typeface="Lucida Console" panose="020B0609040504020204" pitchFamily="49" charset="0"/>
              </a:rPr>
              <a:t>))</a:t>
            </a:r>
            <a:endParaRPr lang="en-US" altLang="zh-TW" sz="2400" dirty="0">
              <a:latin typeface="Arial Narrow" panose="020B060602020203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400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70000"/>
              </a:lnSpc>
              <a:spcBef>
                <a:spcPts val="0"/>
              </a:spcBef>
              <a:buNone/>
            </a:pPr>
            <a:endParaRPr lang="en-US" altLang="zh-TW" sz="2400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96862" y="762000"/>
            <a:ext cx="671967" cy="557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2400" kern="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  <a:ea typeface="inherit"/>
            </a:endParaRPr>
          </a:p>
          <a:p>
            <a:pPr marL="0" indent="0" defTabSz="914400">
              <a:lnSpc>
                <a:spcPct val="82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2400" kern="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chemeClr val="bg1">
                  <a:lumMod val="65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lnSpc>
                <a:spcPct val="85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2400" kern="0" dirty="0">
              <a:solidFill>
                <a:schemeClr val="tx1">
                  <a:lumMod val="50000"/>
                  <a:lumOff val="50000"/>
                </a:schemeClr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lnSpc>
                <a:spcPct val="7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24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2400" kern="0" dirty="0"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0"/>
              </a:spcBef>
              <a:buFont typeface="Wingdings" pitchFamily="2" charset="2"/>
              <a:buNone/>
            </a:pPr>
            <a:endParaRPr lang="en-US" altLang="zh-TW" sz="2400" kern="0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 defTabSz="914400">
              <a:lnSpc>
                <a:spcPct val="82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7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altLang="en-US" sz="44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filter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GB" altLang="en-US" sz="12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GB" altLang="en-US" sz="4800" b="1" dirty="0">
                <a:latin typeface="Lucida Fax" panose="020606020505050202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lang="en-US" altLang="zh-TW" sz="4400" b="1" kern="0" dirty="0">
              <a:latin typeface="Lucida Fax" panose="020606020505050202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906642" y="1054606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17240" y="3950731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576408" y="79251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917240" y="4226499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17240" y="635158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917240" y="3654158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17240" y="4483834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17240" y="510075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17240" y="5395844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17240" y="5722015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06642" y="768659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85480" y="109568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180465" y="3967085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9426460" y="4488480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209125" y="539464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9397306" y="5746993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Group 63"/>
          <p:cNvGrpSpPr/>
          <p:nvPr/>
        </p:nvGrpSpPr>
        <p:grpSpPr>
          <a:xfrm>
            <a:off x="3959350" y="-23281"/>
            <a:ext cx="5791527" cy="4312465"/>
            <a:chOff x="3959350" y="-55403"/>
            <a:chExt cx="5791527" cy="4312465"/>
          </a:xfrm>
        </p:grpSpPr>
        <p:sp>
          <p:nvSpPr>
            <p:cNvPr id="65" name="Rounded Rectangular Callout 13"/>
            <p:cNvSpPr/>
            <p:nvPr/>
          </p:nvSpPr>
          <p:spPr bwMode="auto">
            <a:xfrm>
              <a:off x="6621463" y="1645920"/>
              <a:ext cx="2303099" cy="489812"/>
            </a:xfrm>
            <a:prstGeom prst="wedgeRoundRectCallout">
              <a:avLst>
                <a:gd name="adj1" fmla="val -113743"/>
                <a:gd name="adj2" fmla="val 329805"/>
                <a:gd name="adj3" fmla="val 16667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defTabSz="914400" fontAlgn="base">
                <a:lnSpc>
                  <a:spcPct val="90000"/>
                </a:lnSpc>
                <a:spcAft>
                  <a:spcPct val="0"/>
                </a:spcAft>
              </a:pPr>
              <a:r>
                <a:rPr lang="en-US" altLang="zh-TW" sz="2800" kern="0" dirty="0">
                  <a:solidFill>
                    <a:srgbClr val="C00000"/>
                  </a:solidFill>
                  <a:ea typeface="MS PGothic" pitchFamily="34" charset="-128"/>
                  <a:cs typeface="Times New Roman" panose="02020603050405020304" pitchFamily="18" charset="0"/>
                </a:rPr>
                <a:t>What is this?</a:t>
              </a:r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3959350" y="-55403"/>
              <a:ext cx="5791527" cy="4312465"/>
              <a:chOff x="3959350" y="2542025"/>
              <a:chExt cx="5791527" cy="4312465"/>
            </a:xfrm>
          </p:grpSpPr>
          <p:pic>
            <p:nvPicPr>
              <p:cNvPr id="70" name="Picture 4" descr="Mead Cork Bulletin Board, 24 X 18, Silver Aluminum Frame : Target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57" t="13856" r="2099" b="14777"/>
              <a:stretch/>
            </p:blipFill>
            <p:spPr bwMode="auto">
              <a:xfrm>
                <a:off x="3959350" y="2542025"/>
                <a:ext cx="5791527" cy="43124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71" name="Group 70"/>
              <p:cNvGrpSpPr/>
              <p:nvPr/>
            </p:nvGrpSpPr>
            <p:grpSpPr>
              <a:xfrm>
                <a:off x="4461288" y="2994375"/>
                <a:ext cx="1439894" cy="1661856"/>
                <a:chOff x="4461288" y="2994375"/>
                <a:chExt cx="1439894" cy="1661856"/>
              </a:xfrm>
            </p:grpSpPr>
            <p:pic>
              <p:nvPicPr>
                <p:cNvPr id="84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17050" r="76973" b="48638"/>
                <a:stretch/>
              </p:blipFill>
              <p:spPr bwMode="auto">
                <a:xfrm>
                  <a:off x="4461288" y="2994375"/>
                  <a:ext cx="1439894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5" name="Rectangle 84"/>
                <p:cNvSpPr/>
                <p:nvPr/>
              </p:nvSpPr>
              <p:spPr bwMode="auto">
                <a:xfrm>
                  <a:off x="4496502" y="3149378"/>
                  <a:ext cx="1384182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abs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is a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16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built-in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spc="-100" dirty="0">
                      <a:latin typeface="Times New Roman" charset="0"/>
                    </a:rPr>
                    <a:t>f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1100" dirty="0">
                      <a:latin typeface="Times New Roman" charset="0"/>
                    </a:rPr>
                    <a:t>   </a:t>
                  </a:r>
                  <a:r>
                    <a:rPr lang="en-US" sz="2800" dirty="0" err="1">
                      <a:latin typeface="Times New Roman" charset="0"/>
                    </a:rPr>
                    <a:t>ints</a:t>
                  </a:r>
                  <a:r>
                    <a:rPr lang="en-US" sz="2800" dirty="0">
                      <a:latin typeface="Times New Roman" charset="0"/>
                    </a:rPr>
                    <a:t>, but</a:t>
                  </a:r>
                </a:p>
                <a:p>
                  <a:pPr marL="0" marR="0" indent="0" algn="l" defTabSz="914400" rtl="0" eaLnBrk="1" fontAlgn="base" latinLnBrk="0" hangingPunct="1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2800" spc="-100" dirty="0">
                      <a:latin typeface="Times New Roman" charset="0"/>
                    </a:rPr>
                    <a:t>not </a:t>
                  </a:r>
                  <a:r>
                    <a:rPr lang="en-US" sz="2800" spc="-300" dirty="0">
                      <a:latin typeface="Times New Roman" charset="0"/>
                    </a:rPr>
                    <a:t>o</a:t>
                  </a:r>
                  <a:r>
                    <a:rPr lang="en-US" sz="2800" dirty="0">
                      <a:latin typeface="Times New Roman" charset="0"/>
                    </a:rPr>
                    <a:t>f </a:t>
                  </a:r>
                  <a:r>
                    <a:rPr lang="en-US" sz="2800" dirty="0" err="1">
                      <a:latin typeface="Times New Roman" charset="0"/>
                    </a:rPr>
                    <a:t>strs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72" name="Group 71"/>
              <p:cNvGrpSpPr/>
              <p:nvPr/>
            </p:nvGrpSpPr>
            <p:grpSpPr>
              <a:xfrm>
                <a:off x="6145906" y="2971611"/>
                <a:ext cx="1667547" cy="1675306"/>
                <a:chOff x="6145906" y="2971611"/>
                <a:chExt cx="1667547" cy="1675306"/>
              </a:xfrm>
            </p:grpSpPr>
            <p:pic>
              <p:nvPicPr>
                <p:cNvPr id="82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2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6392" t="16580" r="50678" b="49108"/>
                <a:stretch/>
              </p:blipFill>
              <p:spPr bwMode="auto">
                <a:xfrm>
                  <a:off x="6145906" y="2971611"/>
                  <a:ext cx="1667547" cy="16618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3" name="Rectangle 82"/>
                <p:cNvSpPr/>
                <p:nvPr/>
              </p:nvSpPr>
              <p:spPr bwMode="auto">
                <a:xfrm rot="21540000">
                  <a:off x="6185471" y="3169767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all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everything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73" name="Group 72"/>
              <p:cNvGrpSpPr/>
              <p:nvPr/>
            </p:nvGrpSpPr>
            <p:grpSpPr>
              <a:xfrm>
                <a:off x="4461286" y="4861116"/>
                <a:ext cx="1667546" cy="1662968"/>
                <a:chOff x="4461286" y="4861116"/>
                <a:chExt cx="1667546" cy="1662968"/>
              </a:xfrm>
            </p:grpSpPr>
            <p:pic>
              <p:nvPicPr>
                <p:cNvPr id="80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28" t="55591" r="73842" b="10450"/>
                <a:stretch/>
              </p:blipFill>
              <p:spPr bwMode="auto">
                <a:xfrm>
                  <a:off x="4461286" y="4861116"/>
                  <a:ext cx="1667546" cy="164478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81" name="Rectangle 80"/>
                <p:cNvSpPr/>
                <p:nvPr/>
              </p:nvSpPr>
              <p:spPr bwMode="auto">
                <a:xfrm rot="21660000">
                  <a:off x="4492643" y="5046934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any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):</a:t>
                  </a:r>
                  <a:r>
                    <a:rPr lang="en-US" sz="2800" dirty="0">
                      <a:latin typeface="Times New Roman" charset="0"/>
                    </a:rPr>
                    <a:t>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is True if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anything</a:t>
                  </a:r>
                </a:p>
                <a:p>
                  <a:pPr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in</a:t>
                  </a:r>
                  <a:r>
                    <a:rPr lang="en-US" sz="24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L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is</a:t>
                  </a: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lang="en-US" sz="2800" spc="100" dirty="0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ue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6200987" y="4832661"/>
                <a:ext cx="1611713" cy="1713324"/>
                <a:chOff x="6200987" y="4832661"/>
                <a:chExt cx="1611713" cy="1713324"/>
              </a:xfrm>
            </p:grpSpPr>
            <p:pic>
              <p:nvPicPr>
                <p:cNvPr id="78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8975" t="55004" r="52321" b="11154"/>
                <a:stretch/>
              </p:blipFill>
              <p:spPr bwMode="auto">
                <a:xfrm>
                  <a:off x="6333718" y="4832661"/>
                  <a:ext cx="1360218" cy="16390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9" name="Rectangle 78"/>
                <p:cNvSpPr/>
                <p:nvPr/>
              </p:nvSpPr>
              <p:spPr bwMode="auto">
                <a:xfrm rot="21540000">
                  <a:off x="6200987" y="5068835"/>
                  <a:ext cx="1611713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 err="1">
                      <a:latin typeface="Times New Roman" charset="0"/>
                    </a:rPr>
                    <a:t>str</a:t>
                  </a:r>
                  <a:r>
                    <a:rPr lang="en-US" sz="2800" dirty="0">
                      <a:latin typeface="Agency FB" panose="020B0503020202020204" pitchFamily="34" charset="0"/>
                    </a:rPr>
                    <a:t>():</a:t>
                  </a:r>
                  <a:r>
                    <a:rPr lang="en-US" sz="2800" dirty="0">
                      <a:latin typeface="Times New Roman" charset="0"/>
                    </a:rPr>
                    <a:t> can</a:t>
                  </a:r>
                </a:p>
                <a:p>
                  <a:pPr algn="ctr" defTabSz="914400" fontAlgn="base">
                    <a:lnSpc>
                      <a:spcPct val="8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30" dirty="0">
                      <a:latin typeface="Times New Roman" charset="0"/>
                    </a:rPr>
                    <a:t>represent</a:t>
                  </a:r>
                  <a:br>
                    <a:rPr lang="en-US" sz="2800" spc="-3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 anything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as a str.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  <p:grpSp>
            <p:nvGrpSpPr>
              <p:cNvPr id="75" name="Group 74"/>
              <p:cNvGrpSpPr/>
              <p:nvPr/>
            </p:nvGrpSpPr>
            <p:grpSpPr>
              <a:xfrm>
                <a:off x="7942997" y="2971611"/>
                <a:ext cx="1474220" cy="1707387"/>
                <a:chOff x="7942997" y="2971611"/>
                <a:chExt cx="1474220" cy="1707387"/>
              </a:xfrm>
            </p:grpSpPr>
            <p:pic>
              <p:nvPicPr>
                <p:cNvPr id="76" name="Picture 2" descr="Close Up Post It Notes In The Wall At Meeting Room Sticky Note Paper  Reminder Schedule Board Colorful Variety Copy Empty Space Soft Focus Stock  Photo - Download Image Now - iStock"/>
                <p:cNvPicPr>
                  <a:picLocks noChangeAspect="1" noChangeArrowheads="1"/>
                </p:cNvPicPr>
                <p:nvPr/>
              </p:nvPicPr>
              <p:blipFill rotWithShape="1">
                <a:blip r:embed="rId6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rightnessContrast bright="13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671" t="16580" r="29312" b="48168"/>
                <a:stretch/>
              </p:blipFill>
              <p:spPr bwMode="auto">
                <a:xfrm>
                  <a:off x="7984191" y="2971611"/>
                  <a:ext cx="1382984" cy="170738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7" name="Rectangle 76"/>
                <p:cNvSpPr/>
                <p:nvPr/>
              </p:nvSpPr>
              <p:spPr bwMode="auto">
                <a:xfrm rot="21600000">
                  <a:off x="7942997" y="3090981"/>
                  <a:ext cx="1474220" cy="1477150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0" tIns="45720" rIns="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000" dirty="0">
                      <a:latin typeface="Times New Roman" charset="0"/>
                    </a:rPr>
                    <a:t> </a:t>
                  </a:r>
                  <a:r>
                    <a:rPr lang="en-US" sz="2800" dirty="0">
                      <a:latin typeface="Times New Roman" charset="0"/>
                    </a:rPr>
                    <a:t>'lambda 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spc="-50" dirty="0" err="1">
                      <a:latin typeface="Times New Roman" charset="0"/>
                    </a:rPr>
                    <a:t>arg</a:t>
                  </a:r>
                  <a:r>
                    <a:rPr lang="en-US" sz="2800" spc="-100" dirty="0" err="1">
                      <a:latin typeface="Times New Roman" charset="0"/>
                    </a:rPr>
                    <a:t>s:ex</a:t>
                  </a:r>
                  <a:r>
                    <a:rPr lang="en-US" sz="2800" spc="-50" dirty="0" err="1">
                      <a:latin typeface="Times New Roman" charset="0"/>
                    </a:rPr>
                    <a:t>p</a:t>
                  </a:r>
                  <a:r>
                    <a:rPr lang="en-US" sz="2800" dirty="0" err="1">
                      <a:latin typeface="Times New Roman" charset="0"/>
                    </a:rPr>
                    <a:t>r</a:t>
                  </a:r>
                  <a:r>
                    <a:rPr lang="en-US" sz="2800" dirty="0">
                      <a:latin typeface="Times New Roman" charset="0"/>
                    </a:rPr>
                    <a:t>'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dirty="0">
                      <a:latin typeface="Times New Roman" charset="0"/>
                    </a:rPr>
                    <a:t>creates a</a:t>
                  </a:r>
                </a:p>
                <a:p>
                  <a:pPr algn="ctr" defTabSz="914400" fontAlgn="base">
                    <a:lnSpc>
                      <a:spcPct val="7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2800" spc="-100" dirty="0">
                      <a:latin typeface="Times New Roman" charset="0"/>
                    </a:rPr>
                    <a:t>t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e</a:t>
                  </a:r>
                  <a:r>
                    <a:rPr kumimoji="0" lang="en-US" sz="2800" b="0" i="0" u="none" strike="noStrike" cap="none" spc="-15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m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p</a:t>
                  </a:r>
                  <a:r>
                    <a:rPr kumimoji="0" lang="en-US" sz="2800" b="0" i="0" u="none" strike="noStrike" cap="none" spc="-2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o</a:t>
                  </a:r>
                  <a:r>
                    <a:rPr kumimoji="0" lang="en-US" sz="2800" b="0" i="0" u="none" strike="noStrike" cap="none" spc="-100" normalizeH="0" dirty="0">
                      <a:ln>
                        <a:noFill/>
                      </a:ln>
                      <a:effectLst/>
                      <a:latin typeface="Times New Roman" charset="0"/>
                    </a:rPr>
                    <a:t>ra</a:t>
                  </a:r>
                  <a:r>
                    <a:rPr kumimoji="0" lang="en-US" sz="2800" b="0" i="0" u="none" strike="noStrike" cap="none" normalizeH="0" baseline="0" dirty="0">
                      <a:ln>
                        <a:noFill/>
                      </a:ln>
                      <a:effectLst/>
                      <a:latin typeface="Times New Roman" charset="0"/>
                    </a:rPr>
                    <a:t>ry</a:t>
                  </a:r>
                  <a:br>
                    <a:rPr lang="en-US" sz="2800" dirty="0">
                      <a:latin typeface="Times New Roman" charset="0"/>
                    </a:rPr>
                  </a:br>
                  <a:r>
                    <a:rPr lang="en-US" sz="2800" dirty="0">
                      <a:latin typeface="Times New Roman" charset="0"/>
                    </a:rPr>
                    <a:t>function</a:t>
                  </a:r>
                  <a:endParaRPr kumimoji="0" lang="en-US" sz="2800" b="0" i="0" u="none" strike="noStrike" cap="none" normalizeH="0" baseline="0" dirty="0">
                    <a:ln>
                      <a:noFill/>
                    </a:ln>
                    <a:effectLst/>
                    <a:latin typeface="Times New Roman" charset="0"/>
                  </a:endParaRPr>
                </a:p>
              </p:txBody>
            </p:sp>
          </p:grpSp>
        </p:grpSp>
        <p:grpSp>
          <p:nvGrpSpPr>
            <p:cNvPr id="67" name="Group 66"/>
            <p:cNvGrpSpPr/>
            <p:nvPr/>
          </p:nvGrpSpPr>
          <p:grpSpPr>
            <a:xfrm>
              <a:off x="7919695" y="2288243"/>
              <a:ext cx="1474220" cy="1633398"/>
              <a:chOff x="7919695" y="4832661"/>
              <a:chExt cx="1474220" cy="1633398"/>
            </a:xfrm>
          </p:grpSpPr>
          <p:pic>
            <p:nvPicPr>
              <p:cNvPr id="68" name="Picture 2" descr="Close Up Post It Notes In The Wall At Meeting Room Sticky Note Paper  Reminder Schedule Board Colorful Variety Copy Empty Space Soft Focus Stock  Photo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749" t="55004" r="29782" b="11271"/>
              <a:stretch/>
            </p:blipFill>
            <p:spPr bwMode="auto">
              <a:xfrm>
                <a:off x="7989883" y="4832661"/>
                <a:ext cx="1343144" cy="163339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9" name="Rectangle 68"/>
              <p:cNvSpPr/>
              <p:nvPr/>
            </p:nvSpPr>
            <p:spPr bwMode="auto">
              <a:xfrm rot="21600000">
                <a:off x="7919695" y="4961829"/>
                <a:ext cx="1474220" cy="147715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0" tIns="45720" rIns="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50" dirty="0">
                    <a:latin typeface="Times New Roman" charset="0"/>
                  </a:rPr>
                  <a:t>f</a:t>
                </a:r>
                <a:r>
                  <a:rPr lang="en-US" sz="2800" spc="-170" dirty="0">
                    <a:latin typeface="Times New Roman" charset="0"/>
                  </a:rPr>
                  <a:t>i</a:t>
                </a:r>
                <a:r>
                  <a:rPr lang="en-US" sz="2800" spc="-110" dirty="0">
                    <a:latin typeface="Times New Roman" charset="0"/>
                  </a:rPr>
                  <a:t>l</a:t>
                </a:r>
                <a:r>
                  <a:rPr lang="en-US" sz="2800" spc="-70" dirty="0">
                    <a:latin typeface="Times New Roman" charset="0"/>
                  </a:rPr>
                  <a:t>te</a:t>
                </a:r>
                <a:r>
                  <a:rPr lang="en-US" sz="2800" spc="-40" dirty="0">
                    <a:latin typeface="Times New Roman" charset="0"/>
                  </a:rPr>
                  <a:t>r</a:t>
                </a:r>
                <a:r>
                  <a:rPr lang="en-US" sz="2800" spc="-250" dirty="0">
                    <a:latin typeface="Agency FB" panose="020B0503020202020204" pitchFamily="34" charset="0"/>
                  </a:rPr>
                  <a:t>(</a:t>
                </a:r>
                <a:r>
                  <a:rPr lang="en-US" sz="2800" dirty="0" err="1">
                    <a:latin typeface="Times New Roman" charset="0"/>
                  </a:rPr>
                  <a:t>f</a:t>
                </a:r>
                <a:r>
                  <a:rPr lang="en-US" sz="2800" spc="-100" dirty="0" err="1">
                    <a:latin typeface="Times New Roman" charset="0"/>
                  </a:rPr>
                  <a:t>u</a:t>
                </a:r>
                <a:r>
                  <a:rPr lang="en-US" sz="2800" spc="-200" dirty="0" err="1">
                    <a:latin typeface="Times New Roman" charset="0"/>
                  </a:rPr>
                  <a:t>n</a:t>
                </a:r>
                <a:r>
                  <a:rPr lang="en-US" sz="2800" dirty="0" err="1">
                    <a:latin typeface="Times New Roman" charset="0"/>
                  </a:rPr>
                  <a:t>c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-100" dirty="0">
                    <a:latin typeface="Times New Roman" charset="0"/>
                  </a:rPr>
                  <a:t>o</a:t>
                </a:r>
                <a:r>
                  <a:rPr lang="en-US" sz="2800" spc="-70" dirty="0">
                    <a:latin typeface="Times New Roman" charset="0"/>
                  </a:rPr>
                  <a:t>r</a:t>
                </a:r>
                <a:r>
                  <a:rPr lang="en-US" sz="2000" spc="-70" dirty="0">
                    <a:latin typeface="Times New Roman" charset="0"/>
                  </a:rPr>
                  <a:t>  </a:t>
                </a:r>
                <a:r>
                  <a:rPr lang="en-US" sz="2800" spc="-70" dirty="0">
                    <a:latin typeface="Times New Roman" charset="0"/>
                  </a:rPr>
                  <a:t>N</a:t>
                </a:r>
                <a:r>
                  <a:rPr lang="en-US" sz="2800" dirty="0">
                    <a:latin typeface="Times New Roman" charset="0"/>
                  </a:rPr>
                  <a:t>one, </a:t>
                </a:r>
                <a:br>
                  <a:rPr lang="en-US" sz="2800" dirty="0">
                    <a:latin typeface="Times New Roman" charset="0"/>
                  </a:rPr>
                </a:br>
                <a:r>
                  <a:rPr lang="en-US" sz="2800" spc="100" dirty="0" err="1">
                    <a:latin typeface="Times New Roman" charset="0"/>
                  </a:rPr>
                  <a:t>iter</a:t>
                </a:r>
                <a:r>
                  <a:rPr lang="en-US" sz="2800" dirty="0" err="1">
                    <a:latin typeface="Times New Roman" charset="0"/>
                  </a:rPr>
                  <a:t>able</a:t>
                </a:r>
                <a:r>
                  <a:rPr lang="en-US" sz="2800" dirty="0">
                    <a:latin typeface="Agency FB" panose="020B0503020202020204" pitchFamily="34" charset="0"/>
                  </a:rPr>
                  <a:t>)</a:t>
                </a:r>
                <a:r>
                  <a:rPr lang="en-US" sz="2800" dirty="0">
                    <a:latin typeface="Times New Roman" charset="0"/>
                  </a:rPr>
                  <a:t>:</a:t>
                </a: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dirty="0">
                    <a:latin typeface="Times New Roman" charset="0"/>
                  </a:rPr>
                  <a:t>ta</a:t>
                </a:r>
                <a:r>
                  <a:rPr lang="en-US" sz="2800" spc="-250" dirty="0">
                    <a:latin typeface="Times New Roman" charset="0"/>
                  </a:rPr>
                  <a:t>k</a:t>
                </a:r>
                <a:r>
                  <a:rPr lang="en-US" sz="2800" dirty="0">
                    <a:latin typeface="Times New Roman" charset="0"/>
                  </a:rPr>
                  <a:t>e</a:t>
                </a:r>
                <a:r>
                  <a:rPr lang="en-US" sz="1800" dirty="0">
                    <a:latin typeface="Times New Roman" charset="0"/>
                  </a:rPr>
                  <a:t> </a:t>
                </a:r>
                <a:r>
                  <a:rPr lang="en-US" sz="2800" spc="-100" dirty="0">
                    <a:latin typeface="Times New Roman" charset="0"/>
                  </a:rPr>
                  <a:t>s</a:t>
                </a:r>
                <a:r>
                  <a:rPr lang="en-US" sz="2800" spc="-180" dirty="0">
                    <a:latin typeface="Times New Roman" charset="0"/>
                  </a:rPr>
                  <a:t>om</a:t>
                </a:r>
                <a:r>
                  <a:rPr lang="en-US" sz="2800" spc="-100" dirty="0">
                    <a:latin typeface="Times New Roman" charset="0"/>
                  </a:rPr>
                  <a:t>e</a:t>
                </a:r>
                <a:r>
                  <a:rPr lang="en-US" sz="1050" spc="-100" dirty="0">
                    <a:latin typeface="Times New Roman" charset="0"/>
                  </a:rPr>
                  <a:t> </a:t>
                </a:r>
                <a:endParaRPr lang="en-US" sz="2800" spc="-100" dirty="0">
                  <a:latin typeface="Times New Roman" charset="0"/>
                </a:endParaRPr>
              </a:p>
              <a:p>
                <a:pPr algn="ctr" defTabSz="914400" fontAlgn="base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800" spc="-100" dirty="0">
                    <a:latin typeface="Times New Roman" charset="0"/>
                  </a:rPr>
                  <a:t>items out</a:t>
                </a:r>
                <a:endParaRPr kumimoji="0" lang="en-US" sz="2800" b="0" i="0" u="none" strike="noStrike" cap="none" spc="-100" normalizeH="0" dirty="0">
                  <a:ln>
                    <a:noFill/>
                  </a:ln>
                  <a:effectLst/>
                  <a:latin typeface="Times New Roman" charset="0"/>
                </a:endParaRPr>
              </a:p>
            </p:txBody>
          </p:sp>
        </p:grpSp>
      </p:grpSp>
      <p:cxnSp>
        <p:nvCxnSpPr>
          <p:cNvPr id="86" name="Straight Arrow Connector 85"/>
          <p:cNvCxnSpPr/>
          <p:nvPr/>
        </p:nvCxnSpPr>
        <p:spPr bwMode="auto">
          <a:xfrm flipV="1">
            <a:off x="3811712" y="2661482"/>
            <a:ext cx="4917421" cy="308177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grpSp>
        <p:nvGrpSpPr>
          <p:cNvPr id="87" name="Group 86"/>
          <p:cNvGrpSpPr/>
          <p:nvPr/>
        </p:nvGrpSpPr>
        <p:grpSpPr>
          <a:xfrm>
            <a:off x="4749418" y="1112082"/>
            <a:ext cx="4208315" cy="4713365"/>
            <a:chOff x="4749418" y="999068"/>
            <a:chExt cx="4208315" cy="4509419"/>
          </a:xfrm>
        </p:grpSpPr>
        <p:cxnSp>
          <p:nvCxnSpPr>
            <p:cNvPr id="88" name="Straight Arrow Connector 87"/>
            <p:cNvCxnSpPr/>
            <p:nvPr/>
          </p:nvCxnSpPr>
          <p:spPr bwMode="auto">
            <a:xfrm flipV="1">
              <a:off x="5877339" y="999068"/>
              <a:ext cx="3080394" cy="3946202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sp>
          <p:nvSpPr>
            <p:cNvPr id="89" name="Right Brace 88"/>
            <p:cNvSpPr/>
            <p:nvPr/>
          </p:nvSpPr>
          <p:spPr bwMode="auto">
            <a:xfrm rot="16200000">
              <a:off x="5605471" y="4158779"/>
              <a:ext cx="493655" cy="2205762"/>
            </a:xfrm>
            <a:prstGeom prst="rightBrace">
              <a:avLst>
                <a:gd name="adj1" fmla="val 60681"/>
                <a:gd name="adj2" fmla="val 50000"/>
              </a:avLst>
            </a:prstGeom>
            <a:noFill/>
            <a:ln w="381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imes New Roman" charset="0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7333549" y="3313414"/>
            <a:ext cx="1643505" cy="2532582"/>
            <a:chOff x="7333549" y="3200400"/>
            <a:chExt cx="1643505" cy="2297201"/>
          </a:xfrm>
        </p:grpSpPr>
        <p:cxnSp>
          <p:nvCxnSpPr>
            <p:cNvPr id="91" name="Straight Arrow Connector 90"/>
            <p:cNvCxnSpPr/>
            <p:nvPr/>
          </p:nvCxnSpPr>
          <p:spPr bwMode="auto">
            <a:xfrm flipV="1">
              <a:off x="8168436" y="3200400"/>
              <a:ext cx="408297" cy="174164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</p:cxnSp>
        <p:sp>
          <p:nvSpPr>
            <p:cNvPr id="92" name="Right Brace 91"/>
            <p:cNvSpPr/>
            <p:nvPr/>
          </p:nvSpPr>
          <p:spPr bwMode="auto">
            <a:xfrm rot="16200000">
              <a:off x="7908474" y="4429021"/>
              <a:ext cx="493655" cy="1643505"/>
            </a:xfrm>
            <a:prstGeom prst="rightBrace">
              <a:avLst>
                <a:gd name="adj1" fmla="val 46433"/>
                <a:gd name="adj2" fmla="val 50000"/>
              </a:avLst>
            </a:prstGeom>
            <a:noFill/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C000"/>
                </a:solidFill>
                <a:effectLst/>
                <a:latin typeface="Times New Roman" charset="0"/>
              </a:endParaRPr>
            </a:p>
          </p:txBody>
        </p:sp>
      </p:grpSp>
      <p:cxnSp>
        <p:nvCxnSpPr>
          <p:cNvPr id="93" name="Straight Arrow Connector 92"/>
          <p:cNvCxnSpPr/>
          <p:nvPr/>
        </p:nvCxnSpPr>
        <p:spPr bwMode="auto">
          <a:xfrm flipV="1">
            <a:off x="4551452" y="1112082"/>
            <a:ext cx="3728948" cy="465172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stealth" w="lg" len="lg"/>
          </a:ln>
          <a:effectLst/>
        </p:spPr>
      </p:cxnSp>
      <p:sp>
        <p:nvSpPr>
          <p:cNvPr id="94" name="Rounded Rectangular Callout 93"/>
          <p:cNvSpPr/>
          <p:nvPr/>
        </p:nvSpPr>
        <p:spPr bwMode="auto">
          <a:xfrm>
            <a:off x="2266711" y="2647120"/>
            <a:ext cx="1396181" cy="1933845"/>
          </a:xfrm>
          <a:prstGeom prst="wedgeRoundRectCallout">
            <a:avLst>
              <a:gd name="adj1" fmla="val 57327"/>
              <a:gd name="adj2" fmla="val -9964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sqrt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=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square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root</a:t>
            </a:r>
          </a:p>
          <a:p>
            <a:pPr lvl="0" algn="ctr" defTabSz="914400" fontAlgn="base">
              <a:spcBef>
                <a:spcPct val="0"/>
              </a:spcBef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(</a:t>
            </a:r>
            <a:r>
              <a:rPr lang="zh-TW" altLang="en-US" sz="2300" b="1" kern="0" dirty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  <a:cs typeface="Times New Roman" panose="02020603050405020304" pitchFamily="18" charset="0"/>
              </a:rPr>
              <a:t>平方根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)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5" name="Rounded Rectangular Callout 94"/>
          <p:cNvSpPr/>
          <p:nvPr/>
        </p:nvSpPr>
        <p:spPr bwMode="auto">
          <a:xfrm>
            <a:off x="3672520" y="2652450"/>
            <a:ext cx="1966450" cy="2423653"/>
          </a:xfrm>
          <a:prstGeom prst="wedgeRoundRectCallout">
            <a:avLst>
              <a:gd name="adj1" fmla="val 11905"/>
              <a:gd name="adj2" fmla="val -896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gcd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=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greatest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common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</a:br>
            <a:r>
              <a:rPr kumimoji="0" lang="en-US" sz="28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denominator</a:t>
            </a:r>
            <a:br>
              <a:rPr kumimoji="0" lang="en-US" sz="28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(</a:t>
            </a:r>
            <a:r>
              <a:rPr kumimoji="0" lang="zh-TW" altLang="en-US" sz="230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Times New Roman" panose="02020603050405020304" pitchFamily="18" charset="0"/>
              </a:rPr>
              <a:t>最大共享分母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)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6" name="Rounded Rectangular Callout 95"/>
          <p:cNvSpPr/>
          <p:nvPr/>
        </p:nvSpPr>
        <p:spPr bwMode="auto">
          <a:xfrm>
            <a:off x="5643899" y="2653282"/>
            <a:ext cx="1396181" cy="2384321"/>
          </a:xfrm>
          <a:prstGeom prst="wedgeRoundRectCallout">
            <a:avLst>
              <a:gd name="adj1" fmla="val -24966"/>
              <a:gd name="adj2" fmla="val -9089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floor=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largest integer that is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X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7" name="Rounded Rectangular Callout 96"/>
          <p:cNvSpPr/>
          <p:nvPr/>
        </p:nvSpPr>
        <p:spPr bwMode="auto">
          <a:xfrm>
            <a:off x="554871" y="2641869"/>
            <a:ext cx="1700968" cy="1504334"/>
          </a:xfrm>
          <a:prstGeom prst="wedgeRoundRectCallout">
            <a:avLst>
              <a:gd name="adj1" fmla="val 13172"/>
              <a:gd name="adj2" fmla="val -94969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prime number</a:t>
            </a:r>
          </a:p>
          <a:p>
            <a:pPr lvl="0" algn="ctr" defTabSz="914400" fontAlgn="base">
              <a:spcBef>
                <a:spcPct val="0"/>
              </a:spcBef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(</a:t>
            </a:r>
            <a:r>
              <a:rPr kumimoji="0" lang="zh-TW" altLang="en-US" sz="23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Times New Roman" panose="02020603050405020304" pitchFamily="18" charset="0"/>
              </a:rPr>
              <a:t>質</a:t>
            </a:r>
            <a:r>
              <a:rPr lang="zh-TW" altLang="en-US" sz="2300" b="1" kern="0" dirty="0">
                <a:solidFill>
                  <a:prstClr val="black"/>
                </a:solidFill>
                <a:latin typeface="Calibri"/>
                <a:ea typeface="新細明體" panose="02020500000000000000" pitchFamily="18" charset="-120"/>
                <a:cs typeface="Times New Roman" panose="02020603050405020304" pitchFamily="18" charset="0"/>
              </a:rPr>
              <a:t>數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)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063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1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6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7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5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3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1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4" grpId="1" animBg="1"/>
      <p:bldP spid="95" grpId="0" animBg="1"/>
      <p:bldP spid="95" grpId="1" animBg="1"/>
      <p:bldP spid="96" grpId="0" animBg="1"/>
      <p:bldP spid="96" grpId="1" animBg="1"/>
      <p:bldP spid="97" grpId="0" animBg="1"/>
      <p:bldP spid="9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solidFill>
                  <a:schemeClr val="bg1"/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 range(15)))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(lambda x: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(2*x+1), range(15)))</a:t>
            </a:r>
            <a:endParaRPr lang="en-US" altLang="zh-TW" sz="24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400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,[2*x+1 for x in range(15)]))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 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800" dirty="0">
              <a:latin typeface="Arial" panose="020B0604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dirty="0">
                <a:latin typeface="Elephant" panose="02020904090505020303" pitchFamily="18" charset="0"/>
                <a:cs typeface="Arial" panose="020B0604020202020204" pitchFamily="34" charset="0"/>
              </a:rPr>
              <a:t>Some filters that use prime</a:t>
            </a:r>
            <a:r>
              <a:rPr lang="en-US" altLang="zh-TW" sz="4400" b="1" kern="0" dirty="0">
                <a:latin typeface="Agency FB" panose="020B0503020202020204" pitchFamily="34" charset="0"/>
                <a:cs typeface="Arial" panose="020B0604020202020204" pitchFamily="34" charset="0"/>
              </a:rPr>
              <a:t>(</a:t>
            </a:r>
            <a:r>
              <a:rPr lang="en-US" altLang="zh-TW" sz="2000" b="1" kern="0" dirty="0"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400" b="1" kern="0" dirty="0">
                <a:latin typeface="Agency FB" panose="020B0503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906642" y="127789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917240" y="6535052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917240" y="3021647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917240" y="4780269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06642" y="832454"/>
            <a:ext cx="0" cy="27432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299117" y="756314"/>
            <a:ext cx="6270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sz="2000" dirty="0"/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4584488" y="3559156"/>
            <a:ext cx="1560280" cy="1504334"/>
          </a:xfrm>
          <a:prstGeom prst="wedgeRoundRectCallout">
            <a:avLst>
              <a:gd name="adj1" fmla="val -61806"/>
              <a:gd name="adj2" fmla="val 897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?</a:t>
            </a:r>
            <a:endParaRPr kumimoji="0" lang="en-US" sz="7200" b="1" i="1" u="none" strike="noStrike" kern="0" cap="none" spc="-4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sp>
        <p:nvSpPr>
          <p:cNvPr id="20" name="Rounded Rectangular Callout 19"/>
          <p:cNvSpPr/>
          <p:nvPr/>
        </p:nvSpPr>
        <p:spPr bwMode="auto">
          <a:xfrm>
            <a:off x="4584488" y="3559156"/>
            <a:ext cx="1560280" cy="1504334"/>
          </a:xfrm>
          <a:prstGeom prst="wedgeRoundRectCallout">
            <a:avLst>
              <a:gd name="adj1" fmla="val -61806"/>
              <a:gd name="adj2" fmla="val 897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This is a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4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compre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-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0" cap="none" spc="-4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hension</a:t>
            </a:r>
            <a:r>
              <a:rPr kumimoji="0" lang="en-US" sz="2800" b="0" i="1" u="none" strike="noStrike" kern="0" cap="none" spc="-4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…</a:t>
            </a:r>
            <a:endParaRPr kumimoji="0" lang="en-US" sz="2800" b="1" i="1" u="none" strike="noStrike" kern="0" cap="none" spc="-40" normalizeH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614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1263" y="838200"/>
            <a:ext cx="8797491" cy="60198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3200" spc="-10" dirty="0"/>
              <a:t>A list can be </a:t>
            </a:r>
            <a:r>
              <a:rPr lang="en-US" altLang="en-US" sz="3200" i="1" spc="-10" dirty="0"/>
              <a:t>comprehended</a:t>
            </a:r>
            <a:r>
              <a:rPr lang="en-US" altLang="en-US" sz="3200" spc="-10" dirty="0"/>
              <a:t> (created </a:t>
            </a:r>
            <a:r>
              <a:rPr lang="en-US" altLang="en-US" sz="3200" i="1" spc="-10" dirty="0"/>
              <a:t>in-place</a:t>
            </a:r>
            <a:r>
              <a:rPr lang="en-US" altLang="en-US" sz="3200" spc="-10" dirty="0"/>
              <a:t>) </a:t>
            </a:r>
            <a:r>
              <a:rPr lang="en-US" altLang="en-US" sz="3200" dirty="0"/>
              <a:t>immediately as its elements are calculated: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[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3*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[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[{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[{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}]</a:t>
            </a:r>
          </a:p>
          <a:p>
            <a:r>
              <a:rPr lang="en-US" altLang="en-US" sz="3200" dirty="0">
                <a:solidFill>
                  <a:schemeClr val="tx1"/>
                </a:solidFill>
              </a:rPr>
              <a:t>Set comprehension:</a:t>
            </a:r>
            <a:endParaRPr lang="en-US" altLang="en-US" sz="2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8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27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200" dirty="0">
                <a:solidFill>
                  <a:schemeClr val="tx1"/>
                </a:solidFill>
              </a:rPr>
              <a:t>Dictionary comprehension:</a:t>
            </a:r>
            <a:endParaRPr lang="en-US" altLang="en-US" sz="28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: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81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200" b="1" dirty="0">
                <a:solidFill>
                  <a:srgbClr val="7030A0"/>
                </a:solidFill>
              </a:rPr>
              <a:t>But tuples and strings don’t work.</a:t>
            </a:r>
            <a:endParaRPr lang="en-US" altLang="en-US" sz="28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365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</a:t>
            </a:r>
            <a:r>
              <a:rPr lang="en-US" altLang="en-US" sz="4400" spc="-1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omp</a:t>
            </a:r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r</a:t>
            </a:r>
            <a:r>
              <a:rPr lang="en-US" altLang="en-US" sz="4400" spc="-3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ehension</a:t>
            </a:r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s</a:t>
            </a:r>
            <a:r>
              <a:rPr lang="en-US" altLang="en-US" sz="40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spc="-3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</a:t>
            </a:r>
            <a:r>
              <a:rPr lang="en-US" altLang="en-US" sz="4400" b="1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/</a:t>
            </a:r>
            <a:r>
              <a:rPr lang="en-US" altLang="en-US" sz="40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nested</a:t>
            </a:r>
            <a:r>
              <a:rPr lang="en-US" altLang="en-US" sz="4000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loops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262" y="838200"/>
            <a:ext cx="9288464" cy="60198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A loop nested in a loop within a comprehension: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tx1"/>
                </a:solidFill>
                <a:latin typeface="Lucida Console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vec1 = ['A','B','C']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altLang="zh-TW" sz="2800" dirty="0">
                <a:latin typeface="Lucida Console" panose="020B0609040504020204" pitchFamily="49" charset="0"/>
              </a:rPr>
              <a:t>  </a:t>
            </a:r>
            <a:r>
              <a:rPr lang="fr-FR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fr-FR" altLang="zh-TW" sz="2800" dirty="0">
                <a:latin typeface="Lucida Console" panose="020B0609040504020204" pitchFamily="49" charset="0"/>
              </a:rPr>
              <a:t> vec2 = ['1','2','3','4']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altLang="zh-TW" sz="2800" dirty="0"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8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err="1">
                <a:latin typeface="Lucida Console" panose="020B0609040504020204" pitchFamily="49" charset="0"/>
              </a:rPr>
              <a:t>+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vec1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b="1" u="sng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vec2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zh-TW" sz="2800" dirty="0">
                <a:latin typeface="Lucida Console" panose="020B0609040504020204" pitchFamily="49" charset="0"/>
              </a:rPr>
              <a:t>  </a:t>
            </a:r>
            <a:r>
              <a:rPr lang="pt-BR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[</a:t>
            </a:r>
            <a:r>
              <a:rPr lang="pt-BR" altLang="zh-TW" sz="2800" dirty="0">
                <a:latin typeface="Lucida Console" panose="020B0609040504020204" pitchFamily="49" charset="0"/>
              </a:rPr>
              <a:t>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pt-BR" altLang="zh-TW" sz="2800" dirty="0">
                <a:latin typeface="Lucida Console" panose="020B0609040504020204" pitchFamily="49" charset="0"/>
              </a:rPr>
              <a:t>',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altLang="zh-TW" sz="2800" dirty="0">
                <a:latin typeface="Lucida Console" panose="020B0609040504020204" pitchFamily="49" charset="0"/>
              </a:rPr>
              <a:t> 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B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pt-BR" altLang="zh-TW" sz="2800" dirty="0">
                <a:latin typeface="Lucida Console" panose="020B0609040504020204" pitchFamily="49" charset="0"/>
              </a:rPr>
              <a:t>', '</a:t>
            </a:r>
            <a:r>
              <a:rPr lang="pt-BR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C</a:t>
            </a:r>
            <a:r>
              <a:rPr lang="pt-BR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pt-BR" altLang="zh-TW" sz="2800" dirty="0">
                <a:latin typeface="Lucida Console" panose="020B0609040504020204" pitchFamily="49" charset="0"/>
              </a:rPr>
              <a:t>'</a:t>
            </a:r>
            <a:r>
              <a:rPr lang="pt-BR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</a:t>
            </a:r>
            <a:endParaRPr lang="pt-BR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pt-BR" altLang="zh-TW" sz="160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The following use parallel--but not nested--loops:</a:t>
            </a:r>
            <a:endParaRPr lang="en-US" altLang="en-US" sz="2400" dirty="0">
              <a:solidFill>
                <a:schemeClr val="tx1"/>
              </a:solidFill>
              <a:latin typeface="Lucida Console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 &gt;&gt;&gt;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en-US" altLang="zh-TW" sz="28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in ("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","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")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{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A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', '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'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+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b="1" dirty="0">
                <a:solidFill>
                  <a:srgbClr val="CC3399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x</a:t>
            </a:r>
            <a:r>
              <a:rPr lang="en-US" altLang="zh-TW" sz="280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zh-TW" sz="2800" dirty="0">
                <a:solidFill>
                  <a:srgbClr val="000000"/>
                </a:solidFill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[[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],(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3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),{</a:t>
            </a:r>
            <a:r>
              <a:rPr lang="en-US" altLang="zh-TW" sz="2800" dirty="0">
                <a:solidFill>
                  <a:srgbClr val="2D2DB9"/>
                </a:solidFill>
                <a:latin typeface="Lucida Console" panose="020B0609040504020204" pitchFamily="49" charset="0"/>
              </a:rPr>
              <a:t>5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800" dirty="0">
                <a:solidFill>
                  <a:srgbClr val="00B050"/>
                </a:solidFill>
                <a:latin typeface="Lucida Console" panose="020B0609040504020204" pitchFamily="49" charset="0"/>
              </a:rPr>
              <a:t>6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}]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[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3, 7, 11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54334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37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379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37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  <a:r>
              <a:rPr lang="en-US" altLang="en-US" sz="40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000" spc="-3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w</a:t>
            </a:r>
            <a:r>
              <a:rPr lang="en-US" altLang="en-US" sz="4000" b="1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/</a:t>
            </a:r>
            <a:r>
              <a:rPr lang="en-US" altLang="en-US" sz="40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en-US" sz="4400" dirty="0">
                <a:solidFill>
                  <a:srgbClr val="FF0000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ifs</a:t>
            </a:r>
            <a:endParaRPr lang="en-US" altLang="en-US" sz="4400" dirty="0">
              <a:latin typeface="Elephant" panose="02020904090505020303" pitchFamily="18" charset="0"/>
              <a:cs typeface="Arial" panose="020B0604020202020204" pitchFamily="34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262" y="838200"/>
            <a:ext cx="8991600" cy="6019800"/>
          </a:xfrm>
        </p:spPr>
        <p:txBody>
          <a:bodyPr/>
          <a:lstStyle/>
          <a:p>
            <a:pPr marL="287338" indent="-287338">
              <a:spcBef>
                <a:spcPts val="0"/>
              </a:spcBef>
            </a:pPr>
            <a:r>
              <a:rPr lang="en-US" altLang="en-US" sz="3200" dirty="0"/>
              <a:t>Only</a:t>
            </a:r>
            <a:r>
              <a:rPr lang="en-US" altLang="en-US" sz="2800" dirty="0"/>
              <a:t> </a:t>
            </a:r>
            <a:r>
              <a:rPr lang="en-US" altLang="en-US" sz="3200" dirty="0"/>
              <a:t>adds</a:t>
            </a:r>
            <a:r>
              <a:rPr lang="en-US" altLang="en-US" sz="2800" dirty="0"/>
              <a:t> </a:t>
            </a:r>
            <a:r>
              <a:rPr lang="en-US" altLang="en-US" sz="3200" dirty="0"/>
              <a:t>to</a:t>
            </a:r>
            <a:r>
              <a:rPr lang="en-US" altLang="en-US" sz="2800" dirty="0"/>
              <a:t> </a:t>
            </a:r>
            <a:r>
              <a:rPr lang="en-US" altLang="en-US" sz="3200" dirty="0"/>
              <a:t>the</a:t>
            </a:r>
            <a:r>
              <a:rPr lang="en-US" altLang="en-US" sz="2800" dirty="0"/>
              <a:t> </a:t>
            </a:r>
            <a:r>
              <a:rPr lang="en-US" altLang="en-US" sz="3200" dirty="0"/>
              <a:t>list/set/</a:t>
            </a:r>
            <a:r>
              <a:rPr lang="en-US" altLang="en-US" sz="3200" dirty="0" err="1"/>
              <a:t>dict</a:t>
            </a:r>
            <a:r>
              <a:rPr lang="en-US" altLang="en-US" sz="2800" dirty="0"/>
              <a:t> </a:t>
            </a:r>
            <a:r>
              <a:rPr lang="en-US" altLang="en-US" sz="3200" dirty="0"/>
              <a:t>if</a:t>
            </a:r>
            <a:r>
              <a:rPr lang="en-US" altLang="en-US" sz="2800" dirty="0"/>
              <a:t> </a:t>
            </a:r>
            <a:r>
              <a:rPr lang="en-US" altLang="en-US" sz="3200" dirty="0"/>
              <a:t>condition</a:t>
            </a:r>
            <a:r>
              <a:rPr lang="en-US" altLang="en-US" sz="2800" dirty="0"/>
              <a:t> </a:t>
            </a:r>
            <a:r>
              <a:rPr lang="en-US" altLang="en-US" sz="3200" dirty="0"/>
              <a:t>is</a:t>
            </a:r>
            <a:r>
              <a:rPr lang="en-US" altLang="en-US" sz="2800" dirty="0"/>
              <a:t> </a:t>
            </a:r>
            <a:r>
              <a:rPr lang="en-US" altLang="en-US" sz="3200" dirty="0"/>
              <a:t>true: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buNone/>
            </a:pPr>
            <a:r>
              <a:rPr lang="en-US" altLang="zh-TW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vec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= [2,4,6]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3*x </a:t>
            </a:r>
            <a:r>
              <a:rPr lang="en-US" altLang="en-US" sz="2800" b="1" dirty="0">
                <a:solidFill>
                  <a:srgbClr val="CC3399"/>
                </a:solidFill>
                <a:latin typeface="Lucida Console" pitchFamily="49" charset="0"/>
              </a:rPr>
              <a:t>for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x in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vec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b="1" u="sng" dirty="0">
                <a:solidFill>
                  <a:srgbClr val="CC3399"/>
                </a:solidFill>
                <a:latin typeface="Lucida Console" pitchFamily="49" charset="0"/>
              </a:rPr>
              <a:t>if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x &gt; 3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12, 18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b="1" dirty="0">
                <a:solidFill>
                  <a:srgbClr val="CC3399"/>
                </a:solidFill>
                <a:latin typeface="Lucida Console" pitchFamily="49" charset="0"/>
              </a:rPr>
              <a:t>for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range(20) </a:t>
            </a:r>
            <a:r>
              <a:rPr lang="en-US" altLang="en-US" sz="2800" b="1" u="sng" dirty="0">
                <a:solidFill>
                  <a:srgbClr val="CC3399"/>
                </a:solidFill>
                <a:latin typeface="Lucida Console" pitchFamily="49" charset="0"/>
              </a:rPr>
              <a:t>if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i%2==1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[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1, 3, 5, 7, 9, 11, 13, 15, 17, 19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]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from math import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gcd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buNone/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 #(</a:t>
            </a: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gcd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 = greatest common denominator)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{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b="1" dirty="0">
                <a:solidFill>
                  <a:srgbClr val="CC3399"/>
                </a:solidFill>
                <a:latin typeface="Lucida Console" pitchFamily="49" charset="0"/>
              </a:rPr>
              <a:t>for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i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</a:t>
            </a:r>
            <a:r>
              <a:rPr lang="en-US" altLang="en-US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range(60)</a:t>
            </a:r>
            <a:r>
              <a:rPr lang="en-US" altLang="en-US" sz="20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b="1" u="sng" dirty="0">
                <a:solidFill>
                  <a:srgbClr val="CC3399"/>
                </a:solidFill>
                <a:latin typeface="Lucida Console" pitchFamily="49" charset="0"/>
              </a:rPr>
              <a:t>if</a:t>
            </a:r>
            <a:r>
              <a:rPr lang="en-US" altLang="en-US" sz="2400" dirty="0">
                <a:solidFill>
                  <a:schemeClr val="tx1"/>
                </a:solidFill>
                <a:latin typeface="Lucida Console" pitchFamily="49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gc</a:t>
            </a:r>
            <a:r>
              <a:rPr lang="en-US" altLang="en-US" sz="2800" spc="-100" dirty="0" err="1">
                <a:solidFill>
                  <a:schemeClr val="tx1"/>
                </a:solidFill>
                <a:latin typeface="Lucida Console" pitchFamily="49" charset="0"/>
              </a:rPr>
              <a:t>d</a:t>
            </a:r>
            <a:r>
              <a:rPr lang="en-US" altLang="en-US" sz="2800" spc="-100" dirty="0">
                <a:solidFill>
                  <a:schemeClr val="tx1"/>
                </a:solidFill>
                <a:latin typeface="Lucida Console" pitchFamily="49" charset="0"/>
              </a:rPr>
              <a:t>(60,i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)==2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{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2, 34, 58, 38, 14, 46, 22, 26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}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endParaRPr lang="en-US" altLang="en-US" sz="3200" dirty="0">
              <a:solidFill>
                <a:schemeClr val="bg1">
                  <a:lumMod val="75000"/>
                </a:schemeClr>
              </a:solidFill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0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96862" y="762000"/>
            <a:ext cx="9220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latin typeface="Lucida Console" panose="020B0609040504020204" pitchFamily="49" charset="0"/>
              </a:rPr>
              <a:t>from prime import prime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 defTabSz="914400"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(x)]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 defTabSz="914400"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(2*x+1)]</a:t>
            </a:r>
            <a:endParaRPr lang="en-US" altLang="zh-TW" sz="2400" kern="0" dirty="0">
              <a:latin typeface="Arial Narrow" panose="020B0606020202030204" pitchFamily="34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400" kern="0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 defTabSz="914400"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[2*x+1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(2*x+1)]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 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800" kern="0" dirty="0">
              <a:latin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defTabSz="914400"/>
            <a:r>
              <a:rPr lang="en-US" altLang="zh-TW" sz="4400" dirty="0">
                <a:latin typeface="Elephant" panose="02020904090505020303" pitchFamily="18" charset="0"/>
                <a:cs typeface="Arial" panose="020B0604020202020204" pitchFamily="34" charset="0"/>
              </a:rPr>
              <a:t>Some comprehensions w/ prime</a:t>
            </a:r>
            <a:r>
              <a:rPr lang="en-US" altLang="zh-TW" sz="4400" b="1" dirty="0">
                <a:latin typeface="Agency FB" panose="020B0503020202020204" pitchFamily="34" charset="0"/>
                <a:cs typeface="Arial" panose="020B0604020202020204" pitchFamily="34" charset="0"/>
              </a:rPr>
              <a:t>(</a:t>
            </a:r>
            <a:r>
              <a:rPr lang="en-US" altLang="zh-TW" sz="2000" b="1" dirty="0"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4400" b="1" dirty="0">
                <a:latin typeface="Agency FB" panose="020B0503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385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 range(15)))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(lambda x: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(2*x+1), range(15)))</a:t>
            </a:r>
            <a:endParaRPr lang="en-US" altLang="zh-TW" sz="2400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400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,[2*x+1 for x in range(15)]))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 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800" dirty="0"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defTabSz="914400"/>
            <a:r>
              <a:rPr lang="en-US" altLang="zh-TW" sz="4400" dirty="0">
                <a:latin typeface="Elephant" panose="02020904090505020303" pitchFamily="18" charset="0"/>
                <a:cs typeface="Arial" panose="020B0604020202020204" pitchFamily="34" charset="0"/>
              </a:rPr>
              <a:t>Equivalent filters </a:t>
            </a:r>
            <a:r>
              <a:rPr lang="en-US" altLang="zh-TW" sz="4400" dirty="0">
                <a:solidFill>
                  <a:schemeClr val="bg1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xy12z</a:t>
            </a:r>
            <a:endParaRPr lang="en-US" altLang="zh-TW" sz="4400" b="1" dirty="0">
              <a:solidFill>
                <a:schemeClr val="bg1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283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96862" y="762000"/>
            <a:ext cx="9220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latin typeface="Lucida Console" panose="020B0609040504020204" pitchFamily="49" charset="0"/>
              </a:rPr>
              <a:t>from prime import prime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#The following lists all primes &lt; 15:</a:t>
            </a:r>
          </a:p>
          <a:p>
            <a:pPr marL="0" indent="0" defTabSz="914400"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(x)]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numbers &lt; 15 where 2x+1 is prime:</a:t>
            </a:r>
          </a:p>
          <a:p>
            <a:pPr marL="0" indent="0" defTabSz="914400"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(2*x+1)]</a:t>
            </a:r>
            <a:endParaRPr lang="en-US" altLang="zh-TW" sz="2400" kern="0" dirty="0">
              <a:latin typeface="Arial Narrow" panose="020B0606020202030204" pitchFamily="34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  <a:endParaRPr lang="en-US" altLang="zh-TW" sz="2400" kern="0" dirty="0">
              <a:solidFill>
                <a:srgbClr val="2D2DB9"/>
              </a:solidFill>
              <a:latin typeface="Arial Narrow" panose="020B0606020202030204" pitchFamily="34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 gives the corresponding 2x+1 numbers:</a:t>
            </a:r>
          </a:p>
          <a:p>
            <a:pPr marL="0" indent="0" defTabSz="914400"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kern="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[2*x+1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(2*x+1)]</a:t>
            </a:r>
            <a:endParaRPr lang="en-US" altLang="zh-TW" sz="2400" kern="0" dirty="0">
              <a:latin typeface="Lucida Console" panose="020B0609040504020204" pitchFamily="49" charset="0"/>
            </a:endParaRP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[3, 5, 7, 11, 13, 17, 19, 23, 29] </a:t>
            </a:r>
          </a:p>
          <a:p>
            <a:pPr marL="0" indent="0" defTabSz="914400">
              <a:buFont typeface="Wingdings" pitchFamily="2" charset="2"/>
              <a:buNone/>
            </a:pPr>
            <a:r>
              <a:rPr lang="en-US" altLang="zh-TW" sz="2400" kern="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endParaRPr lang="en-US" altLang="zh-TW" sz="800" kern="0" dirty="0">
              <a:latin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pPr defTabSz="914400"/>
            <a:r>
              <a:rPr lang="en-US" altLang="zh-TW" dirty="0">
                <a:solidFill>
                  <a:schemeClr val="bg1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xyz</a:t>
            </a:r>
            <a:r>
              <a:rPr lang="en-US" altLang="zh-TW" sz="3200" dirty="0">
                <a:solidFill>
                  <a:schemeClr val="bg1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2</a:t>
            </a:r>
            <a:r>
              <a:rPr lang="en-US" altLang="zh-TW" sz="3200" dirty="0">
                <a:latin typeface="Elephant" panose="02020904090505020303" pitchFamily="18" charset="0"/>
                <a:cs typeface="Arial" panose="020B0604020202020204" pitchFamily="34" charset="0"/>
              </a:rPr>
              <a:t> </a:t>
            </a:r>
            <a:r>
              <a:rPr lang="en-US" altLang="zh-TW" sz="4400" dirty="0">
                <a:latin typeface="Elephant" panose="02020904090505020303" pitchFamily="18" charset="0"/>
                <a:cs typeface="Arial" panose="020B0604020202020204" pitchFamily="34" charset="0"/>
              </a:rPr>
              <a:t>Equivalent comprehensions</a:t>
            </a:r>
            <a:endParaRPr lang="en-US" altLang="zh-TW" sz="4400" b="1" dirty="0"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834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Lesson #1: They are not the same thing: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 (x)]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 range(15)))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endParaRPr lang="en-US" altLang="zh-TW" sz="11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Yes,</a:t>
            </a:r>
            <a:r>
              <a:rPr lang="en-US" altLang="zh-TW" sz="20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the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outputs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were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the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same.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But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that’s</a:t>
            </a:r>
            <a:r>
              <a:rPr lang="en-US" altLang="zh-TW" sz="2400" dirty="0">
                <a:solidFill>
                  <a:srgbClr val="FF0000"/>
                </a:solidFill>
              </a:rPr>
              <a:t> </a:t>
            </a:r>
            <a:r>
              <a:rPr lang="en-US" altLang="zh-TW" sz="3200" dirty="0">
                <a:solidFill>
                  <a:srgbClr val="FF0000"/>
                </a:solidFill>
              </a:rPr>
              <a:t>because we converted to a list. 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filter(prime, range(15)) </a:t>
            </a:r>
          </a:p>
          <a:p>
            <a:pPr marL="0" indent="0"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&lt;filter object at 0x6ffffb22a58&gt;</a:t>
            </a:r>
          </a:p>
          <a:p>
            <a:pPr marL="0" indent="0">
              <a:buNone/>
            </a:pPr>
            <a:endParaRPr lang="en-US" altLang="zh-TW" sz="11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Q: OK. That is a little difference. But so what?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339933"/>
                </a:solidFill>
              </a:rPr>
              <a:t>A: Filter would not force a generator to generate. </a:t>
            </a:r>
            <a:endParaRPr lang="en-US" altLang="zh-TW" sz="3200" dirty="0">
              <a:solidFill>
                <a:srgbClr val="339933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spc="560" dirty="0">
                <a:latin typeface="Elephant" panose="02020904090505020303" pitchFamily="18" charset="0"/>
              </a:rPr>
              <a:t>f</a:t>
            </a:r>
            <a:r>
              <a:rPr lang="en-US" altLang="zh-TW" sz="4400" kern="0" dirty="0">
                <a:latin typeface="Elephant" panose="02020904090505020303" pitchFamily="18" charset="0"/>
              </a:rPr>
              <a:t>ilter vs comprehension-if</a:t>
            </a:r>
          </a:p>
        </p:txBody>
      </p:sp>
      <p:sp>
        <p:nvSpPr>
          <p:cNvPr id="2" name="Rectangle 1"/>
          <p:cNvSpPr/>
          <p:nvPr/>
        </p:nvSpPr>
        <p:spPr>
          <a:xfrm>
            <a:off x="4334438" y="4230451"/>
            <a:ext cx="546816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If we didn’t convert, we</a:t>
            </a:r>
            <a:r>
              <a:rPr lang="en-US" sz="3200" dirty="0">
                <a:solidFill>
                  <a:srgbClr val="FF0000"/>
                </a:solidFill>
              </a:rPr>
              <a:t>’</a:t>
            </a:r>
            <a:r>
              <a:rPr lang="en-US" altLang="zh-TW" sz="3200" dirty="0">
                <a:solidFill>
                  <a:srgbClr val="FF0000"/>
                </a:solidFill>
              </a:rPr>
              <a:t>d get:</a:t>
            </a:r>
            <a:endParaRPr lang="en-US" sz="2800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6161498" y="4407294"/>
            <a:ext cx="1560280" cy="1504334"/>
          </a:xfrm>
          <a:prstGeom prst="wedgeRoundRectCallout">
            <a:avLst>
              <a:gd name="adj1" fmla="val -61806"/>
              <a:gd name="adj2" fmla="val 897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Rounded MT Bold" panose="020F0704030504030204" pitchFamily="34" charset="0"/>
                <a:cs typeface="Times New Roman" panose="02020603050405020304" pitchFamily="18" charset="0"/>
              </a:rPr>
              <a:t>?</a:t>
            </a:r>
            <a:endParaRPr kumimoji="0" lang="en-US" sz="7200" b="1" i="1" u="none" strike="noStrike" kern="0" cap="none" spc="-4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6161498" y="4407294"/>
            <a:ext cx="1560280" cy="1504334"/>
          </a:xfrm>
          <a:prstGeom prst="wedgeRoundRectCallout">
            <a:avLst>
              <a:gd name="adj1" fmla="val -61806"/>
              <a:gd name="adj2" fmla="val 8978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45720" rIns="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This</a:t>
            </a:r>
            <a:r>
              <a:rPr kumimoji="0" lang="en-US" sz="28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 </a:t>
            </a:r>
            <a:r>
              <a:rPr kumimoji="0" lang="en-US" sz="2800" b="0" i="0" u="none" strike="noStrike" kern="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wi</a:t>
            </a:r>
            <a:r>
              <a:rPr lang="en-US" sz="2800" kern="0" dirty="0" err="1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ll</a:t>
            </a:r>
            <a:endParaRPr lang="en-US" sz="2800" kern="0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kern="0" spc="-5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be c</a:t>
            </a:r>
            <a:r>
              <a:rPr lang="en-US" sz="2800" kern="0" spc="-12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ov</a:t>
            </a:r>
            <a:r>
              <a:rPr lang="en-US" sz="2800" kern="0" spc="-5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e</a:t>
            </a:r>
            <a:r>
              <a:rPr lang="en-US" sz="2800" kern="0" spc="-7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re</a:t>
            </a:r>
            <a:r>
              <a:rPr lang="en-US" sz="2800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d</a:t>
            </a:r>
            <a:br>
              <a:rPr lang="en-US" sz="2800" kern="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</a:br>
            <a:r>
              <a:rPr lang="en-US" sz="2800" kern="0" spc="-3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l8r t</a:t>
            </a:r>
            <a:r>
              <a:rPr lang="en-US" sz="2800" kern="0" spc="-70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oday</a:t>
            </a:r>
            <a:r>
              <a:rPr kumimoji="0" lang="en-US" sz="2800" b="0" i="1" u="none" strike="noStrike" kern="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Times New Roman" panose="02020603050405020304" pitchFamily="18" charset="0"/>
              </a:rPr>
              <a:t>…</a:t>
            </a:r>
            <a:endParaRPr kumimoji="0" lang="en-US" sz="2800" b="1" i="1" u="none" strike="noStrike" kern="0" cap="none" spc="-70" normalizeH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36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Lesson #2: The filter sometimes looks worse: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 (2*x+1)]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(lambda x: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(2*x+1), range(15)))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2, 3, 5, 6, 8, 9, 11, 14] </a:t>
            </a:r>
          </a:p>
          <a:p>
            <a:pPr marL="0" indent="0">
              <a:buNone/>
            </a:pPr>
            <a:endParaRPr lang="en-US" altLang="zh-TW" sz="10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The reason it looks worse is the lambda.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Filter()’s first argument is a function, but we</a:t>
            </a:r>
            <a:br>
              <a:rPr lang="en-US" altLang="zh-TW" sz="3200" dirty="0">
                <a:solidFill>
                  <a:srgbClr val="FF0000"/>
                </a:solidFill>
              </a:rPr>
            </a:br>
            <a:r>
              <a:rPr lang="en-US" altLang="zh-TW" sz="3200" dirty="0">
                <a:solidFill>
                  <a:srgbClr val="FF0000"/>
                </a:solidFill>
              </a:rPr>
              <a:t>didn’t have a function for f(x)=2x+1. 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So we created an anonymous function (or we could have defined a function).</a:t>
            </a:r>
            <a:endParaRPr lang="en-US" altLang="zh-TW" sz="3200" dirty="0">
              <a:solidFill>
                <a:srgbClr val="339933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spc="560" dirty="0">
                <a:latin typeface="Elephant" panose="02020904090505020303" pitchFamily="18" charset="0"/>
              </a:rPr>
              <a:t>f</a:t>
            </a:r>
            <a:r>
              <a:rPr lang="en-US" altLang="zh-TW" sz="4400" kern="0" dirty="0">
                <a:latin typeface="Elephant" panose="02020904090505020303" pitchFamily="18" charset="0"/>
              </a:rPr>
              <a:t>ilter vs comprehension-if</a:t>
            </a:r>
          </a:p>
        </p:txBody>
      </p:sp>
    </p:spTree>
    <p:extLst>
      <p:ext uri="{BB962C8B-B14F-4D97-AF65-F5344CB8AC3E}">
        <p14:creationId xmlns:p14="http://schemas.microsoft.com/office/powerpoint/2010/main" val="267026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Lesson #3: It is debatable which “looks better”: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 (x)]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 range(15)))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[2, 3, 5, 7, 11, 13]</a:t>
            </a:r>
          </a:p>
          <a:p>
            <a:pPr marL="0" indent="0">
              <a:buNone/>
            </a:pPr>
            <a:endParaRPr lang="en-US" altLang="zh-TW" sz="11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Maybe the filter looks better, at least in the above example. But it is debatable.</a:t>
            </a:r>
            <a:endParaRPr lang="en-US" altLang="zh-TW" sz="2400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endParaRPr lang="en-US" altLang="zh-TW" sz="11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Q: Are there any other advantages to filter?</a:t>
            </a:r>
          </a:p>
          <a:p>
            <a:pPr marL="571500" indent="-571500">
              <a:spcBef>
                <a:spcPts val="0"/>
              </a:spcBef>
              <a:buNone/>
            </a:pPr>
            <a:r>
              <a:rPr lang="en-US" altLang="zh-TW" sz="3200" dirty="0">
                <a:solidFill>
                  <a:srgbClr val="339933"/>
                </a:solidFill>
              </a:rPr>
              <a:t>A: Yes. They can, sometimes, be more efficient, as the next slide shows…</a:t>
            </a:r>
            <a:endParaRPr lang="en-US" altLang="zh-TW" sz="3200" dirty="0">
              <a:solidFill>
                <a:srgbClr val="339933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spc="560" dirty="0">
                <a:latin typeface="Elephant" panose="02020904090505020303" pitchFamily="18" charset="0"/>
              </a:rPr>
              <a:t>f</a:t>
            </a:r>
            <a:r>
              <a:rPr lang="en-US" altLang="zh-TW" sz="4400" kern="0" dirty="0">
                <a:latin typeface="Elephant" panose="02020904090505020303" pitchFamily="18" charset="0"/>
              </a:rPr>
              <a:t>ilter vs comprehension-if</a:t>
            </a:r>
          </a:p>
        </p:txBody>
      </p:sp>
    </p:spTree>
    <p:extLst>
      <p:ext uri="{BB962C8B-B14F-4D97-AF65-F5344CB8AC3E}">
        <p14:creationId xmlns:p14="http://schemas.microsoft.com/office/powerpoint/2010/main" val="111767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Lesson #4: The filter may save computation: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2*x+1</a:t>
            </a:r>
            <a:r>
              <a:rPr lang="en-US" altLang="zh-TW" sz="2400" dirty="0">
                <a:latin typeface="Lucida Console" panose="020B0609040504020204" pitchFamily="49" charset="0"/>
              </a:rPr>
              <a:t> for x in range(15)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 (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2*x+1</a:t>
            </a:r>
            <a:r>
              <a:rPr lang="en-US" altLang="zh-TW" sz="2400" dirty="0">
                <a:latin typeface="Lucida Console" panose="020B0609040504020204" pitchFamily="49" charset="0"/>
              </a:rPr>
              <a:t>)]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>
                <a:latin typeface="Lucida Console" panose="020B0609040504020204" pitchFamily="49" charset="0"/>
              </a:rPr>
              <a:t>,[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2*x+1</a:t>
            </a:r>
            <a:r>
              <a:rPr lang="en-US" altLang="zh-TW" sz="2400" dirty="0">
                <a:latin typeface="Lucida Console" panose="020B0609040504020204" pitchFamily="49" charset="0"/>
              </a:rPr>
              <a:t> for x in range(15)]))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 </a:t>
            </a:r>
          </a:p>
          <a:p>
            <a:pPr marL="0" indent="0">
              <a:buNone/>
            </a:pPr>
            <a:endParaRPr lang="en-US" altLang="zh-TW" sz="6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Notice that the comprehension required the “</a:t>
            </a:r>
            <a:r>
              <a:rPr lang="en-US" altLang="zh-TW" sz="3200" dirty="0">
                <a:solidFill>
                  <a:srgbClr val="CC3399"/>
                </a:solidFill>
              </a:rPr>
              <a:t>2*x+1</a:t>
            </a:r>
            <a:r>
              <a:rPr lang="en-US" altLang="zh-TW" sz="3200" dirty="0">
                <a:solidFill>
                  <a:srgbClr val="FF0000"/>
                </a:solidFill>
              </a:rPr>
              <a:t>” to be typed twice.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This also means that it is </a:t>
            </a:r>
            <a:r>
              <a:rPr lang="en-US" altLang="zh-TW" sz="3200" i="1" dirty="0">
                <a:solidFill>
                  <a:srgbClr val="FF0000"/>
                </a:solidFill>
              </a:rPr>
              <a:t>calculated</a:t>
            </a:r>
            <a:r>
              <a:rPr lang="en-US" altLang="zh-TW" sz="3200" dirty="0">
                <a:solidFill>
                  <a:srgbClr val="FF0000"/>
                </a:solidFill>
              </a:rPr>
              <a:t> twice. </a:t>
            </a:r>
          </a:p>
          <a:p>
            <a:pPr marL="0" indent="0">
              <a:buNone/>
            </a:pPr>
            <a:r>
              <a:rPr lang="en-US" altLang="zh-TW" sz="3200" dirty="0">
                <a:solidFill>
                  <a:srgbClr val="339933"/>
                </a:solidFill>
              </a:rPr>
              <a:t>If “</a:t>
            </a:r>
            <a:r>
              <a:rPr lang="en-US" altLang="zh-TW" sz="3200" dirty="0">
                <a:solidFill>
                  <a:srgbClr val="CC3399"/>
                </a:solidFill>
              </a:rPr>
              <a:t>2*x+1</a:t>
            </a:r>
            <a:r>
              <a:rPr lang="en-US" altLang="zh-TW" sz="3200" dirty="0">
                <a:solidFill>
                  <a:srgbClr val="339933"/>
                </a:solidFill>
              </a:rPr>
              <a:t>” were replaced with something more complex (</a:t>
            </a:r>
            <a:r>
              <a:rPr lang="en-US" altLang="zh-TW" sz="3200" dirty="0" err="1">
                <a:solidFill>
                  <a:srgbClr val="339933"/>
                </a:solidFill>
              </a:rPr>
              <a:t>eg</a:t>
            </a:r>
            <a:r>
              <a:rPr lang="en-US" altLang="zh-TW" sz="3200" dirty="0">
                <a:solidFill>
                  <a:srgbClr val="339933"/>
                </a:solidFill>
              </a:rPr>
              <a:t>: </a:t>
            </a:r>
            <a:r>
              <a:rPr lang="en-US" altLang="zh-TW" sz="3200" dirty="0" err="1">
                <a:solidFill>
                  <a:srgbClr val="CC3399"/>
                </a:solidFill>
              </a:rPr>
              <a:t>sqrt</a:t>
            </a:r>
            <a:r>
              <a:rPr lang="en-US" altLang="zh-TW" sz="3200" dirty="0">
                <a:solidFill>
                  <a:srgbClr val="CC3399"/>
                </a:solidFill>
              </a:rPr>
              <a:t>(</a:t>
            </a:r>
            <a:r>
              <a:rPr lang="en-US" altLang="zh-TW" sz="3200" dirty="0" err="1">
                <a:solidFill>
                  <a:srgbClr val="CC3399"/>
                </a:solidFill>
              </a:rPr>
              <a:t>sqrt</a:t>
            </a:r>
            <a:r>
              <a:rPr lang="en-US" altLang="zh-TW" sz="3200" dirty="0">
                <a:solidFill>
                  <a:srgbClr val="CC3399"/>
                </a:solidFill>
              </a:rPr>
              <a:t>(</a:t>
            </a:r>
            <a:r>
              <a:rPr lang="en-US" altLang="zh-TW" sz="3200" dirty="0" err="1">
                <a:solidFill>
                  <a:srgbClr val="CC3399"/>
                </a:solidFill>
              </a:rPr>
              <a:t>sqrt</a:t>
            </a:r>
            <a:r>
              <a:rPr lang="en-US" altLang="zh-TW" sz="3200" dirty="0">
                <a:solidFill>
                  <a:srgbClr val="CC3399"/>
                </a:solidFill>
              </a:rPr>
              <a:t>(x)))</a:t>
            </a:r>
            <a:r>
              <a:rPr lang="en-US" altLang="zh-TW" sz="3200" dirty="0">
                <a:solidFill>
                  <a:srgbClr val="339933"/>
                </a:solidFill>
              </a:rPr>
              <a:t>), then the cost of calculating twice could be significant for long lists.</a:t>
            </a:r>
            <a:endParaRPr lang="en-US" altLang="zh-TW" sz="3200" dirty="0">
              <a:solidFill>
                <a:srgbClr val="339933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spc="560" dirty="0">
                <a:latin typeface="Elephant" panose="02020904090505020303" pitchFamily="18" charset="0"/>
              </a:rPr>
              <a:t>f</a:t>
            </a:r>
            <a:r>
              <a:rPr lang="en-US" altLang="zh-TW" sz="4400" kern="0" dirty="0">
                <a:latin typeface="Elephant" panose="02020904090505020303" pitchFamily="18" charset="0"/>
              </a:rPr>
              <a:t>ilter vs comprehension-if</a:t>
            </a:r>
          </a:p>
        </p:txBody>
      </p:sp>
    </p:spTree>
    <p:extLst>
      <p:ext uri="{BB962C8B-B14F-4D97-AF65-F5344CB8AC3E}">
        <p14:creationId xmlns:p14="http://schemas.microsoft.com/office/powerpoint/2010/main" val="515711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9220200" cy="6019800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An observation: We could’ve used range() better: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from prime import prime</a:t>
            </a: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[x for x in range(1,31,2) 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if prime</a:t>
            </a:r>
            <a:r>
              <a:rPr lang="en-US" altLang="zh-TW" sz="2400" dirty="0">
                <a:latin typeface="Lucida Console" panose="020B0609040504020204" pitchFamily="49" charset="0"/>
              </a:rPr>
              <a:t> (x)]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&gt;&gt;&gt;</a:t>
            </a:r>
            <a:r>
              <a:rPr lang="en-US" altLang="zh-TW" sz="2400" dirty="0">
                <a:latin typeface="Arial Narrow" panose="020B0606020202030204" pitchFamily="34" charset="0"/>
              </a:rPr>
              <a:t> </a:t>
            </a:r>
            <a:r>
              <a:rPr lang="en-US" altLang="zh-TW" sz="2400" dirty="0">
                <a:latin typeface="Lucida Console" panose="020B0609040504020204" pitchFamily="49" charset="0"/>
              </a:rPr>
              <a:t>list(</a:t>
            </a:r>
            <a:r>
              <a:rPr lang="en-US" altLang="zh-TW" sz="2400" b="1" dirty="0">
                <a:solidFill>
                  <a:srgbClr val="339933"/>
                </a:solidFill>
                <a:latin typeface="Lucida Console" panose="020B0609040504020204" pitchFamily="49" charset="0"/>
              </a:rPr>
              <a:t>filter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b="1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prime</a:t>
            </a:r>
            <a:r>
              <a:rPr lang="en-US" altLang="zh-TW" sz="2400" dirty="0" err="1">
                <a:latin typeface="Lucida Console" panose="020B0609040504020204" pitchFamily="49" charset="0"/>
              </a:rPr>
              <a:t>,range</a:t>
            </a:r>
            <a:r>
              <a:rPr lang="en-US" altLang="zh-TW" sz="2400" dirty="0">
                <a:latin typeface="Lucida Console" panose="020B0609040504020204" pitchFamily="49" charset="0"/>
              </a:rPr>
              <a:t>(1,31,2)))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rgbClr val="2D2DB9"/>
                </a:solidFill>
                <a:latin typeface="Lucida Console" panose="020B0609040504020204" pitchFamily="49" charset="0"/>
              </a:rPr>
              <a:t>[1, 3, 5, 7, 11, 13, 17, 19, 23, 29] </a:t>
            </a:r>
          </a:p>
          <a:p>
            <a:pPr marL="0" indent="0">
              <a:buNone/>
            </a:pPr>
            <a:endParaRPr lang="en-US" altLang="zh-TW" sz="1000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altLang="zh-TW" sz="3200" dirty="0">
                <a:solidFill>
                  <a:srgbClr val="FF0000"/>
                </a:solidFill>
              </a:rPr>
              <a:t>This is an observation, not a lesson, because it only works for simple functions like 2*x+1. </a:t>
            </a:r>
            <a:br>
              <a:rPr lang="en-US" altLang="zh-TW" sz="3200" dirty="0">
                <a:solidFill>
                  <a:srgbClr val="FF0000"/>
                </a:solidFill>
              </a:rPr>
            </a:br>
            <a:r>
              <a:rPr lang="en-US" altLang="zh-TW" sz="3200" dirty="0">
                <a:solidFill>
                  <a:srgbClr val="339933"/>
                </a:solidFill>
              </a:rPr>
              <a:t>It would not work with functions like </a:t>
            </a:r>
            <a:r>
              <a:rPr lang="en-US" altLang="zh-TW" sz="3200" dirty="0" err="1">
                <a:solidFill>
                  <a:srgbClr val="339933"/>
                </a:solidFill>
              </a:rPr>
              <a:t>sqrt</a:t>
            </a:r>
            <a:r>
              <a:rPr lang="en-US" altLang="zh-TW" sz="3200" dirty="0">
                <a:solidFill>
                  <a:srgbClr val="339933"/>
                </a:solidFill>
              </a:rPr>
              <a:t>(</a:t>
            </a:r>
            <a:r>
              <a:rPr lang="en-US" altLang="zh-TW" sz="3200" dirty="0" err="1">
                <a:solidFill>
                  <a:srgbClr val="339933"/>
                </a:solidFill>
              </a:rPr>
              <a:t>sqrt</a:t>
            </a:r>
            <a:r>
              <a:rPr lang="en-US" altLang="zh-TW" sz="3200" dirty="0">
                <a:solidFill>
                  <a:srgbClr val="339933"/>
                </a:solidFill>
              </a:rPr>
              <a:t>(x)).</a:t>
            </a:r>
            <a:endParaRPr lang="en-US" altLang="zh-TW" sz="3200" dirty="0">
              <a:solidFill>
                <a:srgbClr val="339933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sz="4400" kern="0" spc="560" dirty="0">
                <a:latin typeface="Elephant" panose="02020904090505020303" pitchFamily="18" charset="0"/>
              </a:rPr>
              <a:t>f</a:t>
            </a:r>
            <a:r>
              <a:rPr lang="en-US" altLang="zh-TW" sz="4400" kern="0" dirty="0">
                <a:latin typeface="Elephant" panose="02020904090505020303" pitchFamily="18" charset="0"/>
              </a:rPr>
              <a:t>ilter vs comprehension-if</a:t>
            </a:r>
          </a:p>
        </p:txBody>
      </p:sp>
    </p:spTree>
    <p:extLst>
      <p:ext uri="{BB962C8B-B14F-4D97-AF65-F5344CB8AC3E}">
        <p14:creationId xmlns:p14="http://schemas.microsoft.com/office/powerpoint/2010/main" val="2259294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930" y="6373525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1039812" y="646577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54954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1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930" y="6373525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7832020" y="6479963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1039812" y="6465771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13"/>
          <p:cNvSpPr/>
          <p:nvPr/>
        </p:nvSpPr>
        <p:spPr bwMode="auto">
          <a:xfrm>
            <a:off x="6621463" y="1728591"/>
            <a:ext cx="2459907" cy="1515767"/>
          </a:xfrm>
          <a:prstGeom prst="wedgeRoundRectCallout">
            <a:avLst>
              <a:gd name="adj1" fmla="val -49514"/>
              <a:gd name="adj2" fmla="val 926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Like filter(),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this one also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applies a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func</a:t>
            </a:r>
            <a:endParaRPr lang="en-US" altLang="zh-TW" sz="2800" kern="0" dirty="0">
              <a:solidFill>
                <a:srgbClr val="C00000"/>
              </a:solidFill>
              <a:ea typeface="MS PGothic" pitchFamily="34" charset="-128"/>
              <a:cs typeface="Times New Roman" panose="02020603050405020304" pitchFamily="18" charset="0"/>
            </a:endParaRP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to an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iterable</a:t>
            </a: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98843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quit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1" name="Rounded Rectangular Callout 13"/>
          <p:cNvSpPr/>
          <p:nvPr/>
        </p:nvSpPr>
        <p:spPr bwMode="auto">
          <a:xfrm>
            <a:off x="6621463" y="1390389"/>
            <a:ext cx="2459907" cy="1515767"/>
          </a:xfrm>
          <a:prstGeom prst="wedgeRoundRectCallout">
            <a:avLst>
              <a:gd name="adj1" fmla="val -49514"/>
              <a:gd name="adj2" fmla="val 926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Like filter(),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this one also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applies a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func</a:t>
            </a:r>
            <a:endParaRPr lang="en-US" altLang="zh-TW" sz="2800" kern="0" dirty="0">
              <a:solidFill>
                <a:srgbClr val="C00000"/>
              </a:solidFill>
              <a:ea typeface="MS PGothic" pitchFamily="34" charset="-128"/>
              <a:cs typeface="Times New Roman" panose="02020603050405020304" pitchFamily="18" charset="0"/>
            </a:endParaRP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to an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iterable</a:t>
            </a: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4454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quit() or Ctrl-D (i.e. EOF) to exit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100" dirty="0">
              <a:solidFill>
                <a:srgbClr val="FFCC9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1" name="Rounded Rectangular Callout 13"/>
          <p:cNvSpPr/>
          <p:nvPr/>
        </p:nvSpPr>
        <p:spPr bwMode="auto">
          <a:xfrm>
            <a:off x="6621463" y="1064713"/>
            <a:ext cx="2459907" cy="1515767"/>
          </a:xfrm>
          <a:prstGeom prst="wedgeRoundRectCallout">
            <a:avLst>
              <a:gd name="adj1" fmla="val -49514"/>
              <a:gd name="adj2" fmla="val 926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Like filter(),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this one also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applies a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func</a:t>
            </a:r>
            <a:endParaRPr lang="en-US" altLang="zh-TW" sz="2800" kern="0" dirty="0">
              <a:solidFill>
                <a:srgbClr val="C00000"/>
              </a:solidFill>
              <a:ea typeface="MS PGothic" pitchFamily="34" charset="-128"/>
              <a:cs typeface="Times New Roman" panose="02020603050405020304" pitchFamily="18" charset="0"/>
            </a:endParaRP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to an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iterable</a:t>
            </a: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7322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b="1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exit</a:t>
            </a:r>
            <a:endParaRPr lang="en-US" altLang="zh-TW" sz="26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1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1" name="Rounded Rectangular Callout 13"/>
          <p:cNvSpPr/>
          <p:nvPr/>
        </p:nvSpPr>
        <p:spPr bwMode="auto">
          <a:xfrm>
            <a:off x="6621463" y="713985"/>
            <a:ext cx="2459907" cy="1515767"/>
          </a:xfrm>
          <a:prstGeom prst="wedgeRoundRectCallout">
            <a:avLst>
              <a:gd name="adj1" fmla="val -49514"/>
              <a:gd name="adj2" fmla="val 926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Like filter(),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this one also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applies a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func</a:t>
            </a:r>
            <a:endParaRPr lang="en-US" altLang="zh-TW" sz="2800" kern="0" dirty="0">
              <a:solidFill>
                <a:srgbClr val="C00000"/>
              </a:solidFill>
              <a:ea typeface="MS PGothic" pitchFamily="34" charset="-128"/>
              <a:cs typeface="Times New Roman" panose="02020603050405020304" pitchFamily="18" charset="0"/>
            </a:endParaRP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to an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iterable</a:t>
            </a: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9661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Use exit() or Ctrl-D (i.e. EOF) to exit 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1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  Stops when the shortest 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is exhausted.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11" name="Rounded Rectangular Callout 13"/>
          <p:cNvSpPr/>
          <p:nvPr/>
        </p:nvSpPr>
        <p:spPr bwMode="auto">
          <a:xfrm>
            <a:off x="6621463" y="338205"/>
            <a:ext cx="2459907" cy="1515767"/>
          </a:xfrm>
          <a:prstGeom prst="wedgeRoundRectCallout">
            <a:avLst>
              <a:gd name="adj1" fmla="val -49514"/>
              <a:gd name="adj2" fmla="val 926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Like filter(),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this one also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applies a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func</a:t>
            </a:r>
            <a:endParaRPr lang="en-US" altLang="zh-TW" sz="2800" kern="0" dirty="0">
              <a:solidFill>
                <a:srgbClr val="C00000"/>
              </a:solidFill>
              <a:ea typeface="MS PGothic" pitchFamily="34" charset="-128"/>
              <a:cs typeface="Times New Roman" panose="02020603050405020304" pitchFamily="18" charset="0"/>
            </a:endParaRP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to an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iterable</a:t>
            </a: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501553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spcBef>
                <a:spcPts val="300"/>
              </a:spcBef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'next',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1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rgbClr val="FF9933"/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rgbClr val="FF9933"/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200" dirty="0">
              <a:solidFill>
                <a:srgbClr val="FFCC9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2141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039812" y="640245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ular Callout 13"/>
          <p:cNvSpPr/>
          <p:nvPr/>
        </p:nvSpPr>
        <p:spPr bwMode="auto">
          <a:xfrm>
            <a:off x="6621463" y="3"/>
            <a:ext cx="2459907" cy="1515767"/>
          </a:xfrm>
          <a:prstGeom prst="wedgeRoundRectCallout">
            <a:avLst>
              <a:gd name="adj1" fmla="val -49514"/>
              <a:gd name="adj2" fmla="val 9265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Like filter(),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this one also</a:t>
            </a:r>
            <a:b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</a:b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applies a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func</a:t>
            </a:r>
            <a:endParaRPr lang="en-US" altLang="zh-TW" sz="2800" kern="0" dirty="0">
              <a:solidFill>
                <a:srgbClr val="C00000"/>
              </a:solidFill>
              <a:ea typeface="MS PGothic" pitchFamily="34" charset="-128"/>
              <a:cs typeface="Times New Roman" panose="02020603050405020304" pitchFamily="18" charset="0"/>
            </a:endParaRPr>
          </a:p>
          <a:p>
            <a:pPr algn="ctr" defTabSz="914400" fontAlgn="base">
              <a:lnSpc>
                <a:spcPct val="80000"/>
              </a:lnSpc>
              <a:spcAft>
                <a:spcPct val="0"/>
              </a:spcAft>
            </a:pP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to an </a:t>
            </a:r>
            <a:r>
              <a:rPr lang="en-US" altLang="zh-TW" sz="2800" kern="0" dirty="0" err="1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iterable</a:t>
            </a:r>
            <a:r>
              <a:rPr lang="en-US" altLang="zh-TW" sz="2800" kern="0" dirty="0">
                <a:solidFill>
                  <a:srgbClr val="C00000"/>
                </a:solidFill>
                <a:ea typeface="MS PGothic" pitchFamily="34" charset="-128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087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01662" y="762000"/>
            <a:ext cx="84963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Your typical mathematical function is written as: </a:t>
            </a:r>
            <a:r>
              <a:rPr lang="en-US" altLang="en-US" sz="2800" b="1" dirty="0">
                <a:solidFill>
                  <a:srgbClr val="FFFFFF"/>
                </a:solidFill>
                <a:latin typeface="Times New Roman" pitchFamily="18" charset="0"/>
              </a:rPr>
              <a:t>y = f(x)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But what is f(</a:t>
            </a:r>
            <a:r>
              <a:rPr lang="en-US" altLang="en-US" sz="800" dirty="0">
                <a:solidFill>
                  <a:srgbClr val="FFFFFF"/>
                </a:solidFill>
                <a:latin typeface="Times New Roman" pitchFamily="18" charset="0"/>
              </a:rPr>
              <a:t> 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)? Any function. Perhaps sin(). In that case, we write: </a:t>
            </a:r>
            <a:r>
              <a:rPr lang="en-US" altLang="en-US" sz="2800" b="1" dirty="0">
                <a:solidFill>
                  <a:srgbClr val="FFFFFF"/>
                </a:solidFill>
                <a:latin typeface="Times New Roman" pitchFamily="18" charset="0"/>
              </a:rPr>
              <a:t>y = sin(x)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Here the sine function maps a value, x, to a new value, y.  For example: y=sin(0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) 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  <a:sym typeface="Symbol" panose="05050102010706020507" pitchFamily="18" charset="2"/>
              </a:rPr>
              <a:t> y=0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,  or  y=sin(90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) 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  <a:sym typeface="Symbol" panose="05050102010706020507" pitchFamily="18" charset="2"/>
              </a:rPr>
              <a:t> y=1</a:t>
            </a:r>
            <a: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3333CC"/>
                </a:solidFill>
                <a:latin typeface="Times New Roman" pitchFamily="18" charset="0"/>
              </a:rPr>
              <a:t>You can look at an x value, move your finger vertically to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3333CC"/>
                </a:solidFill>
                <a:latin typeface="Times New Roman" pitchFamily="18" charset="0"/>
              </a:rPr>
              <a:t>intersect the line, then horizontally to find the mapped-to value.</a:t>
            </a:r>
          </a:p>
        </p:txBody>
      </p:sp>
      <p:sp>
        <p:nvSpPr>
          <p:cNvPr id="163847" name="Text Box 7"/>
          <p:cNvSpPr txBox="1">
            <a:spLocks noChangeArrowheads="1"/>
          </p:cNvSpPr>
          <p:nvPr/>
        </p:nvSpPr>
        <p:spPr bwMode="auto">
          <a:xfrm>
            <a:off x="601662" y="762000"/>
            <a:ext cx="84963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Your typical mathematical function is written as: </a:t>
            </a:r>
            <a:r>
              <a:rPr lang="en-US" altLang="en-US" sz="2800" b="1" dirty="0">
                <a:solidFill>
                  <a:srgbClr val="3333CC"/>
                </a:solidFill>
                <a:latin typeface="Times New Roman" pitchFamily="18" charset="0"/>
              </a:rPr>
              <a:t>y = f(x)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But what is f(</a:t>
            </a:r>
            <a:r>
              <a:rPr lang="en-US" altLang="en-US" sz="8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)? Any function. Perhaps sin(). In that case, we write: </a:t>
            </a:r>
            <a:r>
              <a:rPr lang="en-US" altLang="en-US" sz="2800" b="1" dirty="0">
                <a:solidFill>
                  <a:srgbClr val="3333CC"/>
                </a:solidFill>
                <a:latin typeface="Times New Roman" pitchFamily="18" charset="0"/>
              </a:rPr>
              <a:t>y = sin(x)</a:t>
            </a:r>
            <a:r>
              <a:rPr lang="en-US" altLang="en-US" sz="2800" dirty="0">
                <a:solidFill>
                  <a:srgbClr val="3333CC"/>
                </a:solidFill>
                <a:latin typeface="Times New Roman" pitchFamily="18" charset="0"/>
              </a:rPr>
              <a:t>.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Here the sine function </a:t>
            </a:r>
            <a:r>
              <a:rPr lang="en-US" altLang="en-US" sz="2800" b="1" dirty="0">
                <a:solidFill>
                  <a:srgbClr val="2D2DB9"/>
                </a:solidFill>
                <a:latin typeface="Times New Roman" pitchFamily="18" charset="0"/>
              </a:rPr>
              <a:t>maps</a:t>
            </a: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 a value, x, to a new value, y.  For example: 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if x=90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, then y=sin(90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) 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  <a:sym typeface="Symbol" panose="05050102010706020507" pitchFamily="18" charset="2"/>
              </a:rPr>
              <a:t> y=1</a:t>
            </a: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3333CC"/>
                </a:solidFill>
                <a:latin typeface="Times New Roman" pitchFamily="18" charset="0"/>
              </a:rPr>
              <a:t>You can look at an x value,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3333CC"/>
                </a:solidFill>
                <a:latin typeface="Times New Roman" pitchFamily="18" charset="0"/>
              </a:rPr>
              <a:t>intersect the line,</a:t>
            </a:r>
            <a:r>
              <a:rPr lang="en-US" altLang="en-US" sz="28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mapping is a concept from math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76441" y="4191000"/>
            <a:ext cx="4578493" cy="27739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7262" y="5909424"/>
            <a:ext cx="498854" cy="533401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 bwMode="auto">
          <a:xfrm>
            <a:off x="3985128" y="4668644"/>
            <a:ext cx="0" cy="11887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5400000">
            <a:off x="3433762" y="4123372"/>
            <a:ext cx="0" cy="1097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7262" y="4668727"/>
            <a:ext cx="498854" cy="53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8585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8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3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38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38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638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38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64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0.00017 -0.18194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09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7.89045E-7 4.07407E-6 L -0.12341 4.07407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79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76441" y="4191000"/>
            <a:ext cx="4578493" cy="2773920"/>
          </a:xfrm>
          <a:prstGeom prst="rect">
            <a:avLst/>
          </a:prstGeom>
        </p:spPr>
      </p:pic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601662" y="762001"/>
            <a:ext cx="8496300" cy="2462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</a:rPr>
              <a:t>sin(90</a:t>
            </a: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  <a:sym typeface="Symbol" panose="05050102010706020507" pitchFamily="18" charset="2"/>
              </a:rPr>
              <a:t></a:t>
            </a: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</a:rPr>
              <a:t>)=1 is a mapping for just one value.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</a:rPr>
              <a:t>But what is the mapping, for all values?</a:t>
            </a:r>
          </a:p>
          <a:p>
            <a:pPr defTabSz="914400" eaLnBrk="0" fontAlgn="base" hangingPunct="0">
              <a:spcAft>
                <a:spcPct val="0"/>
              </a:spcAft>
            </a:pP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</a:rPr>
              <a:t>That would be the set of all mappings.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en-US" sz="2800" dirty="0">
              <a:solidFill>
                <a:srgbClr val="FF0000"/>
              </a:solidFill>
              <a:latin typeface="Lucida Console" panose="020B0609040504020204" pitchFamily="49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mapping is a concept from math</a:t>
            </a: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3985128" y="4668644"/>
            <a:ext cx="0" cy="11887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 rot="5400000">
            <a:off x="3433762" y="4123372"/>
            <a:ext cx="0" cy="10972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719" y="4187952"/>
            <a:ext cx="4578493" cy="277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9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719" y="4187952"/>
            <a:ext cx="4578493" cy="2773920"/>
          </a:xfrm>
          <a:prstGeom prst="rect">
            <a:avLst/>
          </a:prstGeom>
        </p:spPr>
      </p:pic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601662" y="762000"/>
            <a:ext cx="8496300" cy="320087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000000"/>
                </a:solidFill>
                <a:latin typeface="Times New Roman" pitchFamily="18" charset="0"/>
              </a:rPr>
              <a:t>sin(90</a:t>
            </a:r>
            <a:r>
              <a:rPr lang="en-US" altLang="en-US" sz="3200" dirty="0">
                <a:solidFill>
                  <a:srgbClr val="000000"/>
                </a:solidFill>
                <a:latin typeface="Times New Roman" pitchFamily="18" charset="0"/>
                <a:sym typeface="Symbol" panose="05050102010706020507" pitchFamily="18" charset="2"/>
              </a:rPr>
              <a:t></a:t>
            </a:r>
            <a:r>
              <a:rPr lang="en-US" altLang="en-US" sz="3200" dirty="0">
                <a:solidFill>
                  <a:srgbClr val="000000"/>
                </a:solidFill>
                <a:latin typeface="Times New Roman" pitchFamily="18" charset="0"/>
              </a:rPr>
              <a:t>)=1 is a mapping for just one value.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000000"/>
                </a:solidFill>
                <a:latin typeface="Times New Roman" pitchFamily="18" charset="0"/>
              </a:rPr>
              <a:t>But what is the mapping, for all values?</a:t>
            </a:r>
          </a:p>
          <a:p>
            <a:pPr defTabSz="914400" eaLnBrk="0" fontAlgn="base" hangingPunct="0">
              <a:spcAft>
                <a:spcPct val="0"/>
              </a:spcAft>
            </a:pPr>
            <a:r>
              <a:rPr lang="en-US" altLang="en-US" sz="3200" dirty="0">
                <a:solidFill>
                  <a:srgbClr val="000000"/>
                </a:solidFill>
                <a:latin typeface="Times New Roman" pitchFamily="18" charset="0"/>
              </a:rPr>
              <a:t>That would be the set of all mappings.</a:t>
            </a:r>
          </a:p>
          <a:p>
            <a:pPr defTabSz="914400" eaLnBrk="0" fontAlgn="base" hangingPunct="0">
              <a:lnSpc>
                <a:spcPct val="99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</a:rPr>
              <a:t>Think of it as a look-up table: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en-US" sz="2800" dirty="0">
              <a:solidFill>
                <a:srgbClr val="FF0000"/>
              </a:solidFill>
              <a:latin typeface="Lucida Console" panose="020B0609040504020204" pitchFamily="49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mapping is a concept from math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6116184" y="2731770"/>
            <a:ext cx="3162300" cy="24622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0</a:t>
            </a: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→ </a:t>
            </a:r>
            <a:r>
              <a: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0.00000</a:t>
            </a:r>
            <a:endParaRPr lang="en-US" altLang="en-US" sz="2800" dirty="0">
              <a:solidFill>
                <a:srgbClr val="339933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pPr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10</a:t>
            </a: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→ </a:t>
            </a:r>
            <a:r>
              <a: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0.17365</a:t>
            </a:r>
          </a:p>
          <a:p>
            <a:pPr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20</a:t>
            </a: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→ </a:t>
            </a:r>
            <a:r>
              <a: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0.34202</a:t>
            </a:r>
          </a:p>
          <a:p>
            <a:pPr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30</a:t>
            </a: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→ </a:t>
            </a:r>
            <a:r>
              <a: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0.50000</a:t>
            </a:r>
          </a:p>
          <a:p>
            <a:pPr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40</a:t>
            </a: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</a:t>
            </a: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→ </a:t>
            </a:r>
            <a:r>
              <a: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0.64279</a:t>
            </a:r>
          </a:p>
          <a:p>
            <a:pPr defTabSz="914400" eaLnBrk="0" fontAlgn="base" hangingPunct="0">
              <a:lnSpc>
                <a:spcPct val="90000"/>
              </a:lnSpc>
              <a:spcAft>
                <a:spcPct val="0"/>
              </a:spcAft>
            </a:pPr>
            <a:r>
              <a:rPr lang="en-US" altLang="en-US" sz="2800" dirty="0">
                <a:solidFill>
                  <a:srgbClr val="0070C0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  <a:r>
              <a:rPr lang="en-US" altLang="en-US" sz="1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→ 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...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01662" y="2706624"/>
            <a:ext cx="5638800" cy="270843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000000"/>
                </a:solidFill>
                <a:latin typeface="Times New Roman" pitchFamily="18" charset="0"/>
              </a:rPr>
              <a:t>Think of it as a look-up table: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FF0000"/>
                </a:solidFill>
                <a:latin typeface="Times New Roman" pitchFamily="18" charset="0"/>
              </a:rPr>
              <a:t>Q:How to make a table like this?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339933"/>
                </a:solidFill>
                <a:latin typeface="Times New Roman" pitchFamily="18" charset="0"/>
              </a:rPr>
              <a:t>A:With map()</a:t>
            </a:r>
          </a:p>
          <a:p>
            <a:pPr defTabSz="91440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en-US" altLang="en-US" sz="2800" dirty="0">
              <a:solidFill>
                <a:srgbClr val="FF0000"/>
              </a:solidFill>
              <a:latin typeface="Lucida Console" panose="020B0609040504020204" pitchFamily="49" charset="0"/>
              <a:cs typeface="Lucida Sans Unicode" panose="020B0602030504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167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0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9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/>
      <p:bldP spid="13" grpId="0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mapping is a concept from math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1662" y="954024"/>
            <a:ext cx="8676822" cy="2708434"/>
            <a:chOff x="304800" y="2706624"/>
            <a:chExt cx="8676822" cy="2708434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5819322" y="2731769"/>
              <a:ext cx="3162300" cy="22122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 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0.00000</a:t>
              </a:r>
              <a:endPara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</a:endParaRP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10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0.17365</a:t>
              </a: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20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0.34202</a:t>
              </a: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30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0.50000</a:t>
              </a: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40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0.64279</a:t>
              </a:r>
            </a:p>
            <a:p>
              <a:pPr defTabSz="914400" eaLnBrk="0" fontAlgn="base" hangingPunct="0">
                <a:lnSpc>
                  <a:spcPct val="67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...</a:t>
              </a:r>
              <a:r>
                <a:rPr lang="en-US" altLang="en-US" sz="1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 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...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304800" y="2706624"/>
              <a:ext cx="5638800" cy="27084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000000"/>
                  </a:solidFill>
                  <a:latin typeface="Times New Roman" pitchFamily="18" charset="0"/>
                </a:rPr>
                <a:t>Think of it as a look-up table: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FF0000"/>
                  </a:solidFill>
                  <a:latin typeface="Times New Roman" pitchFamily="18" charset="0"/>
                </a:rPr>
                <a:t>Q:How to make a table like this?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339933"/>
                  </a:solidFill>
                  <a:latin typeface="Times New Roman" pitchFamily="18" charset="0"/>
                </a:rPr>
                <a:t>A:With map()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601662" y="3124200"/>
            <a:ext cx="8839200" cy="37610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The sin(</a:t>
            </a:r>
            <a:r>
              <a:rPr lang="en-US" altLang="en-US" sz="800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) function takes one number and returns another one number. </a:t>
            </a:r>
            <a:r>
              <a:rPr lang="en-US" altLang="en-US" sz="2800" u="sng" dirty="0">
                <a:solidFill>
                  <a:srgbClr val="FF0000"/>
                </a:solidFill>
                <a:latin typeface="Times New Roman" pitchFamily="18" charset="0"/>
              </a:rPr>
              <a:t>One</a:t>
            </a:r>
            <a:r>
              <a:rPr lang="en-US" altLang="en-US" sz="2800" dirty="0">
                <a:solidFill>
                  <a:srgbClr val="FF0000"/>
                </a:solidFill>
                <a:latin typeface="Times New Roman" pitchFamily="18" charset="0"/>
              </a:rPr>
              <a:t> number. So it cannot understand a list: 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from math import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sin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sin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([0,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(10),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(20)])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Traceback</a:t>
            </a:r>
            <a:r>
              <a:rPr lang="en-US" altLang="en-US" sz="2400" dirty="0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(most recent call last):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 File "&lt;</a:t>
            </a:r>
            <a:r>
              <a:rPr lang="en-US" altLang="en-US" sz="2400" dirty="0" err="1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stdin</a:t>
            </a:r>
            <a:r>
              <a:rPr lang="en-US" altLang="en-US" sz="2400" dirty="0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&gt;", line 1, in &lt;module&gt;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 err="1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TypeError</a:t>
            </a:r>
            <a:r>
              <a:rPr lang="en-US" altLang="en-US" sz="2400" dirty="0">
                <a:solidFill>
                  <a:srgbClr val="FFCC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must be real number, not list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en-US" sz="2400" dirty="0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# Use map() to apply a mapping to a list: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sin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,[0,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(10),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(20)])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[0.0, 0.17364817766693033, 0.3420201433256687]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01662" y="2706624"/>
            <a:ext cx="8676822" cy="2708434"/>
            <a:chOff x="304800" y="2706624"/>
            <a:chExt cx="8676822" cy="2708434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5819322" y="2731769"/>
              <a:ext cx="3162300" cy="23330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lnSpc>
                  <a:spcPct val="88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 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0.00000</a:t>
              </a:r>
              <a:endPara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</a:endParaRPr>
            </a:p>
            <a:p>
              <a:pPr defTabSz="914400" eaLnBrk="0" fontAlgn="base" hangingPunct="0">
                <a:lnSpc>
                  <a:spcPct val="88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10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0.17365</a:t>
              </a:r>
            </a:p>
            <a:p>
              <a:pPr defTabSz="914400" eaLnBrk="0" fontAlgn="base" hangingPunct="0">
                <a:lnSpc>
                  <a:spcPct val="88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20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0.34202</a:t>
              </a:r>
            </a:p>
            <a:p>
              <a:pPr defTabSz="914400" eaLnBrk="0" fontAlgn="base" hangingPunct="0">
                <a:lnSpc>
                  <a:spcPct val="88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30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0.50000</a:t>
              </a:r>
            </a:p>
            <a:p>
              <a:pPr defTabSz="914400" eaLnBrk="0" fontAlgn="base" hangingPunct="0">
                <a:lnSpc>
                  <a:spcPct val="88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40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0.64279</a:t>
              </a:r>
            </a:p>
            <a:p>
              <a:pPr defTabSz="914400" eaLnBrk="0" fontAlgn="base" hangingPunct="0">
                <a:lnSpc>
                  <a:spcPct val="80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...</a:t>
              </a:r>
              <a:r>
                <a:rPr lang="en-US" altLang="en-US" sz="1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→  </a:t>
              </a:r>
              <a:r>
                <a:rPr lang="en-US" altLang="en-US" sz="24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...</a:t>
              </a: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304800" y="2706624"/>
              <a:ext cx="5638800" cy="27084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000000"/>
                  </a:solidFill>
                  <a:latin typeface="Times New Roman" pitchFamily="18" charset="0"/>
                </a:rPr>
                <a:t>Think of it as a look-up table: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FF0000"/>
                  </a:solidFill>
                  <a:latin typeface="Times New Roman" pitchFamily="18" charset="0"/>
                </a:rPr>
                <a:t>Q:How to make a table like this?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339933"/>
                  </a:solidFill>
                  <a:latin typeface="Times New Roman" pitchFamily="18" charset="0"/>
                </a:rPr>
                <a:t>A:With map()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6899223" y="2743200"/>
            <a:ext cx="4010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→</a:t>
            </a:r>
            <a:endParaRPr lang="en-US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0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4089E-6 3.7037E-7 L -0.00066 -0.2606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" y="-1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601662" y="3124200"/>
            <a:ext cx="8839200" cy="376103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2800" dirty="0">
                <a:solidFill>
                  <a:srgbClr val="FFFFFF"/>
                </a:solidFill>
                <a:latin typeface="Times New Roman" pitchFamily="18" charset="0"/>
              </a:rPr>
            </a:br>
            <a:endParaRPr lang="en-US" altLang="en-US" sz="2800" dirty="0">
              <a:solidFill>
                <a:srgbClr val="FFFFFF"/>
              </a:solidFill>
              <a:latin typeface="Times New Roman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FFFFFF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FFFFFF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FFFFFF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\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FFFFFF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en-US" sz="2400" dirty="0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# Use map() to apply a mapping to a list:</a:t>
            </a:r>
            <a:endParaRPr lang="en-US" altLang="en-US" sz="2400" dirty="0">
              <a:solidFill>
                <a:srgbClr val="FFFFFF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sin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,[0,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(10),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(20)])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[0.0, 0.17364817766693033, 0.3420201433256687] </a:t>
            </a:r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601662" y="3124201"/>
            <a:ext cx="8991600" cy="387798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 </a:t>
            </a:r>
            <a:r>
              <a:rPr lang="en-US" altLang="en-US" sz="2400" dirty="0">
                <a:solidFill>
                  <a:srgbClr val="3333CC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# Use map() to apply a mapping to a list:</a:t>
            </a:r>
            <a:endParaRPr lang="en-US" altLang="en-US" sz="2400" dirty="0">
              <a:solidFill>
                <a:srgbClr val="FFFFFF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sin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,[0,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(10), </a:t>
            </a:r>
            <a:r>
              <a:rPr lang="en-US" altLang="en-US" sz="24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(20)])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[0.0, 0.17364817766693033, 0.3420201433256687] 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solidFill>
                  <a:srgbClr val="FF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#Can you ever have too many maps(), really?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1600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" dirty="0" err="1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dic</a:t>
            </a:r>
            <a:r>
              <a:rPr lang="en-US" altLang="en-US" sz="2400" spc="-50" dirty="0" err="1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</a:t>
            </a:r>
            <a:r>
              <a:rPr lang="en-US" altLang="en-US" sz="2400" spc="-5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spc="-5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zip</a:t>
            </a:r>
            <a:r>
              <a:rPr lang="en-US" altLang="en-US" sz="2400" spc="-5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0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,9</a:t>
            </a:r>
            <a:r>
              <a:rPr lang="en-US" altLang="en-US" sz="24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1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,10</a:t>
            </a:r>
            <a:r>
              <a:rPr lang="en-US" altLang="en-US" sz="24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</a:t>
            </a:r>
            <a:r>
              <a:rPr lang="en-US" altLang="en-US" sz="2000" b="1" spc="-2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b="1" spc="-30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en-US" sz="2400" spc="-3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</a:t>
            </a:r>
            <a:r>
              <a:rPr lang="en-US" altLang="en-US" sz="24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</a:t>
            </a: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/10000</a:t>
            </a:r>
            <a:r>
              <a:rPr lang="en-US" altLang="en-US" sz="2400" spc="-3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0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...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round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x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100000*x,(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sin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spc="-1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... 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</a:t>
            </a:r>
            <a:r>
              <a:rPr lang="en-US" altLang="en-US" sz="2400" b="1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radians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spc="-10" dirty="0">
                <a:solidFill>
                  <a:srgbClr val="339933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</a:t>
            </a:r>
            <a:r>
              <a:rPr lang="en-US" altLang="en-US" sz="2400" spc="-1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(0,91,10)))))))))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4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{0: 0.0, 10: 0.17365, 20: 0.34202, 30: 0.5, 40: 0.64279, 50: 0.76604, 60: 0.86603, 70: 0.93969, 80: 0.98481, 90: 1.0}</a:t>
            </a:r>
          </a:p>
          <a:p>
            <a:pPr defTabSz="914400" eaLnBrk="0" fontAlgn="base" hangingPunct="0">
              <a:lnSpc>
                <a:spcPct val="7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4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mapping is a concept from math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01662" y="954024"/>
            <a:ext cx="8676822" cy="2708434"/>
            <a:chOff x="304800" y="2706624"/>
            <a:chExt cx="8676822" cy="2708434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5819322" y="2731769"/>
              <a:ext cx="3162300" cy="221227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lnSpc>
                  <a:spcPct val="85000"/>
                </a:lnSpc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 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0.00000</a:t>
              </a:r>
              <a:endParaRPr lang="en-US" altLang="en-US" sz="2800" dirty="0">
                <a:solidFill>
                  <a:srgbClr val="339933"/>
                </a:solidFill>
                <a:latin typeface="Lucida Console" panose="020B0609040504020204" pitchFamily="49" charset="0"/>
                <a:cs typeface="Lucida Sans Unicode" panose="020B0602030504020204" pitchFamily="34" charset="0"/>
              </a:endParaRP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10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0.17365</a:t>
              </a: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20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0.34202</a:t>
              </a: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30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0.50000</a:t>
              </a:r>
            </a:p>
            <a:p>
              <a:pPr defTabSz="914400" eaLnBrk="0" fontAlgn="base" hangingPunct="0">
                <a:lnSpc>
                  <a:spcPct val="85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40</a:t>
              </a: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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→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0.64279</a:t>
              </a:r>
            </a:p>
            <a:p>
              <a:pPr defTabSz="914400" eaLnBrk="0" fontAlgn="base" hangingPunct="0">
                <a:lnSpc>
                  <a:spcPct val="67000"/>
                </a:lnSpc>
                <a:spcAft>
                  <a:spcPct val="0"/>
                </a:spcAft>
              </a:pPr>
              <a:r>
                <a:rPr lang="en-US" altLang="en-US" sz="2800" dirty="0">
                  <a:solidFill>
                    <a:srgbClr val="0070C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</a:rPr>
                <a:t>...</a:t>
              </a:r>
              <a:r>
                <a:rPr lang="en-US" altLang="en-US" sz="1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2800" dirty="0">
                  <a:solidFill>
                    <a:srgbClr val="000000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  </a:t>
              </a:r>
              <a:r>
                <a:rPr lang="en-US" altLang="en-US" sz="2800" dirty="0">
                  <a:solidFill>
                    <a:srgbClr val="339933"/>
                  </a:solidFill>
                  <a:latin typeface="Lucida Console" panose="020B0609040504020204" pitchFamily="49" charset="0"/>
                  <a:cs typeface="Lucida Sans Unicode" panose="020B0602030504020204" pitchFamily="34" charset="0"/>
                  <a:sym typeface="Symbol" panose="05050102010706020507" pitchFamily="18" charset="2"/>
                </a:rPr>
                <a:t> ...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304800" y="2706624"/>
              <a:ext cx="5638800" cy="270843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000000"/>
                  </a:solidFill>
                  <a:latin typeface="Times New Roman" pitchFamily="18" charset="0"/>
                </a:rPr>
                <a:t>Think of it as a look-up table: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FF0000"/>
                  </a:solidFill>
                  <a:latin typeface="Times New Roman" pitchFamily="18" charset="0"/>
                </a:rPr>
                <a:t>Q:How to make a table like this?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en-US" sz="3200" dirty="0">
                  <a:solidFill>
                    <a:srgbClr val="339933"/>
                  </a:solidFill>
                  <a:latin typeface="Times New Roman" pitchFamily="18" charset="0"/>
                </a:rPr>
                <a:t>A:With map()</a:t>
              </a:r>
            </a:p>
            <a:p>
              <a:pPr defTabSz="914400" eaLnBrk="0" fontAlgn="base" hangingPunct="0">
                <a:spcBef>
                  <a:spcPct val="50000"/>
                </a:spcBef>
                <a:spcAft>
                  <a:spcPct val="0"/>
                </a:spcAft>
              </a:pPr>
              <a:endParaRPr lang="en-US" altLang="en-US" sz="2800" dirty="0">
                <a:solidFill>
                  <a:srgbClr val="FF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6899223" y="2743200"/>
            <a:ext cx="4010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000000"/>
                </a:solidFill>
                <a:latin typeface="Lucida Console" panose="020B0609040504020204" pitchFamily="49" charset="0"/>
                <a:cs typeface="Lucida Sans Unicode" panose="020B0602030504020204" pitchFamily="34" charset="0"/>
                <a:sym typeface="Symbol" panose="05050102010706020507" pitchFamily="18" charset="2"/>
              </a:rPr>
              <a:t>→</a:t>
            </a:r>
            <a:endParaRPr lang="en-US" sz="28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5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7 L 0.00069 -0.37778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1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20662" y="0"/>
            <a:ext cx="929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b="1" kern="0" spc="-140" dirty="0"/>
              <a:t>map</a:t>
            </a:r>
            <a:r>
              <a:rPr lang="en-US" altLang="zh-TW" sz="3200" b="1" kern="0" spc="-140" dirty="0"/>
              <a:t> </a:t>
            </a:r>
            <a:r>
              <a:rPr lang="en-US" altLang="zh-TW" b="1" kern="0" spc="-140" dirty="0"/>
              <a:t>applies</a:t>
            </a:r>
            <a:r>
              <a:rPr lang="en-US" altLang="zh-TW" sz="3200" b="1" kern="0" spc="-140" dirty="0"/>
              <a:t> </a:t>
            </a:r>
            <a:r>
              <a:rPr lang="en-US" altLang="zh-TW" b="1" kern="0" spc="-140" dirty="0"/>
              <a:t>a given</a:t>
            </a:r>
            <a:r>
              <a:rPr lang="en-US" altLang="zh-TW" sz="3200" b="1" kern="0" spc="-140" dirty="0"/>
              <a:t> </a:t>
            </a:r>
            <a:r>
              <a:rPr lang="en-US" altLang="zh-TW" b="1" kern="0" spc="-140" dirty="0"/>
              <a:t>function</a:t>
            </a:r>
            <a:r>
              <a:rPr lang="en-US" altLang="zh-TW" sz="3200" b="1" kern="0" spc="-140" dirty="0"/>
              <a:t> </a:t>
            </a:r>
            <a:r>
              <a:rPr lang="en-US" altLang="zh-TW" b="1" kern="0" spc="-140" dirty="0"/>
              <a:t>to</a:t>
            </a:r>
            <a:r>
              <a:rPr lang="en-US" altLang="zh-TW" sz="3200" b="1" kern="0" spc="-140" dirty="0"/>
              <a:t> </a:t>
            </a:r>
            <a:r>
              <a:rPr lang="en-US" altLang="zh-TW" b="1" kern="0" spc="-140" dirty="0"/>
              <a:t>each</a:t>
            </a:r>
            <a:r>
              <a:rPr lang="en-US" altLang="zh-TW" sz="3200" b="1" kern="0" spc="-140" dirty="0"/>
              <a:t> </a:t>
            </a:r>
            <a:r>
              <a:rPr lang="en-US" altLang="zh-TW" b="1" kern="0" spc="-140" dirty="0"/>
              <a:t>element</a:t>
            </a:r>
            <a:endParaRPr lang="en-US" altLang="zh-TW" b="1" kern="0" spc="-140" dirty="0">
              <a:latin typeface="Arial Narrow" panose="020B060602020203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296862" y="609600"/>
            <a:ext cx="92202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indent="0" defTabSz="914400"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0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from math import </a:t>
            </a:r>
            <a:r>
              <a:rPr lang="en-US" altLang="zh-TW" sz="2400" kern="0" dirty="0">
                <a:solidFill>
                  <a:srgbClr val="66CCFF"/>
                </a:solidFill>
                <a:latin typeface="Lucida Console" panose="020B0609040504020204" pitchFamily="49" charset="0"/>
              </a:rPr>
              <a:t>factorial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gamma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kern="0" dirty="0">
                <a:solidFill>
                  <a:srgbClr val="66CCFF"/>
                </a:solidFill>
                <a:latin typeface="Lucida Console" panose="020B0609040504020204" pitchFamily="49" charset="0"/>
              </a:rPr>
              <a:t>factorial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(range(0,10))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#This won’t work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TypeError:</a:t>
            </a:r>
            <a:r>
              <a:rPr lang="en-US" altLang="zh-TW" sz="24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integer is required (got type range)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map(</a:t>
            </a:r>
            <a:r>
              <a:rPr lang="en-US" altLang="zh-TW" sz="2400" kern="0" dirty="0" err="1">
                <a:solidFill>
                  <a:srgbClr val="66CCFF"/>
                </a:solidFill>
                <a:latin typeface="Lucida Console" panose="020B0609040504020204" pitchFamily="49" charset="0"/>
              </a:rPr>
              <a:t>factorial</a:t>
            </a:r>
            <a:r>
              <a:rPr lang="en-US" altLang="zh-TW" sz="24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,range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(0,10)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#map fixes it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 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6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24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120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720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5040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40320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362880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gamma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(range(1,11))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#This generalizes factorial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zh-TW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 err="1">
                <a:solidFill>
                  <a:srgbClr val="FFCCCC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zh-TW" sz="2400" kern="0" dirty="0">
                <a:solidFill>
                  <a:srgbClr val="FFCCCC"/>
                </a:solidFill>
                <a:latin typeface="Lucida Console" panose="020B0609040504020204" pitchFamily="49" charset="0"/>
              </a:rPr>
              <a:t>: </a:t>
            </a:r>
            <a:r>
              <a:rPr lang="en-US" altLang="zh-TW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must be real number, not range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map(</a:t>
            </a:r>
            <a:r>
              <a:rPr lang="en-US" altLang="zh-TW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gamma</a:t>
            </a:r>
            <a:r>
              <a:rPr lang="en-US" altLang="zh-TW" sz="24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,range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(1,11)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#But it needs map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1.0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1.0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2.0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6.0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24.0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120.0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720.0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5040.0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40320.0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362880.0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FFFFFF">
                    <a:lumMod val="6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list(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map(</a:t>
            </a:r>
            <a:r>
              <a:rPr lang="en-US" altLang="zh-TW" sz="24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int,</a:t>
            </a:r>
            <a:r>
              <a:rPr lang="en-US" altLang="zh-TW" sz="2400" b="1" kern="0" dirty="0" err="1">
                <a:solidFill>
                  <a:srgbClr val="3333CC"/>
                </a:solidFill>
                <a:latin typeface="Lucida Console" panose="020B0609040504020204" pitchFamily="49" charset="0"/>
              </a:rPr>
              <a:t>map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4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gamma</a:t>
            </a:r>
            <a:r>
              <a:rPr lang="en-US" altLang="zh-TW" sz="24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,range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(1,11)</a:t>
            </a:r>
            <a:r>
              <a:rPr lang="en-US" altLang="zh-TW" sz="2400" b="1" kern="0" dirty="0">
                <a:solidFill>
                  <a:srgbClr val="3333CC"/>
                </a:solidFill>
                <a:latin typeface="Lucida Console" panose="020B0609040504020204" pitchFamily="49" charset="0"/>
              </a:rPr>
              <a:t>))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#cleaner</a:t>
            </a:r>
          </a:p>
          <a:p>
            <a:pPr marL="0" indent="0" defTabSz="914400">
              <a:spcBef>
                <a:spcPts val="0"/>
              </a:spcBef>
              <a:buNone/>
            </a:pP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[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1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2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6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24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120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720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5040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40320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,</a:t>
            </a:r>
            <a:r>
              <a:rPr lang="en-US" altLang="zh-TW" sz="2400" kern="0" dirty="0">
                <a:solidFill>
                  <a:srgbClr val="CC3399"/>
                </a:solidFill>
                <a:latin typeface="Lucida Console" panose="020B0609040504020204" pitchFamily="49" charset="0"/>
              </a:rPr>
              <a:t> 362880</a:t>
            </a:r>
            <a:r>
              <a:rPr lang="en-US" altLang="zh-TW" sz="24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]</a:t>
            </a:r>
          </a:p>
          <a:p>
            <a:pPr marL="0" indent="0" defTabSz="914400">
              <a:lnSpc>
                <a:spcPct val="80000"/>
              </a:lnSpc>
              <a:spcBef>
                <a:spcPts val="0"/>
              </a:spcBef>
              <a:buNone/>
            </a:pPr>
            <a:r>
              <a:rPr lang="en-US" altLang="zh-TW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296862" y="1014048"/>
            <a:ext cx="851452" cy="3575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96862" y="3225338"/>
            <a:ext cx="851452" cy="3422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96862" y="4688378"/>
            <a:ext cx="851452" cy="34082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96862" y="5777346"/>
            <a:ext cx="851452" cy="35685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96862" y="2478413"/>
            <a:ext cx="851452" cy="3575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3" name="Rounded Rectangular Callout 2"/>
          <p:cNvSpPr/>
          <p:nvPr/>
        </p:nvSpPr>
        <p:spPr bwMode="auto">
          <a:xfrm>
            <a:off x="6797246" y="-108402"/>
            <a:ext cx="2643617" cy="2944368"/>
          </a:xfrm>
          <a:prstGeom prst="wedgeRoundRectCallout">
            <a:avLst>
              <a:gd name="adj1" fmla="val 18335"/>
              <a:gd name="adj2" fmla="val -8419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ts val="1200"/>
              </a:spcAft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cs typeface="Times New Roman" panose="02020603050405020304" pitchFamily="18" charset="0"/>
              </a:rPr>
              <a:t>The math module has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cs typeface="Times New Roman" panose="02020603050405020304" pitchFamily="18" charset="0"/>
              </a:rPr>
              <a:t> the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cs typeface="Times New Roman" panose="02020603050405020304" pitchFamily="18" charset="0"/>
              </a:rPr>
              <a:t> </a:t>
            </a:r>
            <a:r>
              <a:rPr lang="en-US" sz="2800" dirty="0">
                <a:cs typeface="Times New Roman" panose="02020603050405020304" pitchFamily="18" charset="0"/>
              </a:rPr>
              <a:t>"</a:t>
            </a:r>
            <a:r>
              <a:rPr lang="en-US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n!</a:t>
            </a:r>
            <a:r>
              <a:rPr lang="en-US" sz="2800" dirty="0">
                <a:cs typeface="Times New Roman" panose="02020603050405020304" pitchFamily="18" charset="0"/>
              </a:rPr>
              <a:t>" (</a:t>
            </a:r>
            <a:r>
              <a:rPr lang="en-US" sz="2800" dirty="0">
                <a:solidFill>
                  <a:schemeClr val="accent2"/>
                </a:solidFill>
                <a:cs typeface="Times New Roman" panose="02020603050405020304" pitchFamily="18" charset="0"/>
              </a:rPr>
              <a:t>f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cs typeface="Times New Roman" panose="02020603050405020304" pitchFamily="18" charset="0"/>
              </a:rPr>
              <a:t>actorial</a:t>
            </a:r>
            <a:b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cs typeface="Times New Roman" panose="02020603050405020304" pitchFamily="18" charset="0"/>
              </a:rPr>
            </a:br>
            <a:r>
              <a:rPr lang="zh-TW" altLang="en-US" sz="2800" dirty="0">
                <a:solidFill>
                  <a:schemeClr val="accent2"/>
                </a:solidFill>
                <a:cs typeface="Times New Roman" panose="02020603050405020304" pitchFamily="18" charset="0"/>
              </a:rPr>
              <a:t> 階乘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effectLst/>
                <a:cs typeface="Times New Roman" panose="02020603050405020304" pitchFamily="18" charset="0"/>
              </a:rPr>
              <a:t>) function</a:t>
            </a:r>
            <a:r>
              <a:rPr kumimoji="0" lang="en-US" sz="2800" b="0" i="0" u="none" strike="noStrike" cap="none" normalizeH="0" dirty="0">
                <a:ln>
                  <a:noFill/>
                </a:ln>
                <a:effectLst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8034231" y="304800"/>
            <a:ext cx="3406987" cy="2939846"/>
          </a:xfrm>
          <a:prstGeom prst="wedgeRoundRectCallout">
            <a:avLst>
              <a:gd name="adj1" fmla="val -23358"/>
              <a:gd name="adj2" fmla="val -8189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ts val="600"/>
              </a:spcAft>
            </a:pPr>
            <a:r>
              <a:rPr lang="en-US" sz="2800" baseline="0" dirty="0">
                <a:cs typeface="Times New Roman" panose="02020603050405020304" pitchFamily="18" charset="0"/>
              </a:rPr>
              <a:t>It also has </a:t>
            </a:r>
            <a:r>
              <a:rPr lang="en-US" sz="2800" dirty="0">
                <a:cs typeface="Times New Roman" panose="02020603050405020304" pitchFamily="18" charset="0"/>
              </a:rPr>
              <a:t>the "</a:t>
            </a:r>
            <a:r>
              <a:rPr 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</a:t>
            </a:r>
            <a:r>
              <a:rPr lang="en-US" sz="2800" dirty="0">
                <a:cs typeface="Times New Roman" panose="02020603050405020304" pitchFamily="18" charset="0"/>
              </a:rPr>
              <a:t>" </a:t>
            </a:r>
            <a:r>
              <a:rPr lang="el-GR" sz="2800" dirty="0"/>
              <a:t>(</a:t>
            </a:r>
            <a:r>
              <a:rPr lang="en-US" sz="2800" dirty="0">
                <a:solidFill>
                  <a:srgbClr val="006600"/>
                </a:solidFill>
              </a:rPr>
              <a:t>gamma</a:t>
            </a:r>
            <a:r>
              <a:rPr lang="en-US" sz="2800" dirty="0"/>
              <a:t>) function. </a:t>
            </a:r>
          </a:p>
          <a:p>
            <a:pPr algn="ctr" defTabSz="914400" fontAlgn="base">
              <a:spcBef>
                <a:spcPct val="0"/>
              </a:spcBef>
              <a:spcAft>
                <a:spcPts val="1200"/>
              </a:spcAft>
            </a:pPr>
            <a:r>
              <a:rPr lang="en-US" sz="2800" dirty="0"/>
              <a:t>This relates to factorial by the formula: </a:t>
            </a:r>
            <a:br>
              <a:rPr lang="en-US" sz="2800" dirty="0"/>
            </a:br>
            <a:r>
              <a:rPr lang="en-US" sz="2800" b="1" dirty="0">
                <a:solidFill>
                  <a:schemeClr val="accent6"/>
                </a:solidFill>
              </a:rPr>
              <a:t>n! = </a:t>
            </a:r>
            <a:r>
              <a:rPr lang="en-US" sz="2800" b="1" dirty="0">
                <a:solidFill>
                  <a:srgbClr val="006600"/>
                </a:solidFill>
                <a:sym typeface="Symbol" panose="05050102010706020507" pitchFamily="18" charset="2"/>
              </a:rPr>
              <a:t></a:t>
            </a:r>
            <a:r>
              <a:rPr lang="el-GR" sz="2800" b="1" dirty="0">
                <a:solidFill>
                  <a:schemeClr val="accent6"/>
                </a:solidFill>
              </a:rPr>
              <a:t>(</a:t>
            </a:r>
            <a:r>
              <a:rPr lang="en-US" sz="2800" b="1" dirty="0">
                <a:solidFill>
                  <a:schemeClr val="accent6"/>
                </a:solidFill>
              </a:rPr>
              <a:t>n + 1)</a:t>
            </a:r>
          </a:p>
        </p:txBody>
      </p:sp>
    </p:spTree>
    <p:extLst>
      <p:ext uri="{BB962C8B-B14F-4D97-AF65-F5344CB8AC3E}">
        <p14:creationId xmlns:p14="http://schemas.microsoft.com/office/powerpoint/2010/main" val="347926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3" grpId="0" animBg="1"/>
      <p:bldP spid="3" grpId="1" animBg="1"/>
      <p:bldP spid="13" grpId="0" animBg="1"/>
      <p:bldP spid="13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762000"/>
            <a:ext cx="8991600" cy="6096000"/>
          </a:xfrm>
        </p:spPr>
        <p:txBody>
          <a:bodyPr/>
          <a:lstStyle/>
          <a:p>
            <a:r>
              <a:rPr lang="en-US" sz="3200" dirty="0"/>
              <a:t>map() can be applied to more than one list. </a:t>
            </a:r>
          </a:p>
          <a:p>
            <a:pPr lvl="1"/>
            <a:r>
              <a:rPr lang="en-US" sz="3200" dirty="0"/>
              <a:t>The lists have to have the same length. </a:t>
            </a:r>
          </a:p>
          <a:p>
            <a:pPr lvl="1"/>
            <a:r>
              <a:rPr lang="en-US" sz="3200" dirty="0"/>
              <a:t>The meaning is f(</a:t>
            </a:r>
            <a:r>
              <a:rPr lang="en-US" sz="3200" dirty="0" err="1"/>
              <a:t>x,y</a:t>
            </a:r>
            <a:r>
              <a:rPr lang="en-US" sz="3200" dirty="0"/>
              <a:t>) or f(</a:t>
            </a:r>
            <a:r>
              <a:rPr lang="en-US" sz="3200" dirty="0" err="1"/>
              <a:t>x,y,z</a:t>
            </a:r>
            <a:r>
              <a:rPr lang="en-US" sz="3200" dirty="0"/>
              <a:t>), etc.</a:t>
            </a:r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a=[1,2,3]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dirty="0">
                <a:solidFill>
                  <a:srgbClr val="00B050"/>
                </a:solidFill>
                <a:latin typeface="Lucida Console" panose="020B0609040504020204" pitchFamily="49" charset="0"/>
              </a:rPr>
              <a:t>b=[10,20,30]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;</a:t>
            </a:r>
            <a:r>
              <a:rPr lang="en-US" sz="2400" dirty="0">
                <a:solidFill>
                  <a:srgbClr val="0070C0"/>
                </a:solidFill>
                <a:latin typeface="Lucida Console" panose="020B0609040504020204" pitchFamily="49" charset="0"/>
              </a:rPr>
              <a:t>c=[100,200,300]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list(map(lambda 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+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3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list(map(lambda 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+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+</a:t>
            </a:r>
            <a:r>
              <a:rPr lang="en-US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  <a:r>
              <a:rPr lang="en-US" sz="160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1</a:t>
            </a:r>
            <a:r>
              <a:rPr 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2</a:t>
            </a:r>
            <a:r>
              <a:rPr 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0070C0"/>
                </a:solidFill>
                <a:latin typeface="Lucida Console" panose="020B0609040504020204" pitchFamily="49" charset="0"/>
              </a:rPr>
              <a:t>3</a:t>
            </a:r>
            <a:r>
              <a:rPr lang="en-US" sz="2400" b="1" dirty="0">
                <a:solidFill>
                  <a:srgbClr val="00B050"/>
                </a:solidFill>
                <a:latin typeface="Lucida Console" panose="020B0609040504020204" pitchFamily="49" charset="0"/>
              </a:rPr>
              <a:t>3</a:t>
            </a:r>
            <a:r>
              <a:rPr lang="en-US" sz="2400" b="1" dirty="0">
                <a:solidFill>
                  <a:srgbClr val="FF0000"/>
                </a:solidFill>
                <a:latin typeface="Lucida Console" panose="020B0609040504020204" pitchFamily="49" charset="0"/>
              </a:rPr>
              <a:t>3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</a:t>
            </a:r>
            <a:r>
              <a:rPr lang="en-US" sz="240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list(map(lambda 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: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x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+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-</a:t>
            </a:r>
            <a:r>
              <a:rPr lang="en-US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z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a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b</a:t>
            </a:r>
            <a:r>
              <a:rPr lang="en-US" sz="24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sz="2400" dirty="0" err="1">
                <a:solidFill>
                  <a:srgbClr val="0070C0"/>
                </a:solidFill>
                <a:latin typeface="Lucida Console" panose="020B0609040504020204" pitchFamily="49" charset="0"/>
              </a:rPr>
              <a:t>c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))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[</a:t>
            </a:r>
            <a:r>
              <a:rPr 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-89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-178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, </a:t>
            </a:r>
            <a:r>
              <a:rPr lang="en-US" sz="2400" b="1" dirty="0">
                <a:solidFill>
                  <a:srgbClr val="7030A0"/>
                </a:solidFill>
                <a:latin typeface="Lucida Console" panose="020B0609040504020204" pitchFamily="49" charset="0"/>
              </a:rPr>
              <a:t>-267</a:t>
            </a:r>
            <a:r>
              <a:rPr lang="en-US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]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&gt;&gt;&gt;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0262" y="76200"/>
            <a:ext cx="8077200" cy="609600"/>
          </a:xfrm>
        </p:spPr>
        <p:txBody>
          <a:bodyPr/>
          <a:lstStyle/>
          <a:p>
            <a:r>
              <a:rPr lang="en-US" sz="4000" b="1" dirty="0"/>
              <a:t>A map/</a:t>
            </a:r>
            <a:r>
              <a:rPr lang="en-US" sz="4000" b="1" dirty="0" err="1"/>
              <a:t>lamda</a:t>
            </a:r>
            <a:r>
              <a:rPr lang="en-US" sz="4000" b="1" dirty="0"/>
              <a:t> multi-list example: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295636" y="2477729"/>
            <a:ext cx="1484004" cy="3372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57200" lvl="1" indent="0" defTabSz="914400">
              <a:buFontTx/>
              <a:buNone/>
            </a:pPr>
            <a:endParaRPr lang="en-US" sz="1800" kern="0" dirty="0"/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&gt;&gt;&gt;</a:t>
            </a: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&gt;&gt;&gt;</a:t>
            </a:r>
            <a:r>
              <a:rPr lang="en-US" sz="16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en-US" sz="16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endParaRPr 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  </a:t>
            </a: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 </a:t>
            </a: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 &gt;&gt;&gt;</a:t>
            </a:r>
            <a:r>
              <a:rPr lang="en-US" sz="16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</a:t>
            </a:r>
            <a:endParaRPr lang="en-US" sz="24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</a:t>
            </a:r>
            <a:r>
              <a:rPr lang="en-US" sz="2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</a:p>
          <a:p>
            <a:pPr marL="0" indent="0" defTabSz="914400">
              <a:spcBef>
                <a:spcPts val="0"/>
              </a:spcBef>
              <a:buFont typeface="Wingdings" pitchFamily="2" charset="2"/>
              <a:buNone/>
            </a:pPr>
            <a:r>
              <a:rPr lang="en-US" sz="24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101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r>
              <a:rPr lang="en-US" sz="4000" b="1" dirty="0"/>
              <a:t>Another map(</a:t>
            </a:r>
            <a:r>
              <a:rPr lang="en-US" sz="1200" b="1" dirty="0"/>
              <a:t> </a:t>
            </a:r>
            <a:r>
              <a:rPr lang="en-US" sz="4000" b="1" dirty="0"/>
              <a:t>) 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609600"/>
            <a:ext cx="8610600" cy="6248400"/>
          </a:xfrm>
        </p:spPr>
        <p:txBody>
          <a:bodyPr/>
          <a:lstStyle/>
          <a:p>
            <a:pPr marL="0" indent="0">
              <a:spcBef>
                <a:spcPts val="20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cat test.py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 err="1">
                <a:latin typeface="Lucida Console" panose="020B0609040504020204" pitchFamily="49" charset="0"/>
              </a:rPr>
              <a:t>def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fahrenheit</a:t>
            </a:r>
            <a:r>
              <a:rPr lang="en-US" dirty="0">
                <a:latin typeface="Lucida Console" panose="020B0609040504020204" pitchFamily="49" charset="0"/>
              </a:rPr>
              <a:t>(T): </a:t>
            </a:r>
            <a:r>
              <a:rPr lang="en-US" dirty="0">
                <a:solidFill>
                  <a:srgbClr val="FF99CC"/>
                </a:solidFill>
                <a:latin typeface="Lucida Console" panose="020B0609040504020204" pitchFamily="49" charset="0"/>
              </a:rPr>
              <a:t># (</a:t>
            </a:r>
            <a:r>
              <a:rPr lang="zh-TW" altLang="en-US" dirty="0">
                <a:solidFill>
                  <a:srgbClr val="FF99CC"/>
                </a:solidFill>
                <a:latin typeface="Lucida Console" panose="020B0609040504020204" pitchFamily="49" charset="0"/>
              </a:rPr>
              <a:t>華氏度</a:t>
            </a:r>
            <a:r>
              <a:rPr lang="en-US" altLang="zh-TW" dirty="0">
                <a:solidFill>
                  <a:srgbClr val="FF99CC"/>
                </a:solidFill>
                <a:latin typeface="Lucida Console" panose="020B0609040504020204" pitchFamily="49" charset="0"/>
              </a:rPr>
              <a:t>)</a:t>
            </a:r>
            <a:endParaRPr lang="en-US" dirty="0">
              <a:solidFill>
                <a:srgbClr val="FF99CC"/>
              </a:solidFill>
              <a:latin typeface="Lucida Console" panose="020B0609040504020204" pitchFamily="49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dirty="0">
                <a:latin typeface="Lucida Console" panose="020B0609040504020204" pitchFamily="49" charset="0"/>
              </a:rPr>
              <a:t>    return ((float(9)/5)*T + 32)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 err="1">
                <a:latin typeface="Lucida Console" panose="020B0609040504020204" pitchFamily="49" charset="0"/>
              </a:rPr>
              <a:t>def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dirty="0" err="1">
                <a:latin typeface="Lucida Console" panose="020B0609040504020204" pitchFamily="49" charset="0"/>
              </a:rPr>
              <a:t>celsius</a:t>
            </a:r>
            <a:r>
              <a:rPr lang="en-US" dirty="0">
                <a:latin typeface="Lucida Console" panose="020B0609040504020204" pitchFamily="49" charset="0"/>
              </a:rPr>
              <a:t>(T):    </a:t>
            </a:r>
            <a:r>
              <a:rPr lang="en-US" dirty="0">
                <a:solidFill>
                  <a:srgbClr val="FF99CC"/>
                </a:solidFill>
                <a:latin typeface="Lucida Console" panose="020B0609040504020204" pitchFamily="49" charset="0"/>
              </a:rPr>
              <a:t># (</a:t>
            </a:r>
            <a:r>
              <a:rPr lang="zh-TW" altLang="en-US" dirty="0">
                <a:solidFill>
                  <a:srgbClr val="FF99CC"/>
                </a:solidFill>
                <a:latin typeface="Lucida Console" panose="020B0609040504020204" pitchFamily="49" charset="0"/>
              </a:rPr>
              <a:t>攝氏溫度</a:t>
            </a:r>
            <a:r>
              <a:rPr lang="en-US" dirty="0">
                <a:solidFill>
                  <a:srgbClr val="FF99CC"/>
                </a:solidFill>
                <a:latin typeface="Lucida Console" panose="020B0609040504020204" pitchFamily="49" charset="0"/>
              </a:rPr>
              <a:t>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>
                <a:latin typeface="Lucida Console" panose="020B0609040504020204" pitchFamily="49" charset="0"/>
              </a:rPr>
              <a:t>    return (float(5)/9)*(T-32)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>
                <a:latin typeface="Lucida Console" panose="020B0609040504020204" pitchFamily="49" charset="0"/>
              </a:rPr>
              <a:t>temp = (36.5, 37, 37.5,39)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F = map(</a:t>
            </a:r>
            <a:r>
              <a:rPr lang="en-US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fahrenheit</a:t>
            </a: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, temp);       print(F)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339933"/>
                </a:solidFill>
                <a:latin typeface="Lucida Console" panose="020B0609040504020204" pitchFamily="49" charset="0"/>
              </a:rPr>
              <a:t>F = list(F);                     print(F)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66CCFF"/>
                </a:solidFill>
                <a:latin typeface="Lucida Console" panose="020B0609040504020204" pitchFamily="49" charset="0"/>
              </a:rPr>
              <a:t>C = list(map(</a:t>
            </a:r>
            <a:r>
              <a:rPr lang="en-US" b="1" dirty="0" err="1">
                <a:solidFill>
                  <a:srgbClr val="66CCFF"/>
                </a:solidFill>
                <a:latin typeface="Lucida Console" panose="020B0609040504020204" pitchFamily="49" charset="0"/>
              </a:rPr>
              <a:t>celsius</a:t>
            </a:r>
            <a:r>
              <a:rPr lang="en-US" b="1" dirty="0">
                <a:solidFill>
                  <a:srgbClr val="66CCFF"/>
                </a:solidFill>
                <a:latin typeface="Lucida Console" panose="020B0609040504020204" pitchFamily="49" charset="0"/>
              </a:rPr>
              <a:t>, F));       print(C)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python3 test.py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FF0000"/>
                </a:solidFill>
                <a:latin typeface="Lucida Console" panose="020B0609040504020204" pitchFamily="49" charset="0"/>
              </a:rPr>
              <a:t>&lt;map object at 0x6ffffc8be48&gt;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339933"/>
                </a:solidFill>
                <a:latin typeface="Lucida Console" panose="020B0609040504020204" pitchFamily="49" charset="0"/>
              </a:rPr>
              <a:t>[97.7, 98.60000000000001, 99.5, 102.2]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b="1" dirty="0">
                <a:solidFill>
                  <a:srgbClr val="66CCFF"/>
                </a:solidFill>
                <a:latin typeface="Lucida Console" panose="020B0609040504020204" pitchFamily="49" charset="0"/>
              </a:rPr>
              <a:t>[36.5, 37.00000000000001, 37.5, 39.0]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320756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2" y="0"/>
            <a:ext cx="8077200" cy="762000"/>
          </a:xfrm>
        </p:spPr>
        <p:txBody>
          <a:bodyPr/>
          <a:lstStyle/>
          <a:p>
            <a:r>
              <a:rPr lang="en-US" sz="4000" b="1" dirty="0"/>
              <a:t>A map(</a:t>
            </a:r>
            <a:r>
              <a:rPr lang="en-US" sz="1200" b="1" dirty="0"/>
              <a:t> </a:t>
            </a:r>
            <a:r>
              <a:rPr lang="en-US" sz="4000" b="1" dirty="0"/>
              <a:t>) example with lambda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1" y="914400"/>
            <a:ext cx="8920463" cy="57912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By using lambda, we wouldn't have had to create the functions </a:t>
            </a:r>
            <a:r>
              <a:rPr lang="en-US" sz="3200" dirty="0" err="1"/>
              <a:t>fahrenheit</a:t>
            </a:r>
            <a:r>
              <a:rPr lang="en-US" sz="3200" dirty="0"/>
              <a:t>() and </a:t>
            </a:r>
            <a:r>
              <a:rPr lang="en-US" sz="3200" dirty="0" err="1"/>
              <a:t>celsius</a:t>
            </a:r>
            <a:r>
              <a:rPr lang="en-US" sz="3200" dirty="0"/>
              <a:t>() 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c = [39.2, 36.5, 37.3, 37.8]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f = map(lambda x:(float(9)/5)*x+ 32,c)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f=[*f]; f</a:t>
            </a:r>
          </a:p>
          <a:p>
            <a:pPr marL="0" indent="0">
              <a:buNone/>
            </a:pPr>
            <a:r>
              <a:rPr lang="en-US" dirty="0">
                <a:solidFill>
                  <a:srgbClr val="2D2DB9"/>
                </a:solidFill>
                <a:latin typeface="Lucida Console" panose="020B0609040504020204" pitchFamily="49" charset="0"/>
              </a:rPr>
              <a:t>[102.56, 97.7, 99.14, 100.03999999999999]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c2= map(lambda x:(float(5)/9)*(x-32),f)</a:t>
            </a:r>
            <a:b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 [*c2]</a:t>
            </a:r>
          </a:p>
          <a:p>
            <a:pPr marL="0" indent="0">
              <a:buNone/>
            </a:pPr>
            <a:r>
              <a:rPr lang="en-US" dirty="0">
                <a:solidFill>
                  <a:srgbClr val="2D2DB9"/>
                </a:solidFill>
                <a:latin typeface="Lucida Console" panose="020B0609040504020204" pitchFamily="49" charset="0"/>
              </a:rPr>
              <a:t>[39.2, 36.5, 37.300000000000004, 37.8]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 </a:t>
            </a:r>
          </a:p>
        </p:txBody>
      </p:sp>
      <p:sp>
        <p:nvSpPr>
          <p:cNvPr id="4" name="Rectangle 3"/>
          <p:cNvSpPr/>
          <p:nvPr/>
        </p:nvSpPr>
        <p:spPr>
          <a:xfrm>
            <a:off x="529154" y="2918987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/>
          </a:p>
        </p:txBody>
      </p:sp>
      <p:sp>
        <p:nvSpPr>
          <p:cNvPr id="5" name="Rectangle 4"/>
          <p:cNvSpPr/>
          <p:nvPr/>
        </p:nvSpPr>
        <p:spPr>
          <a:xfrm>
            <a:off x="529154" y="4320457"/>
            <a:ext cx="78579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chemeClr val="bg1">
                    <a:lumMod val="50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0126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-1524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kern="0" dirty="0"/>
              <a:t>Different types of programming languages: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96862" y="533400"/>
            <a:ext cx="91440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87000"/>
              </a:lnSpc>
              <a:spcBef>
                <a:spcPts val="600"/>
              </a:spcBef>
            </a:pPr>
            <a:r>
              <a:rPr lang="en-US" altLang="zh-TW" spc="40" dirty="0">
                <a:solidFill>
                  <a:srgbClr val="3333CC"/>
                </a:solidFill>
              </a:rPr>
              <a:t>Procedural languages</a:t>
            </a:r>
            <a:r>
              <a:rPr lang="en-US" altLang="zh-TW" spc="40" dirty="0"/>
              <a:t> like </a:t>
            </a:r>
            <a:r>
              <a:rPr lang="en-US" altLang="zh-TW" b="1" spc="40" dirty="0">
                <a:solidFill>
                  <a:srgbClr val="3333CC"/>
                </a:solidFill>
              </a:rPr>
              <a:t>C</a:t>
            </a:r>
            <a:r>
              <a:rPr lang="en-US" altLang="zh-TW" spc="40" dirty="0"/>
              <a:t> </a:t>
            </a:r>
            <a:r>
              <a:rPr lang="en-US" altLang="zh-TW" spc="40" dirty="0">
                <a:solidFill>
                  <a:srgbClr val="FFFFFF"/>
                </a:solidFill>
              </a:rPr>
              <a:t>let their functions/procedure have side effects (</a:t>
            </a:r>
            <a:r>
              <a:rPr lang="en-US" altLang="zh-TW" spc="40" dirty="0" err="1">
                <a:solidFill>
                  <a:srgbClr val="FFFFFF"/>
                </a:solidFill>
              </a:rPr>
              <a:t>eg</a:t>
            </a:r>
            <a:r>
              <a:rPr lang="en-US" altLang="zh-TW" spc="40" dirty="0">
                <a:solidFill>
                  <a:srgbClr val="FFFFFF"/>
                </a:solidFill>
              </a:rPr>
              <a:t>, printing inside a function).</a:t>
            </a:r>
          </a:p>
          <a:p>
            <a:pPr defTabSz="914400">
              <a:lnSpc>
                <a:spcPct val="87000"/>
              </a:lnSpc>
              <a:spcBef>
                <a:spcPts val="1200"/>
              </a:spcBef>
            </a:pPr>
            <a:r>
              <a:rPr lang="en-US" altLang="zh-TW" spc="50" dirty="0">
                <a:solidFill>
                  <a:srgbClr val="3333CC"/>
                </a:solidFill>
              </a:rPr>
              <a:t>Declarative languages</a:t>
            </a:r>
            <a:r>
              <a:rPr lang="en-US" altLang="zh-TW" spc="50" dirty="0"/>
              <a:t> </a:t>
            </a:r>
            <a:r>
              <a:rPr lang="en-US" altLang="zh-TW" spc="120" dirty="0"/>
              <a:t>li</a:t>
            </a:r>
            <a:r>
              <a:rPr lang="en-US" altLang="zh-TW" spc="50" dirty="0"/>
              <a:t>ke </a:t>
            </a:r>
            <a:r>
              <a:rPr lang="en-US" altLang="zh-TW" b="1" spc="50" dirty="0">
                <a:solidFill>
                  <a:srgbClr val="3333CC"/>
                </a:solidFill>
              </a:rPr>
              <a:t>SQL</a:t>
            </a:r>
            <a:r>
              <a:rPr lang="en-US" altLang="zh-TW" spc="50" dirty="0"/>
              <a:t> </a:t>
            </a:r>
            <a:r>
              <a:rPr lang="en-US" altLang="zh-TW" spc="70" dirty="0">
                <a:solidFill>
                  <a:schemeClr val="bg1"/>
                </a:solidFill>
              </a:rPr>
              <a:t>a</a:t>
            </a:r>
            <a:r>
              <a:rPr lang="en-US" altLang="zh-TW" spc="100" dirty="0">
                <a:solidFill>
                  <a:schemeClr val="bg1"/>
                </a:solidFill>
              </a:rPr>
              <a:t>r</a:t>
            </a:r>
            <a:r>
              <a:rPr lang="en-US" altLang="zh-TW" spc="50" dirty="0">
                <a:solidFill>
                  <a:schemeClr val="bg1"/>
                </a:solidFill>
              </a:rPr>
              <a:t>e used for </a:t>
            </a:r>
            <a:r>
              <a:rPr lang="en-US" altLang="zh-TW" spc="60" dirty="0">
                <a:solidFill>
                  <a:schemeClr val="bg1"/>
                </a:solidFill>
              </a:rPr>
              <a:t>database</a:t>
            </a:r>
            <a:r>
              <a:rPr lang="en-US" altLang="zh-TW" spc="50" dirty="0">
                <a:solidFill>
                  <a:schemeClr val="bg1"/>
                </a:solidFill>
              </a:rPr>
              <a:t>s</a:t>
            </a:r>
            <a:r>
              <a:rPr lang="en-US" altLang="zh-TW" spc="50" dirty="0">
                <a:solidFill>
                  <a:srgbClr val="FFFFFF"/>
                </a:solidFill>
              </a:rPr>
              <a:t>. </a:t>
            </a:r>
            <a:r>
              <a:rPr lang="en-US" altLang="zh-TW" spc="40" dirty="0">
                <a:solidFill>
                  <a:srgbClr val="FFFFFF"/>
                </a:solidFill>
              </a:rPr>
              <a:t>You write a description of the problem to be solved, and </a:t>
            </a:r>
            <a:r>
              <a:rPr lang="en-US" altLang="zh-TW" dirty="0">
                <a:solidFill>
                  <a:srgbClr val="FFFFFF"/>
                </a:solidFill>
              </a:rPr>
              <a:t>the computer figures out how to perform the </a:t>
            </a:r>
            <a:r>
              <a:rPr lang="en-US" altLang="zh-TW" spc="40" dirty="0">
                <a:solidFill>
                  <a:srgbClr val="FFFFFF"/>
                </a:solidFill>
              </a:rPr>
              <a:t>computation.</a:t>
            </a:r>
          </a:p>
          <a:p>
            <a:pPr defTabSz="914400">
              <a:lnSpc>
                <a:spcPct val="87000"/>
              </a:lnSpc>
              <a:spcBef>
                <a:spcPts val="1200"/>
              </a:spcBef>
            </a:pPr>
            <a:r>
              <a:rPr lang="en-US" altLang="zh-TW" spc="10" dirty="0">
                <a:solidFill>
                  <a:srgbClr val="3333CC"/>
                </a:solidFill>
              </a:rPr>
              <a:t>Object-oriented</a:t>
            </a:r>
            <a:r>
              <a:rPr lang="en-US" altLang="zh-TW" sz="2000" spc="10" dirty="0">
                <a:solidFill>
                  <a:srgbClr val="3333CC"/>
                </a:solidFill>
              </a:rPr>
              <a:t> </a:t>
            </a:r>
            <a:r>
              <a:rPr lang="en-US" altLang="zh-TW" spc="10" dirty="0">
                <a:solidFill>
                  <a:srgbClr val="3333CC"/>
                </a:solidFill>
              </a:rPr>
              <a:t>languages</a:t>
            </a:r>
            <a:r>
              <a:rPr lang="en-US" altLang="zh-TW" sz="2000" spc="10" dirty="0"/>
              <a:t> </a:t>
            </a:r>
            <a:r>
              <a:rPr lang="en-US" altLang="zh-TW" spc="10" dirty="0"/>
              <a:t>like</a:t>
            </a:r>
            <a:r>
              <a:rPr lang="en-US" altLang="zh-TW" sz="2000" spc="10" dirty="0"/>
              <a:t> </a:t>
            </a:r>
            <a:r>
              <a:rPr lang="en-US" altLang="zh-TW" b="1" spc="10" dirty="0">
                <a:solidFill>
                  <a:srgbClr val="3333CC"/>
                </a:solidFill>
              </a:rPr>
              <a:t>Java</a:t>
            </a:r>
            <a:r>
              <a:rPr lang="en-US" altLang="zh-TW" sz="2000" spc="10" dirty="0"/>
              <a:t> </a:t>
            </a:r>
            <a:r>
              <a:rPr lang="en-US" altLang="zh-TW" spc="10" dirty="0">
                <a:solidFill>
                  <a:srgbClr val="FFFFFF"/>
                </a:solidFill>
              </a:rPr>
              <a:t>manipulate</a:t>
            </a:r>
            <a:r>
              <a:rPr lang="en-US" altLang="zh-TW" sz="2000" spc="10" dirty="0">
                <a:solidFill>
                  <a:srgbClr val="FFFFFF"/>
                </a:solidFill>
              </a:rPr>
              <a:t> </a:t>
            </a:r>
            <a:r>
              <a:rPr lang="en-US" altLang="zh-TW" spc="10" dirty="0">
                <a:solidFill>
                  <a:srgbClr val="FFFFFF"/>
                </a:solidFill>
              </a:rPr>
              <a:t>collections </a:t>
            </a:r>
            <a:r>
              <a:rPr lang="en-US" altLang="zh-TW" spc="40" dirty="0">
                <a:solidFill>
                  <a:srgbClr val="FFFFFF"/>
                </a:solidFill>
              </a:rPr>
              <a:t>of objects. Objects have an internal state with methods that query or modify this state. </a:t>
            </a:r>
            <a:br>
              <a:rPr lang="en-US" altLang="zh-TW" spc="40" dirty="0">
                <a:solidFill>
                  <a:srgbClr val="FFFFFF"/>
                </a:solidFill>
              </a:rPr>
            </a:br>
            <a:r>
              <a:rPr lang="en-US" altLang="zh-TW" b="1" spc="40" dirty="0">
                <a:solidFill>
                  <a:srgbClr val="FFFFFF"/>
                </a:solidFill>
              </a:rPr>
              <a:t>C++</a:t>
            </a:r>
            <a:r>
              <a:rPr lang="en-US" altLang="zh-TW" spc="40" dirty="0">
                <a:solidFill>
                  <a:srgbClr val="FFFFFF"/>
                </a:solidFill>
              </a:rPr>
              <a:t> and </a:t>
            </a:r>
            <a:r>
              <a:rPr lang="en-US" altLang="zh-TW" b="1" spc="40" dirty="0">
                <a:solidFill>
                  <a:srgbClr val="FFFFFF"/>
                </a:solidFill>
              </a:rPr>
              <a:t>Python</a:t>
            </a:r>
            <a:r>
              <a:rPr lang="en-US" altLang="zh-TW" spc="40" dirty="0">
                <a:solidFill>
                  <a:srgbClr val="FFFFFF"/>
                </a:solidFill>
              </a:rPr>
              <a:t> are languages that </a:t>
            </a:r>
            <a:r>
              <a:rPr lang="en-US" altLang="zh-TW" b="1" spc="40" dirty="0">
                <a:solidFill>
                  <a:srgbClr val="FFFFFF"/>
                </a:solidFill>
              </a:rPr>
              <a:t>support OOP</a:t>
            </a:r>
            <a:r>
              <a:rPr lang="en-US" altLang="zh-TW" spc="40" dirty="0">
                <a:solidFill>
                  <a:srgbClr val="FFFFFF"/>
                </a:solidFill>
              </a:rPr>
              <a:t>, </a:t>
            </a:r>
            <a:r>
              <a:rPr lang="en-US" altLang="zh-TW" b="1" spc="40" dirty="0">
                <a:solidFill>
                  <a:srgbClr val="FFFFFF"/>
                </a:solidFill>
              </a:rPr>
              <a:t>but don’t force the use</a:t>
            </a:r>
            <a:r>
              <a:rPr lang="en-US" altLang="zh-TW" spc="40" dirty="0">
                <a:solidFill>
                  <a:srgbClr val="FFFFFF"/>
                </a:solidFill>
              </a:rPr>
              <a:t> of object-oriented features.</a:t>
            </a:r>
          </a:p>
          <a:p>
            <a:pPr defTabSz="914400">
              <a:lnSpc>
                <a:spcPct val="87000"/>
              </a:lnSpc>
              <a:spcBef>
                <a:spcPts val="1200"/>
              </a:spcBef>
            </a:pPr>
            <a:r>
              <a:rPr lang="en-US" altLang="zh-TW" dirty="0">
                <a:solidFill>
                  <a:srgbClr val="000000"/>
                </a:solidFill>
              </a:rPr>
              <a:t>In </a:t>
            </a:r>
            <a:r>
              <a:rPr lang="en-US" altLang="zh-TW" dirty="0">
                <a:solidFill>
                  <a:srgbClr val="3333CC"/>
                </a:solidFill>
              </a:rPr>
              <a:t>functional programming languages</a:t>
            </a:r>
            <a:r>
              <a:rPr lang="en-US" altLang="zh-TW" dirty="0"/>
              <a:t> like </a:t>
            </a:r>
            <a:r>
              <a:rPr lang="en-US" altLang="zh-TW" b="1" dirty="0">
                <a:solidFill>
                  <a:srgbClr val="3333CC"/>
                </a:solidFill>
              </a:rPr>
              <a:t>ML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FFFFFF"/>
                </a:solidFill>
              </a:rPr>
              <a:t>everything is </a:t>
            </a:r>
            <a:r>
              <a:rPr lang="en-US" altLang="zh-TW" spc="-10" dirty="0">
                <a:solidFill>
                  <a:srgbClr val="FFFFFF"/>
                </a:solidFill>
              </a:rPr>
              <a:t>a function </a:t>
            </a:r>
            <a:r>
              <a:rPr lang="en-US" altLang="zh-TW" spc="40" dirty="0" err="1">
                <a:solidFill>
                  <a:srgbClr val="FFFFFF"/>
                </a:solidFill>
              </a:rPr>
              <a:t>Function</a:t>
            </a:r>
            <a:r>
              <a:rPr lang="en-US" altLang="zh-TW" spc="40" dirty="0">
                <a:solidFill>
                  <a:srgbClr val="FFFFFF"/>
                </a:solidFill>
              </a:rPr>
              <a:t> bodies have only a return statement with no side effects. Computation is achieved by nesting calls of calls of calls of functions.</a:t>
            </a:r>
            <a:br>
              <a:rPr lang="en-US" altLang="zh-TW" spc="40" dirty="0">
                <a:solidFill>
                  <a:srgbClr val="FFFFFF"/>
                </a:solidFill>
              </a:rPr>
            </a:br>
            <a:r>
              <a:rPr lang="en-US" altLang="zh-TW" spc="40" dirty="0">
                <a:solidFill>
                  <a:srgbClr val="FFFFFF"/>
                </a:solidFill>
              </a:rPr>
              <a:t>In </a:t>
            </a:r>
            <a:r>
              <a:rPr lang="en-US" altLang="zh-TW" b="1" spc="40" dirty="0">
                <a:solidFill>
                  <a:srgbClr val="FFFFFF"/>
                </a:solidFill>
              </a:rPr>
              <a:t>Python</a:t>
            </a:r>
            <a:r>
              <a:rPr lang="en-US" altLang="zh-TW" spc="40" dirty="0">
                <a:solidFill>
                  <a:srgbClr val="FFFFFF"/>
                </a:solidFill>
              </a:rPr>
              <a:t> everything is an object, even functions. So, in </a:t>
            </a:r>
            <a:r>
              <a:rPr lang="en-US" altLang="zh-TW" dirty="0">
                <a:solidFill>
                  <a:srgbClr val="FFFFFF"/>
                </a:solidFill>
              </a:rPr>
              <a:t>many cases, most things can be functions. Python doesn’t </a:t>
            </a:r>
            <a:r>
              <a:rPr lang="en-US" altLang="zh-TW" spc="40" dirty="0">
                <a:solidFill>
                  <a:srgbClr val="FFFFFF"/>
                </a:solidFill>
              </a:rPr>
              <a:t>require functional programming, but it </a:t>
            </a:r>
            <a:r>
              <a:rPr lang="en-US" altLang="zh-TW" b="1" spc="40" dirty="0">
                <a:solidFill>
                  <a:srgbClr val="FFFFFF"/>
                </a:solidFill>
              </a:rPr>
              <a:t>supports its use</a:t>
            </a:r>
            <a:r>
              <a:rPr lang="en-US" altLang="zh-TW" spc="40" dirty="0">
                <a:solidFill>
                  <a:srgbClr val="FFFFFF"/>
                </a:solidFill>
              </a:rPr>
              <a:t>.</a:t>
            </a:r>
          </a:p>
          <a:p>
            <a:pPr defTabSz="914400">
              <a:lnSpc>
                <a:spcPct val="90000"/>
              </a:lnSpc>
              <a:spcBef>
                <a:spcPts val="1200"/>
              </a:spcBef>
            </a:pPr>
            <a:endParaRPr lang="en-GB" altLang="en-US" sz="2800" kern="0" spc="40" dirty="0">
              <a:solidFill>
                <a:srgbClr val="FFFFFF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96862" y="533400"/>
            <a:ext cx="9144000" cy="632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87000"/>
              </a:lnSpc>
              <a:spcBef>
                <a:spcPts val="600"/>
              </a:spcBef>
            </a:pPr>
            <a:r>
              <a:rPr lang="en-US" altLang="zh-TW" spc="40" dirty="0">
                <a:solidFill>
                  <a:srgbClr val="3333CC"/>
                </a:solidFill>
              </a:rPr>
              <a:t>Procedural languages</a:t>
            </a:r>
            <a:r>
              <a:rPr lang="en-US" altLang="zh-TW" spc="40" dirty="0"/>
              <a:t> like </a:t>
            </a:r>
            <a:r>
              <a:rPr lang="en-US" altLang="zh-TW" b="1" spc="40" dirty="0">
                <a:solidFill>
                  <a:srgbClr val="3333CC"/>
                </a:solidFill>
              </a:rPr>
              <a:t>C</a:t>
            </a:r>
            <a:r>
              <a:rPr lang="en-US" altLang="zh-TW" spc="40" dirty="0"/>
              <a:t> let their functions/procedure have </a:t>
            </a:r>
            <a:r>
              <a:rPr lang="en-US" altLang="zh-TW" spc="40" dirty="0">
                <a:solidFill>
                  <a:srgbClr val="FF0000"/>
                </a:solidFill>
              </a:rPr>
              <a:t>side effects</a:t>
            </a:r>
            <a:r>
              <a:rPr lang="en-US" altLang="zh-TW" spc="40" dirty="0"/>
              <a:t> (</a:t>
            </a:r>
            <a:r>
              <a:rPr lang="en-US" altLang="zh-TW" spc="40" dirty="0" err="1"/>
              <a:t>eg</a:t>
            </a:r>
            <a:r>
              <a:rPr lang="en-US" altLang="zh-TW" spc="40" dirty="0"/>
              <a:t>, printing inside a “function”).</a:t>
            </a:r>
          </a:p>
          <a:p>
            <a:pPr defTabSz="914400">
              <a:lnSpc>
                <a:spcPct val="87000"/>
              </a:lnSpc>
              <a:spcBef>
                <a:spcPts val="1200"/>
              </a:spcBef>
            </a:pPr>
            <a:r>
              <a:rPr lang="en-US" altLang="zh-TW" spc="50" dirty="0">
                <a:solidFill>
                  <a:srgbClr val="3333CC"/>
                </a:solidFill>
              </a:rPr>
              <a:t>Declarative languages</a:t>
            </a:r>
            <a:r>
              <a:rPr lang="en-US" altLang="zh-TW" spc="50" dirty="0"/>
              <a:t> </a:t>
            </a:r>
            <a:r>
              <a:rPr lang="en-US" altLang="zh-TW" spc="120" dirty="0"/>
              <a:t>li</a:t>
            </a:r>
            <a:r>
              <a:rPr lang="en-US" altLang="zh-TW" spc="50" dirty="0"/>
              <a:t>ke </a:t>
            </a:r>
            <a:r>
              <a:rPr lang="en-US" altLang="zh-TW" b="1" spc="50" dirty="0">
                <a:solidFill>
                  <a:srgbClr val="3333CC"/>
                </a:solidFill>
              </a:rPr>
              <a:t>SQL</a:t>
            </a:r>
            <a:r>
              <a:rPr lang="en-US" altLang="zh-TW" spc="50" dirty="0"/>
              <a:t> </a:t>
            </a:r>
            <a:r>
              <a:rPr lang="en-US" altLang="zh-TW" spc="70" dirty="0"/>
              <a:t>a</a:t>
            </a:r>
            <a:r>
              <a:rPr lang="en-US" altLang="zh-TW" spc="100" dirty="0"/>
              <a:t>r</a:t>
            </a:r>
            <a:r>
              <a:rPr lang="en-US" altLang="zh-TW" spc="50" dirty="0"/>
              <a:t>e used for </a:t>
            </a:r>
            <a:r>
              <a:rPr lang="en-US" altLang="zh-TW" spc="60" dirty="0">
                <a:solidFill>
                  <a:srgbClr val="FF0000"/>
                </a:solidFill>
              </a:rPr>
              <a:t>database</a:t>
            </a:r>
            <a:r>
              <a:rPr lang="en-US" altLang="zh-TW" spc="50" dirty="0">
                <a:solidFill>
                  <a:srgbClr val="FF0000"/>
                </a:solidFill>
              </a:rPr>
              <a:t>s</a:t>
            </a:r>
            <a:r>
              <a:rPr lang="en-US" altLang="zh-TW" spc="50" dirty="0"/>
              <a:t>. You </a:t>
            </a:r>
            <a:r>
              <a:rPr lang="en-US" altLang="zh-TW" spc="60" dirty="0"/>
              <a:t>write</a:t>
            </a:r>
            <a:r>
              <a:rPr lang="en-US" altLang="zh-TW" spc="50" dirty="0"/>
              <a:t> a des</a:t>
            </a:r>
            <a:r>
              <a:rPr lang="en-US" altLang="zh-TW" spc="120" dirty="0"/>
              <a:t>c</a:t>
            </a:r>
            <a:r>
              <a:rPr lang="en-US" altLang="zh-TW" spc="150" dirty="0"/>
              <a:t>r</a:t>
            </a:r>
            <a:r>
              <a:rPr lang="en-US" altLang="zh-TW" spc="50" dirty="0"/>
              <a:t>ip</a:t>
            </a:r>
            <a:r>
              <a:rPr lang="en-US" altLang="zh-TW" spc="200" dirty="0"/>
              <a:t>t</a:t>
            </a:r>
            <a:r>
              <a:rPr lang="en-US" altLang="zh-TW" spc="50" dirty="0"/>
              <a:t>ion of </a:t>
            </a:r>
            <a:r>
              <a:rPr lang="en-US" altLang="zh-TW" spc="120" dirty="0"/>
              <a:t>t</a:t>
            </a:r>
            <a:r>
              <a:rPr lang="en-US" altLang="zh-TW" spc="50" dirty="0"/>
              <a:t>he problem </a:t>
            </a:r>
            <a:r>
              <a:rPr lang="en-US" altLang="zh-TW" spc="120" dirty="0"/>
              <a:t>t</a:t>
            </a:r>
            <a:r>
              <a:rPr lang="en-US" altLang="zh-TW" spc="50" dirty="0"/>
              <a:t>o be solved, and </a:t>
            </a:r>
            <a:r>
              <a:rPr lang="en-US" altLang="zh-TW" spc="100" dirty="0"/>
              <a:t>t</a:t>
            </a:r>
            <a:r>
              <a:rPr lang="en-US" altLang="zh-TW" dirty="0"/>
              <a:t>he computer figures out how to perform </a:t>
            </a:r>
            <a:r>
              <a:rPr lang="en-US" altLang="zh-TW" spc="100" dirty="0"/>
              <a:t>t</a:t>
            </a:r>
            <a:r>
              <a:rPr lang="en-US" altLang="zh-TW" dirty="0"/>
              <a:t>he computation.</a:t>
            </a:r>
          </a:p>
          <a:p>
            <a:pPr defTabSz="914400">
              <a:lnSpc>
                <a:spcPct val="87000"/>
              </a:lnSpc>
              <a:spcBef>
                <a:spcPts val="1200"/>
              </a:spcBef>
            </a:pPr>
            <a:r>
              <a:rPr lang="en-US" altLang="zh-TW" spc="10" dirty="0">
                <a:solidFill>
                  <a:srgbClr val="3333CC"/>
                </a:solidFill>
              </a:rPr>
              <a:t>Object-oriented</a:t>
            </a:r>
            <a:r>
              <a:rPr lang="en-US" altLang="zh-TW" sz="2000" spc="10" dirty="0">
                <a:solidFill>
                  <a:srgbClr val="3333CC"/>
                </a:solidFill>
              </a:rPr>
              <a:t> </a:t>
            </a:r>
            <a:r>
              <a:rPr lang="en-US" altLang="zh-TW" spc="10" dirty="0">
                <a:solidFill>
                  <a:srgbClr val="3333CC"/>
                </a:solidFill>
              </a:rPr>
              <a:t>languages</a:t>
            </a:r>
            <a:r>
              <a:rPr lang="en-US" altLang="zh-TW" sz="2000" spc="10" dirty="0"/>
              <a:t> </a:t>
            </a:r>
            <a:r>
              <a:rPr lang="en-US" altLang="zh-TW" spc="10" dirty="0"/>
              <a:t>like</a:t>
            </a:r>
            <a:r>
              <a:rPr lang="en-US" altLang="zh-TW" sz="2000" spc="10" dirty="0"/>
              <a:t> </a:t>
            </a:r>
            <a:r>
              <a:rPr lang="en-US" altLang="zh-TW" b="1" spc="10" dirty="0">
                <a:solidFill>
                  <a:srgbClr val="3333CC"/>
                </a:solidFill>
              </a:rPr>
              <a:t>Java</a:t>
            </a:r>
            <a:r>
              <a:rPr lang="en-US" altLang="zh-TW" sz="2000" spc="10" dirty="0"/>
              <a:t> </a:t>
            </a:r>
            <a:r>
              <a:rPr lang="en-US" altLang="zh-TW" spc="10" dirty="0"/>
              <a:t>manipulate</a:t>
            </a:r>
            <a:r>
              <a:rPr lang="en-US" altLang="zh-TW" sz="2000" spc="10" dirty="0"/>
              <a:t> </a:t>
            </a:r>
            <a:r>
              <a:rPr lang="en-US" altLang="zh-TW" spc="10" dirty="0"/>
              <a:t>collections</a:t>
            </a:r>
            <a:r>
              <a:rPr lang="en-US" altLang="zh-TW" spc="40" dirty="0"/>
              <a:t> </a:t>
            </a:r>
            <a:r>
              <a:rPr lang="en-US" altLang="zh-TW" spc="-10" dirty="0"/>
              <a:t>of </a:t>
            </a:r>
            <a:r>
              <a:rPr lang="en-US" altLang="zh-TW" spc="-10" dirty="0">
                <a:solidFill>
                  <a:srgbClr val="FF0000"/>
                </a:solidFill>
              </a:rPr>
              <a:t>objects</a:t>
            </a:r>
            <a:r>
              <a:rPr lang="en-US" altLang="zh-TW" spc="-10" dirty="0"/>
              <a:t>. Objects have an internal state with methods that </a:t>
            </a:r>
            <a:r>
              <a:rPr lang="en-US" altLang="zh-TW" spc="40" dirty="0"/>
              <a:t>query or modify this state. </a:t>
            </a:r>
            <a:br>
              <a:rPr lang="en-US" altLang="zh-TW" spc="40" dirty="0"/>
            </a:br>
            <a:r>
              <a:rPr lang="en-US" altLang="zh-TW" b="1" spc="60" dirty="0">
                <a:solidFill>
                  <a:srgbClr val="CC3399"/>
                </a:solidFill>
              </a:rPr>
              <a:t>C++</a:t>
            </a:r>
            <a:r>
              <a:rPr lang="en-US" altLang="zh-TW" spc="60" dirty="0"/>
              <a:t> and </a:t>
            </a:r>
            <a:r>
              <a:rPr lang="en-US" altLang="zh-TW" b="1" spc="90" dirty="0">
                <a:solidFill>
                  <a:srgbClr val="CC3399"/>
                </a:solidFill>
              </a:rPr>
              <a:t>Py</a:t>
            </a:r>
            <a:r>
              <a:rPr lang="en-US" altLang="zh-TW" b="1" spc="180" dirty="0">
                <a:solidFill>
                  <a:srgbClr val="CC3399"/>
                </a:solidFill>
              </a:rPr>
              <a:t>t</a:t>
            </a:r>
            <a:r>
              <a:rPr lang="en-US" altLang="zh-TW" b="1" spc="60" dirty="0">
                <a:solidFill>
                  <a:srgbClr val="CC3399"/>
                </a:solidFill>
              </a:rPr>
              <a:t>hon</a:t>
            </a:r>
            <a:r>
              <a:rPr lang="en-US" altLang="zh-TW" spc="60" dirty="0"/>
              <a:t> are languages that </a:t>
            </a:r>
            <a:r>
              <a:rPr lang="en-US" altLang="zh-TW" b="1" spc="60" dirty="0">
                <a:solidFill>
                  <a:srgbClr val="CC3399"/>
                </a:solidFill>
              </a:rPr>
              <a:t>support OOP</a:t>
            </a:r>
            <a:r>
              <a:rPr lang="en-US" altLang="zh-TW" spc="60" dirty="0"/>
              <a:t>, </a:t>
            </a:r>
            <a:r>
              <a:rPr lang="en-US" altLang="zh-TW" b="1" spc="60" dirty="0">
                <a:solidFill>
                  <a:srgbClr val="CC3399"/>
                </a:solidFill>
              </a:rPr>
              <a:t>but </a:t>
            </a:r>
            <a:r>
              <a:rPr lang="en-US" altLang="zh-TW" b="1" spc="40" dirty="0">
                <a:solidFill>
                  <a:srgbClr val="CC3399"/>
                </a:solidFill>
              </a:rPr>
              <a:t>don’t force the use</a:t>
            </a:r>
            <a:r>
              <a:rPr lang="en-US" altLang="zh-TW" spc="40" dirty="0"/>
              <a:t> of object-oriented features.</a:t>
            </a:r>
          </a:p>
          <a:p>
            <a:pPr defTabSz="914400">
              <a:lnSpc>
                <a:spcPct val="87000"/>
              </a:lnSpc>
              <a:spcBef>
                <a:spcPts val="1200"/>
              </a:spcBef>
            </a:pPr>
            <a:r>
              <a:rPr lang="en-US" altLang="zh-TW" dirty="0">
                <a:solidFill>
                  <a:srgbClr val="000000"/>
                </a:solidFill>
              </a:rPr>
              <a:t>In </a:t>
            </a:r>
            <a:r>
              <a:rPr lang="en-US" altLang="zh-TW" dirty="0">
                <a:solidFill>
                  <a:srgbClr val="3333CC"/>
                </a:solidFill>
              </a:rPr>
              <a:t>functional programming languages</a:t>
            </a:r>
            <a:r>
              <a:rPr lang="en-US" altLang="zh-TW" dirty="0"/>
              <a:t> like </a:t>
            </a:r>
            <a:r>
              <a:rPr lang="en-US" altLang="zh-TW" b="1" dirty="0">
                <a:solidFill>
                  <a:srgbClr val="3333CC"/>
                </a:solidFill>
              </a:rPr>
              <a:t>ML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everything is </a:t>
            </a:r>
            <a:r>
              <a:rPr lang="en-US" altLang="zh-TW" spc="40" dirty="0">
                <a:solidFill>
                  <a:srgbClr val="FF0000"/>
                </a:solidFill>
              </a:rPr>
              <a:t>a function.</a:t>
            </a:r>
            <a:r>
              <a:rPr lang="en-US" altLang="zh-TW" spc="40" dirty="0">
                <a:solidFill>
                  <a:srgbClr val="000000"/>
                </a:solidFill>
              </a:rPr>
              <a:t> </a:t>
            </a:r>
            <a:r>
              <a:rPr lang="en-US" altLang="zh-TW" spc="40" dirty="0" err="1"/>
              <a:t>Function</a:t>
            </a:r>
            <a:r>
              <a:rPr lang="en-US" altLang="zh-TW" spc="40" dirty="0"/>
              <a:t> bodies have only a return statement with no side effects. Computation is achieved by nesting calls of calls of calls of functions.</a:t>
            </a:r>
            <a:br>
              <a:rPr lang="en-US" altLang="zh-TW" spc="40" dirty="0"/>
            </a:br>
            <a:r>
              <a:rPr lang="en-US" altLang="zh-TW" spc="40" dirty="0"/>
              <a:t>In </a:t>
            </a:r>
            <a:r>
              <a:rPr lang="en-US" altLang="zh-TW" b="1" spc="40" dirty="0">
                <a:solidFill>
                  <a:srgbClr val="CC3399"/>
                </a:solidFill>
              </a:rPr>
              <a:t>Python</a:t>
            </a:r>
            <a:r>
              <a:rPr lang="en-US" altLang="zh-TW" spc="40" dirty="0"/>
              <a:t> everything is an object, even functions. So, in </a:t>
            </a:r>
            <a:r>
              <a:rPr lang="en-US" altLang="zh-TW" dirty="0"/>
              <a:t>many cases, most things can be functions. Python doesn’t </a:t>
            </a:r>
            <a:r>
              <a:rPr lang="en-US" altLang="zh-TW" spc="40" dirty="0"/>
              <a:t>require functional programming, but it </a:t>
            </a:r>
            <a:r>
              <a:rPr lang="en-US" altLang="zh-TW" b="1" spc="40" dirty="0">
                <a:solidFill>
                  <a:srgbClr val="CC3399"/>
                </a:solidFill>
              </a:rPr>
              <a:t>supports its use</a:t>
            </a:r>
            <a:r>
              <a:rPr lang="en-US" altLang="zh-TW" spc="4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597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DDDDD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" y="665018"/>
            <a:ext cx="9518074" cy="619298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map(</a:t>
            </a:r>
            <a:r>
              <a:rPr lang="en-US" altLang="en-US" sz="3000" i="1" dirty="0">
                <a:solidFill>
                  <a:schemeClr val="accent2"/>
                </a:solidFill>
                <a:latin typeface="Lucida Console" pitchFamily="49" charset="0"/>
              </a:rPr>
              <a:t>function, sequence)</a:t>
            </a:r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Apply the function to each item in the sequence.</a:t>
            </a:r>
          </a:p>
          <a:p>
            <a:pPr marL="623888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 </a:t>
            </a:r>
            <a:r>
              <a:rPr lang="en-US" altLang="en-US" dirty="0"/>
              <a:t>For multi-value functions, give multiple sequences. </a:t>
            </a:r>
            <a:endParaRPr lang="en-US" altLang="en-US" sz="2800" dirty="0"/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Return sequence of values returned by the function. </a:t>
            </a: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filter(</a:t>
            </a:r>
            <a:r>
              <a:rPr lang="en-US" altLang="en-US" sz="3000" i="1" dirty="0">
                <a:solidFill>
                  <a:schemeClr val="accent2"/>
                </a:solidFill>
                <a:latin typeface="Lucida Console" pitchFamily="49" charset="0"/>
              </a:rPr>
              <a:t>function, sequence</a:t>
            </a: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)</a:t>
            </a:r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Apply the function to each item in the sequence.</a:t>
            </a:r>
          </a:p>
          <a:p>
            <a:pPr marL="623888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 </a:t>
            </a:r>
            <a:r>
              <a:rPr lang="en-US" altLang="en-US" dirty="0"/>
              <a:t>The function's result is treated as a boolean.</a:t>
            </a:r>
            <a:endParaRPr lang="en-US" altLang="en-US" sz="2600" dirty="0"/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Return those items that pass the boolean filter.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en-US" sz="3000" dirty="0" err="1">
                <a:solidFill>
                  <a:schemeClr val="accent2"/>
                </a:solidFill>
                <a:latin typeface="Lucida Console" pitchFamily="49" charset="0"/>
              </a:rPr>
              <a:t>functools.reduce</a:t>
            </a: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(</a:t>
            </a:r>
            <a:r>
              <a:rPr lang="en-US" altLang="en-US" sz="3000" i="1" dirty="0">
                <a:solidFill>
                  <a:schemeClr val="accent2"/>
                </a:solidFill>
                <a:latin typeface="Lucida Console" pitchFamily="49" charset="0"/>
              </a:rPr>
              <a:t>function, sequence</a:t>
            </a: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)</a:t>
            </a:r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Apply the function to each item in the sequence.</a:t>
            </a:r>
          </a:p>
          <a:p>
            <a:pPr marL="914400" lvl="1" indent="-2905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/>
              <a:t>The function must take 2 arguments &amp; retur</a:t>
            </a:r>
            <a:r>
              <a:rPr lang="en-US" altLang="en-US" spc="-50" dirty="0"/>
              <a:t>n 1 value</a:t>
            </a:r>
            <a:r>
              <a:rPr lang="en-US" altLang="en-US" dirty="0"/>
              <a:t>.</a:t>
            </a:r>
          </a:p>
          <a:p>
            <a:pPr marL="914400" lvl="1" indent="-346075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dirty="0"/>
              <a:t>That returned value then becomes the first argument to the function on the next iteration (the second argument is the  next item in the sequence).</a:t>
            </a:r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Return 1 value, the final value returned by the function.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296862" y="-1524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zh-TW" kern="0" dirty="0"/>
              <a:t>Core functional programming tools</a:t>
            </a:r>
          </a:p>
        </p:txBody>
      </p:sp>
    </p:spTree>
    <p:extLst>
      <p:ext uri="{BB962C8B-B14F-4D97-AF65-F5344CB8AC3E}">
        <p14:creationId xmlns:p14="http://schemas.microsoft.com/office/powerpoint/2010/main" val="223434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9" name="Rectangle 9"/>
          <p:cNvSpPr>
            <a:spLocks noChangeArrowheads="1"/>
          </p:cNvSpPr>
          <p:nvPr/>
        </p:nvSpPr>
        <p:spPr bwMode="auto">
          <a:xfrm>
            <a:off x="639761" y="2194560"/>
            <a:ext cx="8907463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</a:rPr>
              <a:t> star(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</a:rPr>
              <a:t>x,y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</a:rPr>
              <a:t>): return x*y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[*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star</a:t>
            </a:r>
            <a:r>
              <a:rPr lang="en-US" altLang="en-US" sz="2400" dirty="0">
                <a:solidFill>
                  <a:schemeClr val="accent2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"ABCDEFGHI"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range(5)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['', 'B', 'CC', 'DDD', 'EEEE']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print (</a:t>
            </a:r>
            <a:r>
              <a:rPr lang="en-US" altLang="en-US" sz="24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map.__doc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map(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func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*</a:t>
            </a:r>
            <a:r>
              <a:rPr lang="en-US" altLang="en-US" sz="24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iterables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--&gt; map object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Make an iterator that computes the function using arguments from each of the </a:t>
            </a:r>
            <a:r>
              <a:rPr lang="en-US" altLang="en-US" sz="24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iterables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  Stops when the shortest </a:t>
            </a:r>
            <a:r>
              <a:rPr lang="en-US" altLang="en-US" sz="24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iterable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is exhausted.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82880" y="182880"/>
            <a:ext cx="9518074" cy="1640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3000" kern="0" dirty="0">
                <a:solidFill>
                  <a:schemeClr val="accent2"/>
                </a:solidFill>
                <a:latin typeface="Lucida Console" pitchFamily="49" charset="0"/>
              </a:rPr>
              <a:t>map(</a:t>
            </a:r>
            <a:r>
              <a:rPr lang="en-US" altLang="en-US" sz="3000" i="1" kern="0" dirty="0">
                <a:solidFill>
                  <a:srgbClr val="FF3300"/>
                </a:solidFill>
                <a:latin typeface="Lucida Console" pitchFamily="49" charset="0"/>
              </a:rPr>
              <a:t>function</a:t>
            </a:r>
            <a:r>
              <a:rPr lang="en-US" altLang="en-US" sz="3000" i="1" kern="0" dirty="0">
                <a:solidFill>
                  <a:schemeClr val="accent2"/>
                </a:solidFill>
                <a:latin typeface="Lucida Console" pitchFamily="49" charset="0"/>
              </a:rPr>
              <a:t>, </a:t>
            </a:r>
            <a:r>
              <a:rPr lang="en-US" altLang="en-US" sz="3000" i="1" kern="0" dirty="0">
                <a:solidFill>
                  <a:srgbClr val="9966FF"/>
                </a:solidFill>
                <a:latin typeface="Lucida Console" pitchFamily="49" charset="0"/>
              </a:rPr>
              <a:t>sequence(s)</a:t>
            </a:r>
            <a:r>
              <a:rPr lang="en-US" altLang="en-US" sz="3000" i="1" kern="0" dirty="0">
                <a:solidFill>
                  <a:schemeClr val="accent2"/>
                </a:solidFill>
                <a:latin typeface="Lucida Console" pitchFamily="49" charset="0"/>
              </a:rPr>
              <a:t>)</a:t>
            </a:r>
          </a:p>
          <a:p>
            <a:pPr marL="623888" lvl="1" indent="-277813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800" kern="0" dirty="0"/>
              <a:t>Apply the function to each item in the sequence.</a:t>
            </a:r>
          </a:p>
          <a:p>
            <a:pPr marL="623888" lvl="1" indent="0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kern="0" dirty="0"/>
              <a:t> </a:t>
            </a:r>
            <a:r>
              <a:rPr lang="en-US" altLang="en-US" kern="0" dirty="0"/>
              <a:t>For multi-value functions, give multiple sequences. </a:t>
            </a:r>
            <a:endParaRPr lang="en-US" altLang="en-US" sz="2800" kern="0" dirty="0"/>
          </a:p>
          <a:p>
            <a:pPr marL="623888" lvl="1" indent="-277813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kern="0" dirty="0"/>
              <a:t>Return sequence of values returned by the function. </a:t>
            </a:r>
          </a:p>
        </p:txBody>
      </p:sp>
    </p:spTree>
    <p:extLst>
      <p:ext uri="{BB962C8B-B14F-4D97-AF65-F5344CB8AC3E}">
        <p14:creationId xmlns:p14="http://schemas.microsoft.com/office/powerpoint/2010/main" val="42661518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" y="182880"/>
            <a:ext cx="9518074" cy="1811482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filter(</a:t>
            </a:r>
            <a:r>
              <a:rPr lang="en-US" altLang="en-US" sz="3000" i="1" dirty="0">
                <a:solidFill>
                  <a:srgbClr val="FF3300"/>
                </a:solidFill>
                <a:latin typeface="Lucida Console" pitchFamily="49" charset="0"/>
              </a:rPr>
              <a:t>function</a:t>
            </a:r>
            <a:r>
              <a:rPr lang="en-US" altLang="en-US" sz="3000" i="1" dirty="0">
                <a:solidFill>
                  <a:schemeClr val="accent2"/>
                </a:solidFill>
                <a:latin typeface="Lucida Console" pitchFamily="49" charset="0"/>
              </a:rPr>
              <a:t>, </a:t>
            </a:r>
            <a:r>
              <a:rPr lang="en-US" altLang="en-US" sz="3000" i="1" dirty="0">
                <a:solidFill>
                  <a:srgbClr val="9966FF"/>
                </a:solidFill>
                <a:latin typeface="Lucida Console" pitchFamily="49" charset="0"/>
              </a:rPr>
              <a:t>sequence</a:t>
            </a:r>
            <a:r>
              <a:rPr lang="en-US" altLang="en-US" sz="3000" dirty="0">
                <a:solidFill>
                  <a:schemeClr val="accent2"/>
                </a:solidFill>
                <a:latin typeface="Lucida Console" pitchFamily="49" charset="0"/>
              </a:rPr>
              <a:t>)</a:t>
            </a:r>
          </a:p>
          <a:p>
            <a:pPr marL="623888" lvl="1" indent="-277813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800" dirty="0"/>
              <a:t>Apply the function to each item in the sequence.</a:t>
            </a:r>
          </a:p>
          <a:p>
            <a:pPr marL="623888" lvl="1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 </a:t>
            </a:r>
            <a:r>
              <a:rPr lang="en-US" altLang="en-US" dirty="0"/>
              <a:t>The function's result is treated as a boolean.</a:t>
            </a:r>
            <a:endParaRPr lang="en-US" altLang="en-US" sz="2600" dirty="0"/>
          </a:p>
          <a:p>
            <a:pPr marL="623888" lvl="1" indent="-277813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Return those items that pass the boolean filter.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39761" y="2194560"/>
            <a:ext cx="8907463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400" dirty="0" err="1">
                <a:solidFill>
                  <a:srgbClr val="FF3300"/>
                </a:solidFill>
                <a:latin typeface="Lucida Console" panose="020B0609040504020204" pitchFamily="49" charset="0"/>
              </a:rPr>
              <a:t>def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</a:rPr>
              <a:t> even(x): return ((x%2 == 0)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endParaRPr lang="en-US" altLang="en-US" sz="240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[*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filter(</a:t>
            </a:r>
            <a:r>
              <a:rPr lang="en-US" altLang="en-US" sz="24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even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4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range(10)</a:t>
            </a:r>
            <a:r>
              <a:rPr lang="en-US" altLang="en-US" sz="24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[0,2,4,6,8]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print (print (</a:t>
            </a:r>
            <a:r>
              <a:rPr lang="en-US" altLang="en-US" sz="24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filter.__doc</a:t>
            </a:r>
            <a:r>
              <a:rPr lang="en-US" altLang="en-US" sz="24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filter(</a:t>
            </a:r>
            <a:r>
              <a:rPr lang="en-US" altLang="en-US" sz="2400" spc="-1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function</a:t>
            </a:r>
            <a:r>
              <a:rPr lang="en-US" altLang="en-US" sz="2000" spc="-1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or</a:t>
            </a:r>
            <a:r>
              <a:rPr lang="en-US" altLang="en-US" sz="2000" spc="-1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None</a:t>
            </a:r>
            <a:r>
              <a:rPr lang="en-US" altLang="en-US" sz="240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altLang="en-US" sz="180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itera</a:t>
            </a:r>
            <a:r>
              <a:rPr lang="en-US" altLang="en-US" sz="2400" spc="-2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ble</a:t>
            </a:r>
            <a:r>
              <a:rPr lang="en-US" altLang="en-US" sz="2400" spc="-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0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--&gt;</a:t>
            </a:r>
            <a:r>
              <a:rPr lang="en-US" altLang="en-US" sz="20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filter object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spc="-10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Return an iterator yielding those items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of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400" spc="-1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iterable</a:t>
            </a:r>
            <a:r>
              <a:rPr lang="en-US" altLang="en-US" sz="24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for which function(item) is true. If function is None, return the items that are true.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1387367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639761" y="2527014"/>
            <a:ext cx="8907463" cy="433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from 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functools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import 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</a:t>
            </a:r>
            <a:endParaRPr lang="en-US" altLang="en-US" sz="22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2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2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2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range(10)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altLang="en-US" sz="22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45</a:t>
            </a: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2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lambda </a:t>
            </a:r>
            <a:r>
              <a:rPr lang="en-US" altLang="en-US" sz="22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x,y</a:t>
            </a:r>
            <a:r>
              <a:rPr lang="en-US" altLang="en-US" sz="22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: </a:t>
            </a:r>
            <a:r>
              <a:rPr lang="en-US" altLang="en-US" sz="2200" dirty="0" err="1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x+y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map(</a:t>
            </a:r>
            <a:r>
              <a:rPr lang="en-US" altLang="en-US" sz="2200" dirty="0" err="1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str,range</a:t>
            </a:r>
            <a:r>
              <a:rPr lang="en-US" altLang="en-US" sz="22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(10)))</a:t>
            </a:r>
            <a:r>
              <a:rPr lang="en-US" altLang="en-US" sz="2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endParaRPr lang="en-US" altLang="en-US" sz="2200" dirty="0">
              <a:solidFill>
                <a:srgbClr val="00B05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B05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'0123456789'</a:t>
            </a:r>
            <a:endParaRPr lang="en-US" altLang="en-US" sz="22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print(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</a:t>
            </a:r>
            <a:r>
              <a:rPr lang="en-US" altLang="en-US" sz="2200" spc="-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e._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_doc</a:t>
            </a:r>
            <a:r>
              <a:rPr lang="en-US" altLang="en-US" sz="22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</a:t>
            </a:r>
            <a:r>
              <a:rPr lang="en-US" altLang="en-US" sz="22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[: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46]+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</a:t>
            </a:r>
            <a:r>
              <a:rPr lang="en-US" altLang="en-US" sz="2200" spc="-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e._</a:t>
            </a:r>
            <a:r>
              <a:rPr lang="en-US" altLang="en-US" sz="22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_doc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__</a:t>
            </a:r>
            <a:r>
              <a:rPr lang="en-US" altLang="en-US" sz="22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[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</a:t>
            </a:r>
            <a:r>
              <a:rPr lang="en-US" altLang="en-US" sz="2200" spc="-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7:</a:t>
            </a:r>
            <a:r>
              <a:rPr lang="en-US" altLang="en-US" sz="22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])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reduce(</a:t>
            </a:r>
            <a:r>
              <a:rPr lang="en-US" altLang="en-US" sz="2200" spc="-100" dirty="0">
                <a:solidFill>
                  <a:srgbClr val="FF33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function</a:t>
            </a:r>
            <a:r>
              <a:rPr lang="en-US" altLang="en-US" sz="220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</a:t>
            </a:r>
            <a:r>
              <a:rPr lang="en-US" altLang="en-US" sz="2200" spc="-100" dirty="0">
                <a:solidFill>
                  <a:srgbClr val="9966FF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sequence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[</a:t>
            </a:r>
            <a:r>
              <a:rPr lang="en-US" altLang="en-US" sz="2200" spc="-1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initial]</a:t>
            </a:r>
            <a:r>
              <a:rPr lang="en-US" altLang="en-US" sz="2200" spc="-200" dirty="0">
                <a:solidFill>
                  <a:srgbClr val="2D2DB9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-&gt; value</a:t>
            </a:r>
            <a:endParaRPr lang="en-US" altLang="en-US" sz="1400" spc="-100" dirty="0">
              <a:solidFill>
                <a:srgbClr val="000000"/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Apply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function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of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arguments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cumulativ</a:t>
            </a:r>
            <a:r>
              <a:rPr lang="en-US" altLang="en-US" sz="2200" spc="-15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el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to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the</a:t>
            </a:r>
            <a:r>
              <a:rPr lang="en-US" altLang="en-US" sz="20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items of a sequence, from left to right, so as to reduce the sequence to a single value. For example, reduce(lambda x, y: </a:t>
            </a:r>
            <a:r>
              <a:rPr lang="en-US" altLang="en-US" sz="2200" spc="-10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x+</a:t>
            </a:r>
            <a:r>
              <a:rPr lang="en-US" altLang="en-US" sz="2200" spc="-130" dirty="0" err="1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y</a:t>
            </a:r>
            <a:r>
              <a:rPr lang="en-US" altLang="en-US" sz="22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, [1,</a:t>
            </a:r>
            <a:r>
              <a:rPr lang="en-US" altLang="en-US" sz="20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2,</a:t>
            </a:r>
            <a:r>
              <a:rPr lang="en-US" altLang="en-US" sz="20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3,</a:t>
            </a:r>
            <a:r>
              <a:rPr lang="en-US" altLang="en-US" sz="20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4,</a:t>
            </a:r>
            <a:r>
              <a:rPr lang="en-US" altLang="en-US" sz="2000" spc="-13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 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5]) calculates ((((1+2)+3)+4)+5</a:t>
            </a:r>
            <a:r>
              <a:rPr lang="en-US" altLang="en-US" sz="2200" spc="-3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)</a:t>
            </a:r>
            <a:r>
              <a:rPr lang="en-US" altLang="en-US" sz="2200" spc="-100" dirty="0">
                <a:solidFill>
                  <a:srgbClr val="000000"/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.  If initial is present, it is placed before the items of the sequence in the calculation, and serves as a default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82880" y="182880"/>
            <a:ext cx="9518074" cy="2223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en-US" sz="3000" kern="0" dirty="0" err="1">
                <a:solidFill>
                  <a:schemeClr val="accent2"/>
                </a:solidFill>
                <a:latin typeface="Lucida Console" pitchFamily="49" charset="0"/>
              </a:rPr>
              <a:t>functools.reduce</a:t>
            </a:r>
            <a:r>
              <a:rPr lang="en-US" altLang="en-US" sz="3000" kern="0" dirty="0">
                <a:solidFill>
                  <a:schemeClr val="accent2"/>
                </a:solidFill>
                <a:latin typeface="Lucida Console" pitchFamily="49" charset="0"/>
              </a:rPr>
              <a:t>(</a:t>
            </a:r>
            <a:r>
              <a:rPr lang="en-US" altLang="en-US" sz="3000" i="1" kern="0" dirty="0">
                <a:solidFill>
                  <a:schemeClr val="accent2"/>
                </a:solidFill>
                <a:latin typeface="Lucida Console" pitchFamily="49" charset="0"/>
              </a:rPr>
              <a:t>function, sequence</a:t>
            </a:r>
            <a:r>
              <a:rPr lang="en-US" altLang="en-US" sz="3000" kern="0" dirty="0">
                <a:solidFill>
                  <a:schemeClr val="accent2"/>
                </a:solidFill>
                <a:latin typeface="Lucida Console" pitchFamily="49" charset="0"/>
              </a:rPr>
              <a:t>)</a:t>
            </a:r>
          </a:p>
          <a:p>
            <a:pPr marL="623888" lvl="1" indent="-277813" defTabSz="91440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en-US" sz="2800" kern="0" dirty="0"/>
              <a:t>Apply the function to each item in the sequence.</a:t>
            </a:r>
          </a:p>
          <a:p>
            <a:pPr marL="914400" lvl="1" indent="-290513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kern="0" dirty="0"/>
              <a:t>The function must take 2 arguments &amp; retur</a:t>
            </a:r>
            <a:r>
              <a:rPr lang="en-US" altLang="en-US" kern="0" spc="-50" dirty="0"/>
              <a:t>n 1 value</a:t>
            </a:r>
            <a:r>
              <a:rPr lang="en-US" altLang="en-US" kern="0" dirty="0"/>
              <a:t>.</a:t>
            </a:r>
          </a:p>
          <a:p>
            <a:pPr marL="914400" lvl="1" indent="-346075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kern="0" dirty="0"/>
              <a:t>That returned value becomes the 1</a:t>
            </a:r>
            <a:r>
              <a:rPr lang="en-US" altLang="en-US" kern="0" baseline="30000" dirty="0"/>
              <a:t>st</a:t>
            </a:r>
            <a:r>
              <a:rPr lang="en-US" altLang="en-US" kern="0" dirty="0"/>
              <a:t> argument to the function on the next iteration (2</a:t>
            </a:r>
            <a:r>
              <a:rPr lang="en-US" altLang="en-US" kern="0" baseline="30000" dirty="0"/>
              <a:t>nd</a:t>
            </a:r>
            <a:r>
              <a:rPr lang="en-US" altLang="en-US" kern="0" dirty="0"/>
              <a:t> argument is the next sequence item).</a:t>
            </a:r>
          </a:p>
          <a:p>
            <a:pPr marL="623888" lvl="1" indent="-277813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en-US" sz="2800" kern="0" dirty="0"/>
              <a:t>Return 1 value, the final value returned by the function.</a:t>
            </a:r>
          </a:p>
        </p:txBody>
      </p:sp>
    </p:spTree>
    <p:extLst>
      <p:ext uri="{BB962C8B-B14F-4D97-AF65-F5344CB8AC3E}">
        <p14:creationId xmlns:p14="http://schemas.microsoft.com/office/powerpoint/2010/main" val="31776002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62" y="960120"/>
            <a:ext cx="893938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accent2"/>
                </a:solidFill>
              </a:rPr>
              <a:t>Calculating the sum of numbers from 1 to 100: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</a:rPr>
              <a:t>reduce(lambda x, y: </a:t>
            </a:r>
            <a:r>
              <a:rPr lang="en-US" altLang="zh-TW" dirty="0" err="1">
                <a:latin typeface="Lucida Console" panose="020B0609040504020204" pitchFamily="49" charset="0"/>
              </a:rPr>
              <a:t>x+y</a:t>
            </a:r>
            <a:r>
              <a:rPr lang="en-US" altLang="zh-TW" dirty="0">
                <a:latin typeface="Lucida Console" panose="020B0609040504020204" pitchFamily="49" charset="0"/>
              </a:rPr>
              <a:t>, range(1,101))</a:t>
            </a:r>
            <a:endParaRPr lang="en-US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Lucida Console" panose="020B0609040504020204" pitchFamily="49" charset="0"/>
              </a:rPr>
              <a:t>5050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sum(range(1,101))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#Could’ve used sum()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5050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2"/>
                </a:solidFill>
              </a:rPr>
              <a:t>Determining the maximum of a list of numerical values by using reduce: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f = lambda </a:t>
            </a:r>
            <a:r>
              <a:rPr lang="en-US" altLang="zh-TW" dirty="0" err="1">
                <a:latin typeface="Lucida Console" panose="020B0609040504020204" pitchFamily="49" charset="0"/>
              </a:rPr>
              <a:t>a,b</a:t>
            </a:r>
            <a:r>
              <a:rPr lang="en-US" altLang="zh-TW" dirty="0">
                <a:latin typeface="Lucida Console" panose="020B0609040504020204" pitchFamily="49" charset="0"/>
              </a:rPr>
              <a:t>: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a if (a &gt; b) else b</a:t>
            </a:r>
            <a:endParaRPr 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functools.reduce</a:t>
            </a:r>
            <a:r>
              <a:rPr lang="en-US" altLang="zh-TW" dirty="0">
                <a:latin typeface="Lucida Console" panose="020B0609040504020204" pitchFamily="49" charset="0"/>
              </a:rPr>
              <a:t>(f, [47,11,42,102,13])</a:t>
            </a:r>
            <a:endParaRPr lang="en-US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102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max([47,11,42,102,13])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#could’ve used max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102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" y="0"/>
            <a:ext cx="9737724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0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reduce + lambda examples</a:t>
            </a:r>
          </a:p>
        </p:txBody>
      </p:sp>
      <p:sp>
        <p:nvSpPr>
          <p:cNvPr id="2" name="Rectangle 1"/>
          <p:cNvSpPr/>
          <p:nvPr/>
        </p:nvSpPr>
        <p:spPr>
          <a:xfrm>
            <a:off x="601891" y="1531782"/>
            <a:ext cx="785793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spcBef>
                <a:spcPts val="600"/>
              </a:spcBef>
            </a:pP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spcBef>
                <a:spcPts val="600"/>
              </a:spcBef>
            </a:pP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1893" y="4490179"/>
            <a:ext cx="785793" cy="19236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spcBef>
                <a:spcPts val="600"/>
              </a:spcBef>
            </a:pP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395851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xit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1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62" y="960120"/>
            <a:ext cx="8939380" cy="495300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accent2"/>
                </a:solidFill>
              </a:rPr>
              <a:t>Calculating the sum of numbers from 1 to 100: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latin typeface="Lucida Console" panose="020B0609040504020204" pitchFamily="49" charset="0"/>
              </a:rPr>
              <a:t>reduce(lambda x, y: </a:t>
            </a:r>
            <a:r>
              <a:rPr lang="en-US" altLang="zh-TW" dirty="0" err="1">
                <a:latin typeface="Lucida Console" panose="020B0609040504020204" pitchFamily="49" charset="0"/>
              </a:rPr>
              <a:t>x+y</a:t>
            </a:r>
            <a:r>
              <a:rPr lang="en-US" altLang="zh-TW" dirty="0">
                <a:latin typeface="Lucida Console" panose="020B0609040504020204" pitchFamily="49" charset="0"/>
              </a:rPr>
              <a:t>, range(1,101))</a:t>
            </a:r>
            <a:endParaRPr lang="en-US" dirty="0">
              <a:latin typeface="Lucida Console" panose="020B060904050402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latin typeface="Lucida Console" panose="020B0609040504020204" pitchFamily="49" charset="0"/>
              </a:rPr>
              <a:t>5050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dirty="0">
                <a:latin typeface="Lucida Console" panose="020B0609040504020204" pitchFamily="49" charset="0"/>
              </a:rPr>
              <a:t>sum(range(1,101)) 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#Could’ve used sum()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5050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2"/>
                </a:solidFill>
              </a:rPr>
              <a:t>Determining the maximum of a list of numerical values by using reduce: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f = lambda </a:t>
            </a:r>
            <a:r>
              <a:rPr lang="en-US" altLang="zh-TW" dirty="0" err="1">
                <a:latin typeface="Lucida Console" panose="020B0609040504020204" pitchFamily="49" charset="0"/>
              </a:rPr>
              <a:t>a,b</a:t>
            </a:r>
            <a:r>
              <a:rPr lang="en-US" altLang="zh-TW" dirty="0">
                <a:latin typeface="Lucida Console" panose="020B0609040504020204" pitchFamily="49" charset="0"/>
              </a:rPr>
              <a:t>:</a:t>
            </a:r>
            <a:r>
              <a:rPr lang="en-US" altLang="zh-TW" dirty="0">
                <a:solidFill>
                  <a:schemeClr val="tx1"/>
                </a:solidFill>
                <a:latin typeface="Lucida Console" panose="020B0609040504020204" pitchFamily="49" charset="0"/>
              </a:rPr>
              <a:t> a if (a &gt; b) else b</a:t>
            </a:r>
            <a:endParaRPr lang="en-US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functools.reduce</a:t>
            </a:r>
            <a:r>
              <a:rPr lang="en-US" altLang="zh-TW" dirty="0">
                <a:latin typeface="Lucida Console" panose="020B0609040504020204" pitchFamily="49" charset="0"/>
              </a:rPr>
              <a:t>(f, [47,11,42,102,13])</a:t>
            </a:r>
            <a:endParaRPr lang="en-US" dirty="0">
              <a:latin typeface="Lucida Console" panose="020B0609040504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102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dirty="0">
                <a:latin typeface="Lucida Console" panose="020B0609040504020204" pitchFamily="49" charset="0"/>
              </a:rPr>
              <a:t> max([47,11,42,102,13])</a:t>
            </a:r>
            <a:r>
              <a:rPr lang="en-US" dirty="0">
                <a:solidFill>
                  <a:srgbClr val="FF0000"/>
                </a:solidFill>
                <a:latin typeface="Lucida Console" panose="020B0609040504020204" pitchFamily="49" charset="0"/>
              </a:rPr>
              <a:t>#could’ve used max</a:t>
            </a:r>
          </a:p>
          <a:p>
            <a:pPr marL="0" indent="0">
              <a:buNone/>
            </a:pPr>
            <a:r>
              <a:rPr lang="en-US" dirty="0">
                <a:latin typeface="Lucida Console" panose="020B0609040504020204" pitchFamily="49" charset="0"/>
              </a:rPr>
              <a:t>102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" y="0"/>
            <a:ext cx="9737724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000" b="1" kern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reduce + lambda examples</a:t>
            </a:r>
          </a:p>
        </p:txBody>
      </p:sp>
      <p:sp>
        <p:nvSpPr>
          <p:cNvPr id="6" name="圓角矩形圖說文字 4"/>
          <p:cNvSpPr/>
          <p:nvPr/>
        </p:nvSpPr>
        <p:spPr bwMode="auto">
          <a:xfrm>
            <a:off x="1678041" y="4066312"/>
            <a:ext cx="1911927" cy="1783080"/>
          </a:xfrm>
          <a:prstGeom prst="wedgeRoundRectCallout">
            <a:avLst>
              <a:gd name="adj1" fmla="val -41614"/>
              <a:gd name="adj2" fmla="val -11785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But wait. sum() only works 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numbers.</a:t>
            </a:r>
            <a:endParaRPr lang="zh-TW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8" name="圓角矩形圖說文字 4"/>
          <p:cNvSpPr/>
          <p:nvPr/>
        </p:nvSpPr>
        <p:spPr bwMode="auto">
          <a:xfrm>
            <a:off x="3620848" y="4066309"/>
            <a:ext cx="1744145" cy="1783080"/>
          </a:xfrm>
          <a:prstGeom prst="wedgeRoundRectCallout">
            <a:avLst>
              <a:gd name="adj1" fmla="val -76056"/>
              <a:gd name="adj2" fmla="val -116156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Luckily, this was a number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sequence.</a:t>
            </a:r>
            <a:endParaRPr lang="zh-TW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7" name="圓角矩形圖說文字 4"/>
          <p:cNvSpPr/>
          <p:nvPr/>
        </p:nvSpPr>
        <p:spPr bwMode="auto">
          <a:xfrm>
            <a:off x="5380373" y="4066312"/>
            <a:ext cx="3032624" cy="1783080"/>
          </a:xfrm>
          <a:prstGeom prst="wedgeRoundRectCallout">
            <a:avLst>
              <a:gd name="adj1" fmla="val -139051"/>
              <a:gd name="adj2" fmla="val -172861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But this version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would work on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strings too. </a:t>
            </a:r>
            <a:r>
              <a:rPr lang="en-US" altLang="zh-TW" sz="2800" dirty="0" err="1">
                <a:solidFill>
                  <a:srgbClr val="000000"/>
                </a:solidFill>
                <a:latin typeface="Times New Roman" charset="0"/>
              </a:rPr>
              <a:t>Eg</a:t>
            </a:r>
            <a:b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reduce(…, ['H', '</a:t>
            </a:r>
            <a:r>
              <a:rPr lang="en-US" altLang="zh-TW" sz="2800" dirty="0" err="1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'])</a:t>
            </a:r>
            <a:endParaRPr lang="zh-TW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1891" y="1531782"/>
            <a:ext cx="785793" cy="24006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spcBef>
                <a:spcPts val="600"/>
              </a:spcBef>
            </a:pP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spcBef>
                <a:spcPts val="600"/>
              </a:spcBef>
            </a:pP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1893" y="4490179"/>
            <a:ext cx="785793" cy="19236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  <a:p>
            <a:pPr>
              <a:spcBef>
                <a:spcPts val="600"/>
              </a:spcBef>
            </a:pPr>
            <a:endParaRPr lang="en-US" sz="2600" dirty="0">
              <a:solidFill>
                <a:schemeClr val="bg1">
                  <a:lumMod val="75000"/>
                </a:schemeClr>
              </a:solidFill>
              <a:latin typeface="Lucida Console" panose="020B0609040504020204" pitchFamily="49" charset="0"/>
            </a:endParaRPr>
          </a:p>
          <a:p>
            <a:pPr>
              <a:spcBef>
                <a:spcPts val="600"/>
              </a:spcBef>
            </a:pPr>
            <a:r>
              <a:rPr lang="en-US" sz="26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4" name="圓角矩形圖說文字 4"/>
          <p:cNvSpPr/>
          <p:nvPr/>
        </p:nvSpPr>
        <p:spPr bwMode="auto">
          <a:xfrm>
            <a:off x="666549" y="4066311"/>
            <a:ext cx="982147" cy="1783080"/>
          </a:xfrm>
          <a:prstGeom prst="wedgeRoundRectCallout">
            <a:avLst>
              <a:gd name="adj1" fmla="val -18660"/>
              <a:gd name="adj2" fmla="val -89413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See,</a:t>
            </a:r>
            <a:b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sum()</a:t>
            </a:r>
            <a:b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also</a:t>
            </a:r>
            <a:b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works.</a:t>
            </a:r>
            <a:endParaRPr lang="zh-TW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69586" y="836908"/>
            <a:ext cx="8460361" cy="2980443"/>
          </a:xfrm>
          <a:prstGeom prst="wedgeRoundRectCallout">
            <a:avLst>
              <a:gd name="adj1" fmla="val 20190"/>
              <a:gd name="adj2" fmla="val 77888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Remember this syntax?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It isn't Functional Programming, </a:t>
            </a:r>
            <a:r>
              <a:rPr lang="en-US" altLang="zh-TW" sz="3200" i="1" dirty="0">
                <a:solidFill>
                  <a:srgbClr val="3333CC"/>
                </a:solidFill>
                <a:latin typeface="Times New Roman" charset="0"/>
              </a:rPr>
              <a:t>per se </a:t>
            </a: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(</a:t>
            </a:r>
            <a:r>
              <a:rPr lang="zh-TW" altLang="en-US" sz="2800" dirty="0">
                <a:solidFill>
                  <a:srgbClr val="3333CC"/>
                </a:solidFill>
                <a:latin typeface="Times New Roman" charset="0"/>
              </a:rPr>
              <a:t>本身</a:t>
            </a: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). But it is often used in functional programming, because it avoids an if/else statement – and a purely functional program would only have function calls and returns (thus: no if statements).</a:t>
            </a: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573127" y="0"/>
            <a:ext cx="8460361" cy="3969751"/>
          </a:xfrm>
          <a:prstGeom prst="wedgeRoundRectCallout">
            <a:avLst>
              <a:gd name="adj1" fmla="val -21760"/>
              <a:gd name="adj2" fmla="val 66435"/>
              <a:gd name="adj3" fmla="val 16667"/>
            </a:avLst>
          </a:prstGeom>
          <a:solidFill>
            <a:srgbClr val="FFC000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Q: Why not define a function instead?</a:t>
            </a:r>
          </a:p>
          <a:p>
            <a:pPr lvl="0" defTabSz="9144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</a:pPr>
            <a:r>
              <a:rPr lang="en-US" altLang="zh-TW" sz="2600" kern="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  <a:ea typeface="MS PGothic" pitchFamily="34" charset="-128"/>
              </a:rPr>
              <a:t>&gt;&gt;&gt;</a:t>
            </a:r>
            <a:r>
              <a:rPr lang="en-US" altLang="zh-TW" sz="2600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</a:t>
            </a:r>
            <a:r>
              <a:rPr lang="en-US" altLang="zh-TW" sz="2600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def</a:t>
            </a:r>
            <a:r>
              <a:rPr lang="en-US" altLang="zh-TW" sz="2600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 f(</a:t>
            </a:r>
            <a:r>
              <a:rPr lang="en-US" altLang="zh-TW" sz="2600" kern="0" dirty="0" err="1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a,b</a:t>
            </a:r>
            <a:r>
              <a:rPr lang="en-US" altLang="zh-TW" sz="2600" kern="0" dirty="0">
                <a:solidFill>
                  <a:srgbClr val="222222"/>
                </a:solidFill>
                <a:latin typeface="Lucida Console" panose="020B0609040504020204" pitchFamily="49" charset="0"/>
                <a:ea typeface="MS PGothic" pitchFamily="34" charset="-128"/>
              </a:rPr>
              <a:t>) return</a:t>
            </a:r>
            <a:r>
              <a:rPr lang="en-US" altLang="zh-TW" sz="2600" kern="0" dirty="0">
                <a:solidFill>
                  <a:srgbClr val="000000"/>
                </a:solidFill>
                <a:latin typeface="Lucida Console" panose="020B0609040504020204" pitchFamily="49" charset="0"/>
                <a:ea typeface="MS PGothic" pitchFamily="34" charset="-128"/>
              </a:rPr>
              <a:t> a if (a &gt; b) else b</a:t>
            </a:r>
            <a:endParaRPr lang="en-US" altLang="zh-TW" sz="3200" dirty="0">
              <a:solidFill>
                <a:srgbClr val="3333CC"/>
              </a:solidFill>
              <a:latin typeface="Times New Roman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A: Yes, that is better programming style. A </a:t>
            </a:r>
            <a:r>
              <a:rPr lang="en-US" altLang="zh-TW" sz="3200" dirty="0" err="1">
                <a:solidFill>
                  <a:srgbClr val="3333CC"/>
                </a:solidFill>
                <a:latin typeface="Times New Roman" charset="0"/>
              </a:rPr>
              <a:t>lamba</a:t>
            </a: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 is for when you don't want to give the function a name, because it is only needed one time. In this example, we named the </a:t>
            </a:r>
            <a:r>
              <a:rPr lang="en-US" altLang="zh-TW" sz="3200" dirty="0" err="1">
                <a:solidFill>
                  <a:srgbClr val="3333CC"/>
                </a:solidFill>
                <a:latin typeface="Times New Roman" charset="0"/>
              </a:rPr>
              <a:t>lamda</a:t>
            </a: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 as f, which is odd.</a:t>
            </a:r>
            <a:b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3333CC"/>
                </a:solidFill>
                <a:latin typeface="Times New Roman" charset="0"/>
              </a:rPr>
              <a:t> (I only did it to teach you that it works.)</a:t>
            </a:r>
          </a:p>
        </p:txBody>
      </p:sp>
    </p:spTree>
    <p:extLst>
      <p:ext uri="{BB962C8B-B14F-4D97-AF65-F5344CB8AC3E}">
        <p14:creationId xmlns:p14="http://schemas.microsoft.com/office/powerpoint/2010/main" val="267704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3" dur="1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4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8" grpId="1" animBg="1"/>
      <p:bldP spid="7" grpId="0" animBg="1"/>
      <p:bldP spid="7" grpId="1" animBg="1"/>
      <p:bldP spid="4" grpId="0" animBg="1"/>
      <p:bldP spid="4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9737725" cy="762000"/>
          </a:xfrm>
        </p:spPr>
        <p:txBody>
          <a:bodyPr/>
          <a:lstStyle/>
          <a:p>
            <a:r>
              <a:rPr lang="en-US" sz="4000" b="1" dirty="0"/>
              <a:t>A very complex functional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685800"/>
            <a:ext cx="9144000" cy="61722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cat functionalExample.py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import random, </a:t>
            </a:r>
            <a:r>
              <a:rPr lang="en-US" altLang="zh-TW" sz="2400" dirty="0" err="1">
                <a:latin typeface="Lucida Console" panose="020B0609040504020204" pitchFamily="49" charset="0"/>
              </a:rPr>
              <a:t>functools</a:t>
            </a:r>
            <a:endParaRPr lang="en-US" altLang="zh-TW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grammar=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(S=[['NP','VP']],NP=[['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Art','N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']], VP=[['V','NP']],Art=['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the','a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'],N=['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boy','ball','girl','table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'],V=['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hit','heard','saw','liked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'])</a:t>
            </a:r>
            <a:endParaRPr lang="zh-TW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gen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):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 err="1">
                <a:latin typeface="Lucida Console" panose="020B0609040504020204" pitchFamily="49" charset="0"/>
              </a:rPr>
              <a:t>,list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mend</a:t>
            </a:r>
            <a:r>
              <a:rPr lang="en-US" altLang="zh-TW" sz="2400" dirty="0">
                <a:latin typeface="Lucida Console" panose="020B0609040504020204" pitchFamily="49" charset="0"/>
              </a:rPr>
              <a:t>(gen, 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400" dirty="0">
                <a:latin typeface="Lucida Console" panose="020B0609040504020204" pitchFamily="49" charset="0"/>
              </a:rPr>
              <a:t> 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in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gen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random.choice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</a:t>
            </a:r>
            <a:r>
              <a:rPr lang="en-US" altLang="zh-TW" sz="2400" dirty="0">
                <a:latin typeface="Lucida Console" panose="020B0609040504020204" pitchFamily="49" charset="0"/>
              </a:rPr>
              <a:t>[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]))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400" dirty="0">
                <a:latin typeface="Lucida Console" panose="020B0609040504020204" pitchFamily="49" charset="0"/>
              </a:rPr>
              <a:t> [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]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 mend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latin typeface="Lucida Console" panose="020B0609040504020204" pitchFamily="49" charset="0"/>
              </a:rPr>
              <a:t>fn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args</a:t>
            </a:r>
            <a:r>
              <a:rPr lang="en-US" altLang="zh-TW" sz="2400" dirty="0">
                <a:latin typeface="Lucida Console" panose="020B0609040504020204" pitchFamily="49" charset="0"/>
              </a:rPr>
              <a:t>):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sz="2400" dirty="0">
                <a:latin typeface="Lucida Console" panose="020B0609040504020204" pitchFamily="49" charset="0"/>
              </a:rPr>
              <a:t> [item for res in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map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latin typeface="Lucida Console" panose="020B0609040504020204" pitchFamily="49" charset="0"/>
              </a:rPr>
              <a:t>fn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args</a:t>
            </a:r>
            <a:r>
              <a:rPr lang="en-US" altLang="zh-TW" sz="2400" dirty="0">
                <a:latin typeface="Lucida Console" panose="020B0609040504020204" pitchFamily="49" charset="0"/>
              </a:rPr>
              <a:t>) for item in res]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s-ES" altLang="zh-TW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zh-TW" sz="2400" dirty="0">
                <a:latin typeface="Lucida Console" panose="020B0609040504020204" pitchFamily="49" charset="0"/>
              </a:rPr>
              <a:t>(</a:t>
            </a:r>
            <a:r>
              <a:rPr lang="es-E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functools.reduce</a:t>
            </a:r>
            <a:r>
              <a:rPr lang="es-ES" altLang="zh-TW" sz="2400" dirty="0">
                <a:latin typeface="Lucida Console" panose="020B0609040504020204" pitchFamily="49" charset="0"/>
              </a:rPr>
              <a:t>(lambda </a:t>
            </a:r>
            <a:r>
              <a:rPr lang="es-ES" altLang="zh-TW" sz="2400" dirty="0" err="1">
                <a:latin typeface="Lucida Console" panose="020B0609040504020204" pitchFamily="49" charset="0"/>
              </a:rPr>
              <a:t>x,y</a:t>
            </a:r>
            <a:r>
              <a:rPr lang="es-ES" altLang="zh-TW" sz="2400" dirty="0">
                <a:latin typeface="Lucida Console" panose="020B0609040504020204" pitchFamily="49" charset="0"/>
              </a:rPr>
              <a:t>: x+" "+y, </a:t>
            </a:r>
            <a:r>
              <a:rPr lang="es-E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gen</a:t>
            </a:r>
            <a:r>
              <a:rPr lang="es-ES" altLang="zh-TW" sz="2400" dirty="0">
                <a:latin typeface="Lucida Console" panose="020B0609040504020204" pitchFamily="49" charset="0"/>
              </a:rPr>
              <a:t>('S'))</a:t>
            </a:r>
            <a:r>
              <a:rPr lang="es-E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.</a:t>
            </a:r>
            <a:r>
              <a:rPr lang="es-E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capitalize</a:t>
            </a:r>
            <a:r>
              <a:rPr lang="es-ES" altLang="zh-TW" sz="2400" dirty="0">
                <a:latin typeface="Lucida Console" panose="020B0609040504020204" pitchFamily="49" charset="0"/>
              </a:rPr>
              <a:t>()+".")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0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python3 functionalExample.py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A ball hit the ball.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python3 functionalExample.py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The boy liked the table.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zh-TW" altLang="en-US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9680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685800"/>
            <a:ext cx="9144000" cy="61722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cat functionalExample.py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import random, </a:t>
            </a:r>
            <a:r>
              <a:rPr lang="en-US" altLang="zh-TW" sz="2400" dirty="0" err="1">
                <a:latin typeface="Lucida Console" panose="020B0609040504020204" pitchFamily="49" charset="0"/>
              </a:rPr>
              <a:t>functools</a:t>
            </a:r>
            <a:endParaRPr lang="en-US" altLang="zh-TW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grammar=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(S=[['NP','VP']],NP=[['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Art','N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']], VP=[['V','NP']],Art=['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the','a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'],N=['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boy','ball','girl','table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'],V=['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hit','heard','saw','liked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'])</a:t>
            </a:r>
            <a:endParaRPr lang="zh-TW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gen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):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 err="1">
                <a:latin typeface="Lucida Console" panose="020B0609040504020204" pitchFamily="49" charset="0"/>
              </a:rPr>
              <a:t>,list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mend</a:t>
            </a:r>
            <a:r>
              <a:rPr lang="en-US" altLang="zh-TW" sz="2400" dirty="0">
                <a:latin typeface="Lucida Console" panose="020B0609040504020204" pitchFamily="49" charset="0"/>
              </a:rPr>
              <a:t>(gen, 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400" dirty="0">
                <a:latin typeface="Lucida Console" panose="020B0609040504020204" pitchFamily="49" charset="0"/>
              </a:rPr>
              <a:t> 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in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gen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random.choice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</a:t>
            </a:r>
            <a:r>
              <a:rPr lang="en-US" altLang="zh-TW" sz="2400" dirty="0">
                <a:latin typeface="Lucida Console" panose="020B0609040504020204" pitchFamily="49" charset="0"/>
              </a:rPr>
              <a:t>[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]))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400" dirty="0">
                <a:latin typeface="Lucida Console" panose="020B0609040504020204" pitchFamily="49" charset="0"/>
              </a:rPr>
              <a:t> [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]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 mend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latin typeface="Lucida Console" panose="020B0609040504020204" pitchFamily="49" charset="0"/>
              </a:rPr>
              <a:t>fn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args</a:t>
            </a:r>
            <a:r>
              <a:rPr lang="en-US" altLang="zh-TW" sz="2400" dirty="0">
                <a:latin typeface="Lucida Console" panose="020B0609040504020204" pitchFamily="49" charset="0"/>
              </a:rPr>
              <a:t>):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sz="2400" dirty="0">
                <a:latin typeface="Lucida Console" panose="020B0609040504020204" pitchFamily="49" charset="0"/>
              </a:rPr>
              <a:t> [item for res in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map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latin typeface="Lucida Console" panose="020B0609040504020204" pitchFamily="49" charset="0"/>
              </a:rPr>
              <a:t>fn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args</a:t>
            </a:r>
            <a:r>
              <a:rPr lang="en-US" altLang="zh-TW" sz="2400" dirty="0">
                <a:latin typeface="Lucida Console" panose="020B0609040504020204" pitchFamily="49" charset="0"/>
              </a:rPr>
              <a:t>) for item in res]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s-ES" altLang="zh-TW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zh-TW" sz="2400" dirty="0">
                <a:latin typeface="Lucida Console" panose="020B0609040504020204" pitchFamily="49" charset="0"/>
              </a:rPr>
              <a:t>(</a:t>
            </a:r>
            <a:r>
              <a:rPr lang="es-E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functools.reduce</a:t>
            </a:r>
            <a:r>
              <a:rPr lang="es-ES" altLang="zh-TW" sz="2400" dirty="0">
                <a:latin typeface="Lucida Console" panose="020B0609040504020204" pitchFamily="49" charset="0"/>
              </a:rPr>
              <a:t>(lambda </a:t>
            </a:r>
            <a:r>
              <a:rPr lang="es-ES" altLang="zh-TW" sz="2400" dirty="0" err="1">
                <a:latin typeface="Lucida Console" panose="020B0609040504020204" pitchFamily="49" charset="0"/>
              </a:rPr>
              <a:t>x,y</a:t>
            </a:r>
            <a:r>
              <a:rPr lang="es-ES" altLang="zh-TW" sz="2400" dirty="0">
                <a:latin typeface="Lucida Console" panose="020B0609040504020204" pitchFamily="49" charset="0"/>
              </a:rPr>
              <a:t>: x+" "+y, </a:t>
            </a:r>
            <a:r>
              <a:rPr lang="es-E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gen</a:t>
            </a:r>
            <a:r>
              <a:rPr lang="es-ES" altLang="zh-TW" sz="2400" dirty="0">
                <a:latin typeface="Lucida Console" panose="020B0609040504020204" pitchFamily="49" charset="0"/>
              </a:rPr>
              <a:t>('S'))</a:t>
            </a:r>
            <a:r>
              <a:rPr lang="es-E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.</a:t>
            </a:r>
            <a:r>
              <a:rPr lang="es-E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capitalize</a:t>
            </a:r>
            <a:r>
              <a:rPr lang="es-ES" altLang="zh-TW" sz="2400" dirty="0">
                <a:latin typeface="Lucida Console" panose="020B0609040504020204" pitchFamily="49" charset="0"/>
              </a:rPr>
              <a:t>()+".")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0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python3 functionalExample.py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A ball hit the ball.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python3 functionalExample.py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The boy liked the table.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01662" y="4953000"/>
            <a:ext cx="8915400" cy="18288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Note: There are 2 functions (</a:t>
            </a:r>
            <a:r>
              <a:rPr lang="en-US" altLang="zh-TW" sz="2800" dirty="0">
                <a:solidFill>
                  <a:srgbClr val="CC3399"/>
                </a:solidFill>
                <a:latin typeface="Times New Roman" charset="0"/>
              </a:rPr>
              <a:t>gen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&amp; </a:t>
            </a:r>
            <a:r>
              <a:rPr lang="en-US" altLang="zh-TW" sz="2800" dirty="0">
                <a:solidFill>
                  <a:srgbClr val="CC3399"/>
                </a:solidFill>
                <a:latin typeface="Times New Roman" charset="0"/>
              </a:rPr>
              <a:t>mend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) plus the top-level (</a:t>
            </a:r>
            <a:r>
              <a:rPr lang="en-US" altLang="zh-TW" sz="2800" dirty="0" err="1">
                <a:solidFill>
                  <a:srgbClr val="000000"/>
                </a:solidFill>
                <a:latin typeface="Times New Roman" charset="0"/>
              </a:rPr>
              <a:t>ie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, </a:t>
            </a:r>
            <a:r>
              <a:rPr lang="en-US" altLang="zh-TW" sz="2800" dirty="0">
                <a:solidFill>
                  <a:srgbClr val="CC3399"/>
                </a:solidFill>
                <a:latin typeface="Times New Roman" charset="0"/>
              </a:rPr>
              <a:t>__main__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).  </a:t>
            </a:r>
            <a:r>
              <a:rPr lang="en-US" altLang="zh-TW" sz="2800" dirty="0">
                <a:solidFill>
                  <a:srgbClr val="FFC000"/>
                </a:solidFill>
                <a:latin typeface="Times New Roman" charset="0"/>
              </a:rPr>
              <a:t>Ignoring definitions, there are only three statements: two returns and one print. That is how functional programming works: the only statements are call and return.</a:t>
            </a:r>
            <a:endParaRPr lang="zh-TW" altLang="en-US" sz="2800" dirty="0">
              <a:solidFill>
                <a:srgbClr val="FFC000"/>
              </a:solidFill>
              <a:latin typeface="Times New Roman" charset="0"/>
            </a:endParaRPr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 flipV="1">
            <a:off x="1947747" y="3754245"/>
            <a:ext cx="4073409" cy="141063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1665249" y="2691161"/>
            <a:ext cx="3303330" cy="24142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" name="Title 1"/>
          <p:cNvSpPr txBox="1">
            <a:spLocks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sz="4000" b="1" kern="0"/>
              <a:t>A very complex functional program</a:t>
            </a:r>
            <a:endParaRPr lang="en-US" sz="4000" b="1" kern="0" dirty="0"/>
          </a:p>
        </p:txBody>
      </p:sp>
    </p:spTree>
    <p:extLst>
      <p:ext uri="{BB962C8B-B14F-4D97-AF65-F5344CB8AC3E}">
        <p14:creationId xmlns:p14="http://schemas.microsoft.com/office/powerpoint/2010/main" val="404348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2" y="685800"/>
            <a:ext cx="9144000" cy="6172200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cat functionalExample.py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import random, </a:t>
            </a:r>
            <a:r>
              <a:rPr lang="en-US" altLang="zh-TW" sz="2400" dirty="0" err="1">
                <a:latin typeface="Lucida Console" panose="020B0609040504020204" pitchFamily="49" charset="0"/>
              </a:rPr>
              <a:t>functools</a:t>
            </a:r>
            <a:endParaRPr lang="en-US" altLang="zh-TW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grammar=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dict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(S=[['NP','VP']],NP=[['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Art','N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']], VP=[['V','NP']],Art=['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the','a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'],N=['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boy','ball','girl','table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'],V=['</a:t>
            </a:r>
            <a:r>
              <a:rPr lang="en-US" altLang="zh-TW" sz="24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hit','heard','saw','liked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'])</a:t>
            </a:r>
            <a:endParaRPr lang="zh-TW" altLang="en-US" sz="240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gen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):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isinstance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 err="1">
                <a:latin typeface="Lucida Console" panose="020B0609040504020204" pitchFamily="49" charset="0"/>
              </a:rPr>
              <a:t>,list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mend</a:t>
            </a:r>
            <a:r>
              <a:rPr lang="en-US" altLang="zh-TW" sz="2400" dirty="0">
                <a:latin typeface="Lucida Console" panose="020B0609040504020204" pitchFamily="49" charset="0"/>
              </a:rPr>
              <a:t>(gen, 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400" dirty="0">
                <a:latin typeface="Lucida Console" panose="020B0609040504020204" pitchFamily="49" charset="0"/>
              </a:rPr>
              <a:t> (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in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</a:t>
            </a:r>
            <a:r>
              <a:rPr lang="en-US" altLang="zh-TW" sz="2400" dirty="0">
                <a:latin typeface="Lucida Console" panose="020B0609040504020204" pitchFamily="49" charset="0"/>
              </a:rPr>
              <a:t>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and</a:t>
            </a:r>
            <a:r>
              <a:rPr lang="en-US" altLang="zh-TW" sz="2400" dirty="0">
                <a:latin typeface="Lucida Console" panose="020B0609040504020204" pitchFamily="49" charset="0"/>
              </a:rPr>
              <a:t>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gen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random.choice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>
                <a:solidFill>
                  <a:srgbClr val="FFC000"/>
                </a:solidFill>
                <a:latin typeface="Lucida Console" panose="020B0609040504020204" pitchFamily="49" charset="0"/>
              </a:rPr>
              <a:t>grammar</a:t>
            </a:r>
            <a:r>
              <a:rPr lang="en-US" altLang="zh-TW" sz="2400" dirty="0">
                <a:latin typeface="Lucida Console" panose="020B0609040504020204" pitchFamily="49" charset="0"/>
              </a:rPr>
              <a:t>[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])) </a:t>
            </a:r>
            <a:r>
              <a:rPr lang="en-US" altLang="zh-TW" sz="2400" dirty="0">
                <a:solidFill>
                  <a:srgbClr val="FFCCCC"/>
                </a:solidFill>
                <a:latin typeface="Lucida Console" panose="020B0609040504020204" pitchFamily="49" charset="0"/>
              </a:rPr>
              <a:t>or</a:t>
            </a:r>
            <a:r>
              <a:rPr lang="en-US" altLang="zh-TW" sz="2400" dirty="0">
                <a:latin typeface="Lucida Console" panose="020B0609040504020204" pitchFamily="49" charset="0"/>
              </a:rPr>
              <a:t> [</a:t>
            </a:r>
            <a:r>
              <a:rPr lang="en-US" altLang="zh-TW" sz="2400" dirty="0">
                <a:solidFill>
                  <a:schemeClr val="accent2"/>
                </a:solidFill>
                <a:latin typeface="Lucida Console" panose="020B0609040504020204" pitchFamily="49" charset="0"/>
              </a:rPr>
              <a:t>phrase</a:t>
            </a:r>
            <a:r>
              <a:rPr lang="en-US" altLang="zh-TW" sz="2400" dirty="0">
                <a:latin typeface="Lucida Console" panose="020B0609040504020204" pitchFamily="49" charset="0"/>
              </a:rPr>
              <a:t>]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n-US" altLang="zh-TW" sz="2400" dirty="0" err="1">
                <a:solidFill>
                  <a:srgbClr val="CC3399"/>
                </a:solidFill>
                <a:latin typeface="Lucida Console" panose="020B0609040504020204" pitchFamily="49" charset="0"/>
              </a:rPr>
              <a:t>def</a:t>
            </a:r>
            <a:r>
              <a:rPr lang="en-US" altLang="zh-TW" sz="2400" dirty="0">
                <a:solidFill>
                  <a:srgbClr val="CC3399"/>
                </a:solidFill>
                <a:latin typeface="Lucida Console" panose="020B0609040504020204" pitchFamily="49" charset="0"/>
              </a:rPr>
              <a:t> mend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latin typeface="Lucida Console" panose="020B0609040504020204" pitchFamily="49" charset="0"/>
              </a:rPr>
              <a:t>fn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args</a:t>
            </a:r>
            <a:r>
              <a:rPr lang="en-US" altLang="zh-TW" sz="2400" dirty="0">
                <a:latin typeface="Lucida Console" panose="020B0609040504020204" pitchFamily="49" charset="0"/>
              </a:rPr>
              <a:t>): </a:t>
            </a: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sz="2400" dirty="0">
                <a:latin typeface="Lucida Console" panose="020B0609040504020204" pitchFamily="49" charset="0"/>
              </a:rPr>
              <a:t> [item for res in </a:t>
            </a:r>
            <a:r>
              <a:rPr lang="en-U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map</a:t>
            </a:r>
            <a:r>
              <a:rPr lang="en-US" altLang="zh-TW" sz="2400" dirty="0">
                <a:latin typeface="Lucida Console" panose="020B0609040504020204" pitchFamily="49" charset="0"/>
              </a:rPr>
              <a:t>(</a:t>
            </a:r>
            <a:r>
              <a:rPr lang="en-US" altLang="zh-TW" sz="2400" dirty="0" err="1">
                <a:latin typeface="Lucida Console" panose="020B0609040504020204" pitchFamily="49" charset="0"/>
              </a:rPr>
              <a:t>fn</a:t>
            </a:r>
            <a:r>
              <a:rPr lang="en-US" altLang="zh-TW" sz="2400" dirty="0">
                <a:latin typeface="Lucida Console" panose="020B0609040504020204" pitchFamily="49" charset="0"/>
              </a:rPr>
              <a:t>, </a:t>
            </a:r>
            <a:r>
              <a:rPr lang="en-US" altLang="zh-TW" sz="2400" dirty="0" err="1">
                <a:latin typeface="Lucida Console" panose="020B0609040504020204" pitchFamily="49" charset="0"/>
              </a:rPr>
              <a:t>args</a:t>
            </a:r>
            <a:r>
              <a:rPr lang="en-US" altLang="zh-TW" sz="2400" dirty="0">
                <a:latin typeface="Lucida Console" panose="020B0609040504020204" pitchFamily="49" charset="0"/>
              </a:rPr>
              <a:t>) for item in res]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85000"/>
              </a:lnSpc>
              <a:spcBef>
                <a:spcPts val="1200"/>
              </a:spcBef>
              <a:buNone/>
            </a:pPr>
            <a:r>
              <a:rPr lang="es-ES" altLang="zh-TW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print</a:t>
            </a:r>
            <a:r>
              <a:rPr lang="es-ES" altLang="zh-TW" sz="2400" dirty="0">
                <a:latin typeface="Lucida Console" panose="020B0609040504020204" pitchFamily="49" charset="0"/>
              </a:rPr>
              <a:t>(</a:t>
            </a:r>
            <a:r>
              <a:rPr lang="es-E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functools.reduce</a:t>
            </a:r>
            <a:r>
              <a:rPr lang="es-ES" altLang="zh-TW" sz="2400" dirty="0">
                <a:latin typeface="Lucida Console" panose="020B0609040504020204" pitchFamily="49" charset="0"/>
              </a:rPr>
              <a:t>(lambda </a:t>
            </a:r>
            <a:r>
              <a:rPr lang="es-ES" altLang="zh-TW" sz="2400" dirty="0" err="1">
                <a:latin typeface="Lucida Console" panose="020B0609040504020204" pitchFamily="49" charset="0"/>
              </a:rPr>
              <a:t>x,y</a:t>
            </a:r>
            <a:r>
              <a:rPr lang="es-ES" altLang="zh-TW" sz="2400" dirty="0">
                <a:latin typeface="Lucida Console" panose="020B0609040504020204" pitchFamily="49" charset="0"/>
              </a:rPr>
              <a:t>: x+" "+y, </a:t>
            </a:r>
            <a:r>
              <a:rPr lang="es-E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gen</a:t>
            </a:r>
            <a:r>
              <a:rPr lang="es-ES" altLang="zh-TW" sz="2400" dirty="0">
                <a:latin typeface="Lucida Console" panose="020B0609040504020204" pitchFamily="49" charset="0"/>
              </a:rPr>
              <a:t>('S'))</a:t>
            </a:r>
            <a:r>
              <a:rPr lang="es-ES" altLang="zh-TW" sz="2400" dirty="0">
                <a:solidFill>
                  <a:srgbClr val="339933"/>
                </a:solidFill>
                <a:latin typeface="Lucida Console" panose="020B0609040504020204" pitchFamily="49" charset="0"/>
              </a:rPr>
              <a:t>.</a:t>
            </a:r>
            <a:r>
              <a:rPr lang="es-ES" altLang="zh-TW" sz="24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capitalize</a:t>
            </a:r>
            <a:r>
              <a:rPr lang="es-ES" altLang="zh-TW" sz="2400" dirty="0">
                <a:latin typeface="Lucida Console" panose="020B0609040504020204" pitchFamily="49" charset="0"/>
              </a:rPr>
              <a:t>()+".")</a:t>
            </a:r>
            <a:endParaRPr lang="zh-TW" altLang="en-US" sz="24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2000" dirty="0">
              <a:latin typeface="Lucida Console" panose="020B0609040504020204" pitchFamily="49" charset="0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python3 functionalExample.py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A ball hit the ball.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 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python3 functionalExample.py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latin typeface="Lucida Console" panose="020B0609040504020204" pitchFamily="49" charset="0"/>
              </a:rPr>
              <a:t>The boy liked the table.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%</a:t>
            </a:r>
            <a:endParaRPr lang="zh-TW" altLang="en-US" sz="2400" dirty="0">
              <a:solidFill>
                <a:schemeClr val="bg1">
                  <a:lumMod val="75000"/>
                </a:schemeClr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01662" y="4953000"/>
            <a:ext cx="8915400" cy="18288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Note: There are 2 functions (</a:t>
            </a:r>
            <a:r>
              <a:rPr lang="en-US" altLang="zh-TW" sz="2800" dirty="0">
                <a:solidFill>
                  <a:srgbClr val="CC3399"/>
                </a:solidFill>
                <a:latin typeface="Times New Roman" charset="0"/>
              </a:rPr>
              <a:t>gen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&amp; </a:t>
            </a:r>
            <a:r>
              <a:rPr lang="en-US" altLang="zh-TW" sz="2800" dirty="0">
                <a:solidFill>
                  <a:srgbClr val="CC3399"/>
                </a:solidFill>
                <a:latin typeface="Times New Roman" charset="0"/>
              </a:rPr>
              <a:t>mend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) plus the top-level (</a:t>
            </a:r>
            <a:r>
              <a:rPr lang="en-US" altLang="zh-TW" sz="2800" dirty="0" err="1">
                <a:solidFill>
                  <a:srgbClr val="000000"/>
                </a:solidFill>
                <a:latin typeface="Times New Roman" charset="0"/>
              </a:rPr>
              <a:t>ie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, </a:t>
            </a:r>
            <a:r>
              <a:rPr lang="en-US" altLang="zh-TW" sz="2800" dirty="0">
                <a:solidFill>
                  <a:srgbClr val="CC3399"/>
                </a:solidFill>
                <a:latin typeface="Times New Roman" charset="0"/>
              </a:rPr>
              <a:t>__main__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).  Ignoring definitions, there are only three statements: two </a:t>
            </a:r>
            <a:r>
              <a:rPr lang="en-US" altLang="zh-TW" sz="2800" dirty="0">
                <a:solidFill>
                  <a:srgbClr val="FF0000"/>
                </a:solidFill>
                <a:latin typeface="Times New Roman" charset="0"/>
              </a:rPr>
              <a:t>returns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 and one </a:t>
            </a:r>
            <a:r>
              <a:rPr lang="en-US" altLang="zh-TW" sz="2800" dirty="0">
                <a:solidFill>
                  <a:srgbClr val="FF0000"/>
                </a:solidFill>
                <a:latin typeface="Times New Roman" charset="0"/>
              </a:rPr>
              <a:t>print</a:t>
            </a: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. That is how functional programming works: the only statements are call and return.</a:t>
            </a:r>
            <a:endParaRPr lang="zh-TW" altLang="en-US" sz="2800" dirty="0">
              <a:solidFill>
                <a:srgbClr val="000000"/>
              </a:solidFill>
              <a:latin typeface="Times New Roman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 flipH="1" flipV="1">
            <a:off x="1135062" y="4572000"/>
            <a:ext cx="609600" cy="990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 flipH="1" flipV="1">
            <a:off x="4868863" y="3733800"/>
            <a:ext cx="1219200" cy="1371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V="1">
            <a:off x="3878263" y="5410200"/>
            <a:ext cx="2209800" cy="609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4" name="Straight Arrow Connector 13"/>
          <p:cNvCxnSpPr/>
          <p:nvPr/>
        </p:nvCxnSpPr>
        <p:spPr bwMode="auto">
          <a:xfrm flipV="1">
            <a:off x="3749377" y="5410200"/>
            <a:ext cx="1271886" cy="6096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3749377" y="2668066"/>
            <a:ext cx="1219200" cy="243733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12" name="Title 1"/>
          <p:cNvSpPr txBox="1">
            <a:spLocks/>
          </p:cNvSpPr>
          <p:nvPr/>
        </p:nvSpPr>
        <p:spPr bwMode="auto">
          <a:xfrm>
            <a:off x="-1" y="0"/>
            <a:ext cx="9737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sz="4000" b="1" kern="0"/>
              <a:t>A very complex functional program</a:t>
            </a:r>
            <a:endParaRPr lang="en-US" sz="4000" b="1" kern="0" dirty="0"/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1947747" y="3754245"/>
            <a:ext cx="4073409" cy="141063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 flipV="1">
            <a:off x="1665249" y="2691161"/>
            <a:ext cx="3303330" cy="241424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" name="Rectangle 1"/>
          <p:cNvSpPr/>
          <p:nvPr/>
        </p:nvSpPr>
        <p:spPr bwMode="auto">
          <a:xfrm>
            <a:off x="6103434" y="5910146"/>
            <a:ext cx="3315629" cy="364274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661639" y="6337609"/>
            <a:ext cx="8723971" cy="364274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4" name="Arc 3"/>
          <p:cNvSpPr/>
          <p:nvPr/>
        </p:nvSpPr>
        <p:spPr bwMode="auto">
          <a:xfrm rot="557865" flipV="1">
            <a:off x="1872326" y="5014343"/>
            <a:ext cx="3754102" cy="1703983"/>
          </a:xfrm>
          <a:prstGeom prst="arc">
            <a:avLst>
              <a:gd name="adj1" fmla="val 11235453"/>
              <a:gd name="adj2" fmla="val 21589208"/>
            </a:avLst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816702" y="5114441"/>
            <a:ext cx="8028122" cy="1743559"/>
          </a:xfrm>
          <a:prstGeom prst="round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This is too complicated for you to understand.</a:t>
            </a:r>
            <a:b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But it is intended to teach two things: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1. That functional programming is general-purpose.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000000"/>
                </a:solidFill>
                <a:latin typeface="Times New Roman" charset="0"/>
              </a:rPr>
              <a:t>2. That Python supports functional programming.</a:t>
            </a:r>
            <a:r>
              <a:rPr lang="en-US" altLang="zh-TW" sz="2800" dirty="0">
                <a:solidFill>
                  <a:srgbClr val="FFC000"/>
                </a:solidFill>
                <a:latin typeface="Times New Roman" charset="0"/>
              </a:rPr>
              <a:t>...</a:t>
            </a:r>
            <a:endParaRPr lang="zh-TW" altLang="en-US" sz="2800" dirty="0">
              <a:solidFill>
                <a:srgbClr val="FFC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68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xit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2" presetClass="exit" presetSubtype="4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" presetClass="exit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6" grpId="0" animBg="1"/>
      <p:bldP spid="4" grpId="0" animBg="1"/>
      <p:bldP spid="4" grpId="1" animBg="1"/>
      <p:bldP spid="1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241762"/>
              </p:ext>
            </p:extLst>
          </p:nvPr>
        </p:nvGraphicFramePr>
        <p:xfrm>
          <a:off x="296862" y="0"/>
          <a:ext cx="9144000" cy="68650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69915696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161817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0118774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6374828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93103044"/>
                    </a:ext>
                  </a:extLst>
                </a:gridCol>
              </a:tblGrid>
              <a:tr h="549396">
                <a:tc gridSpan="5">
                  <a:txBody>
                    <a:bodyPr/>
                    <a:lstStyle/>
                    <a:p>
                      <a:pPr algn="ctr"/>
                      <a:r>
                        <a:rPr lang="en-US" sz="3200" u="none" baseline="0" dirty="0">
                          <a:solidFill>
                            <a:srgbClr val="2D2DB9"/>
                          </a:solidFill>
                          <a:effectLst/>
                        </a:rPr>
                        <a:t>The built-in functions:</a:t>
                      </a:r>
                      <a:endParaRPr lang="en-US" sz="3200" u="none" dirty="0">
                        <a:solidFill>
                          <a:srgbClr val="2D2DB9"/>
                        </a:solidFill>
                        <a:effectLst/>
                      </a:endParaRPr>
                    </a:p>
                  </a:txBody>
                  <a:tcPr marL="0" marR="0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792" marR="68792" marT="34396" marB="34396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408680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abs()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dict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help()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min()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setattr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374572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all()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dir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hex()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next()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slice()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19644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any()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divmod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object()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sorted()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622858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ascii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enumerate()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input()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oct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staticmethod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07146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bin()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int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open()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str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83927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bool()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exec()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isinstance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ord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sum()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65699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bytearray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filter()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issubclass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pow()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super()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56525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bytes()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float()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iter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print()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tuple()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08257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callable()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format()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len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property()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type()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21485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chr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frozenset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list()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range()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vars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80871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classmethod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getattr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locals()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repr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zip()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0373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compile()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globals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map()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reversed()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__import__()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09716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complex()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hasattr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max()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round()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u="non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964495"/>
                  </a:ext>
                </a:extLst>
              </a:tr>
              <a:tr h="54939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delattr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hash()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memoryview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set()</a:t>
                      </a:r>
                      <a:endParaRPr lang="en-US" sz="2400" u="non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u="non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90946"/>
                  </a:ext>
                </a:extLst>
              </a:tr>
            </a:tbl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349624" y="636494"/>
            <a:ext cx="9052912" cy="6158006"/>
            <a:chOff x="349624" y="636494"/>
            <a:chExt cx="9052912" cy="6158006"/>
          </a:xfrm>
        </p:grpSpPr>
        <p:sp>
          <p:nvSpPr>
            <p:cNvPr id="5" name="Rectangle 4"/>
            <p:cNvSpPr/>
            <p:nvPr/>
          </p:nvSpPr>
          <p:spPr bwMode="auto">
            <a:xfrm>
              <a:off x="7649526" y="64717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7649526" y="4643723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7649526" y="3738284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7649526" y="4186518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7649526" y="3299011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7649526" y="2420479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7649526" y="1981206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7649526" y="1075767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7649526" y="636494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7649526" y="5523347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7649526" y="59672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4026682" y="5082996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4026682" y="64717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4026682" y="4643723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4026682" y="4186518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4026682" y="3299011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4026682" y="2420479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4026682" y="2868713"/>
              <a:ext cx="1605679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4026682" y="1981206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4026682" y="1075767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4026682" y="1524001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9" name="Rectangle 28"/>
            <p:cNvSpPr/>
            <p:nvPr/>
          </p:nvSpPr>
          <p:spPr bwMode="auto">
            <a:xfrm>
              <a:off x="4026682" y="636494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167412" y="5082996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3" name="Rectangle 32"/>
            <p:cNvSpPr/>
            <p:nvPr/>
          </p:nvSpPr>
          <p:spPr bwMode="auto">
            <a:xfrm>
              <a:off x="2167412" y="64717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2167412" y="4643723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5" name="Rectangle 34"/>
            <p:cNvSpPr/>
            <p:nvPr/>
          </p:nvSpPr>
          <p:spPr bwMode="auto">
            <a:xfrm>
              <a:off x="2167412" y="3738284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2167412" y="4186518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2167412" y="2420479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2167412" y="2868713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2167412" y="1981206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2167412" y="1075767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2167412" y="1524001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2167412" y="636494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2167412" y="5523347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2167412" y="59672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349624" y="5082996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349624" y="64717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349624" y="4643723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349624" y="3738284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349624" y="4186518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349624" y="3299011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349624" y="2420479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349624" y="2868713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349624" y="1981206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7" name="Rectangle 56"/>
            <p:cNvSpPr/>
            <p:nvPr/>
          </p:nvSpPr>
          <p:spPr bwMode="auto">
            <a:xfrm>
              <a:off x="349624" y="636494"/>
              <a:ext cx="878541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349624" y="5523347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349624" y="59672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0" name="Rectangle 59"/>
            <p:cNvSpPr/>
            <p:nvPr/>
          </p:nvSpPr>
          <p:spPr bwMode="auto">
            <a:xfrm>
              <a:off x="5844470" y="5082996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1" name="Rectangle 60"/>
            <p:cNvSpPr/>
            <p:nvPr/>
          </p:nvSpPr>
          <p:spPr bwMode="auto">
            <a:xfrm>
              <a:off x="5844470" y="64717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844470" y="4643723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3" name="Rectangle 62"/>
            <p:cNvSpPr/>
            <p:nvPr/>
          </p:nvSpPr>
          <p:spPr bwMode="auto">
            <a:xfrm>
              <a:off x="5844470" y="3738284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5844470" y="4186518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5" name="Rectangle 64"/>
            <p:cNvSpPr/>
            <p:nvPr/>
          </p:nvSpPr>
          <p:spPr bwMode="auto">
            <a:xfrm>
              <a:off x="5844470" y="3299011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6" name="Rectangle 65"/>
            <p:cNvSpPr/>
            <p:nvPr/>
          </p:nvSpPr>
          <p:spPr bwMode="auto">
            <a:xfrm>
              <a:off x="5844470" y="2420479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7" name="Rectangle 66"/>
            <p:cNvSpPr/>
            <p:nvPr/>
          </p:nvSpPr>
          <p:spPr bwMode="auto">
            <a:xfrm>
              <a:off x="5844470" y="2868713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8" name="Rectangle 67"/>
            <p:cNvSpPr/>
            <p:nvPr/>
          </p:nvSpPr>
          <p:spPr bwMode="auto">
            <a:xfrm>
              <a:off x="5844470" y="1981206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5844470" y="1075767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5844470" y="1524001"/>
              <a:ext cx="1753010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73" name="Rectangle 72"/>
            <p:cNvSpPr/>
            <p:nvPr/>
          </p:nvSpPr>
          <p:spPr bwMode="auto">
            <a:xfrm>
              <a:off x="5844470" y="5967270"/>
              <a:ext cx="1661297" cy="322730"/>
            </a:xfrm>
            <a:prstGeom prst="rect">
              <a:avLst/>
            </a:prstGeom>
            <a:solidFill>
              <a:srgbClr val="FFFFFF">
                <a:alpha val="89804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939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0"/>
    </mc:Choice>
    <mc:Fallback xmlns="">
      <p:transition spd="slow" advTm="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752528"/>
              </p:ext>
            </p:extLst>
          </p:nvPr>
        </p:nvGraphicFramePr>
        <p:xfrm>
          <a:off x="296862" y="0"/>
          <a:ext cx="9144000" cy="68650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69915696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03161817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30118774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06374828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93103044"/>
                    </a:ext>
                  </a:extLst>
                </a:gridCol>
              </a:tblGrid>
              <a:tr h="549396">
                <a:tc gridSpan="5">
                  <a:txBody>
                    <a:bodyPr/>
                    <a:lstStyle/>
                    <a:p>
                      <a:pPr algn="ctr"/>
                      <a:r>
                        <a:rPr lang="en-US" sz="3200" u="none" baseline="0" dirty="0">
                          <a:solidFill>
                            <a:srgbClr val="2D2DB9"/>
                          </a:solidFill>
                          <a:effectLst/>
                        </a:rPr>
                        <a:t>The built-in functions:</a:t>
                      </a:r>
                      <a:endParaRPr lang="en-US" sz="3200" u="none" dirty="0">
                        <a:solidFill>
                          <a:srgbClr val="2D2DB9"/>
                        </a:solidFill>
                        <a:effectLst/>
                      </a:endParaRPr>
                    </a:p>
                  </a:txBody>
                  <a:tcPr marL="0" marR="0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zh-TW" altLang="en-US" sz="1400"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sz="1400" dirty="0"/>
                    </a:p>
                  </a:txBody>
                  <a:tcPr marL="68792" marR="68792" marT="34396" marB="34396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6408680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abs()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dict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help()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min()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setattr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374572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all()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rgbClr val="F2F2F2"/>
                          </a:solidFill>
                          <a:effectLst/>
                        </a:rPr>
                        <a:t>dir</a:t>
                      </a:r>
                      <a:r>
                        <a:rPr lang="en-US" sz="2400" u="none" strike="noStrike" dirty="0">
                          <a:solidFill>
                            <a:srgbClr val="F2F2F2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rgbClr val="F2F2F2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hex()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next()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slice()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19644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any()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divmod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id()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object()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sorted()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622858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ascii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enumerate()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input()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oct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staticmethod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307146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bin()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eval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int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open()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str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83927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bool()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exec()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isinstance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ord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sum()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65699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bytearray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filter()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issubclass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+mn-lt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pow()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super()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56525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bytes()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float()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iter</a:t>
                      </a:r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print()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tuple()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208257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callable()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format()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len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property()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type()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21485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chr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frozenset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list()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range()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vars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680871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classmethod</a:t>
                      </a:r>
                      <a:r>
                        <a:rPr lang="en-US" sz="2400" u="none" strike="noStrike" dirty="0">
                          <a:solidFill>
                            <a:srgbClr val="F2F2F2"/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400" u="none" dirty="0">
                        <a:solidFill>
                          <a:srgbClr val="F2F2F2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getattr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locals()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repr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zip()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440373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2F2F2"/>
                          </a:solidFill>
                          <a:effectLst/>
                        </a:rPr>
                        <a:t>compile()</a:t>
                      </a:r>
                      <a:endParaRPr lang="en-US" sz="2400" u="none" dirty="0">
                        <a:solidFill>
                          <a:srgbClr val="F2F2F2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globals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map()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reversed()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__import__()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309716"/>
                  </a:ext>
                </a:extLst>
              </a:tr>
              <a:tr h="44301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complex()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hasattr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max()</a:t>
                      </a:r>
                      <a:endParaRPr lang="en-US" sz="2400" u="none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round()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u="non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964495"/>
                  </a:ext>
                </a:extLst>
              </a:tr>
              <a:tr h="549396"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delattr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hash()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 err="1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memoryview</a:t>
                      </a:r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  <a:latin typeface="Arial Narrow" panose="020B0606020202030204" pitchFamily="34" charset="0"/>
                        </a:rPr>
                        <a:t>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set()</a:t>
                      </a:r>
                      <a:endParaRPr lang="en-US" sz="2400" u="none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400" u="non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</a:txBody>
                  <a:tcPr marL="68792" marR="68792" marT="34396" marB="34396" anchor="ctr">
                    <a:lnL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90946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1549830" y="1068090"/>
            <a:ext cx="5904853" cy="20574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3333CC"/>
                </a:solidFill>
                <a:latin typeface="Times New Roman" charset="0"/>
                <a:ea typeface="MS PGothic" pitchFamily="34" charset="-128"/>
              </a:rPr>
              <a:t>These functions can all be applied to </a:t>
            </a:r>
            <a:r>
              <a:rPr lang="en-US" altLang="zh-TW" sz="3200" dirty="0" err="1">
                <a:solidFill>
                  <a:srgbClr val="3333CC"/>
                </a:solidFill>
                <a:latin typeface="Times New Roman" charset="0"/>
                <a:ea typeface="MS PGothic" pitchFamily="34" charset="-128"/>
              </a:rPr>
              <a:t>iterables</a:t>
            </a:r>
            <a:r>
              <a:rPr lang="en-US" altLang="zh-TW" sz="3200" dirty="0">
                <a:solidFill>
                  <a:srgbClr val="3333CC"/>
                </a:solidFill>
                <a:latin typeface="Times New Roman" charset="0"/>
                <a:ea typeface="MS PGothic" pitchFamily="34" charset="-128"/>
              </a:rPr>
              <a:t>.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3333CC"/>
                </a:solidFill>
                <a:latin typeface="Times New Roman" charset="0"/>
                <a:ea typeface="MS PGothic" pitchFamily="34" charset="-128"/>
              </a:rPr>
              <a:t>That makes them well-suited to use in “functional programming”.</a:t>
            </a:r>
            <a:endParaRPr lang="zh-TW" altLang="en-US" sz="3200" dirty="0">
              <a:solidFill>
                <a:srgbClr val="3333CC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953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0000"/>
              </a:lnSpc>
            </a:pPr>
            <a:endParaRPr lang="en-US" altLang="zh-TW" sz="700" kern="0" spc="-100" dirty="0">
              <a:solidFill>
                <a:srgbClr val="9D9D9D"/>
              </a:solidFill>
              <a:latin typeface="Consolas" panose="020B0609020204030204" pitchFamily="49" charset="0"/>
            </a:endParaRPr>
          </a:p>
          <a:p>
            <a:pPr lvl="0"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5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spc="-1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rgbClr val="FF9933"/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rgbClr val="FF9933"/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endParaRPr lang="en-US" altLang="zh-TW" sz="2600" spc="-200" dirty="0">
              <a:solidFill>
                <a:srgbClr val="FFCC99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54968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777518" y="644582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039812" y="6436006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24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5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rgbClr val="FF9933"/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8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rgbClr val="FF9933"/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rgbClr val="FF9933"/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rgbClr val="FF9933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33"/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800" spc="-100" dirty="0">
              <a:solidFill>
                <a:srgbClr val="FF9933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rgbClr val="FF9933"/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rgbClr val="FF9933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rgbClr val="FF9933"/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rgbClr val="FF9933"/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rgbClr val="FF9933"/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&gt;&gt;&gt; 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7856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049438" y="645960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6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0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</a:t>
            </a:r>
            <a:r>
              <a:rPr lang="en-US" altLang="zh-TW" sz="2600" kern="0" spc="-100" dirty="0" err="1">
                <a:solidFill>
                  <a:srgbClr val="9D9D9D"/>
                </a:solidFill>
                <a:latin typeface="Consolas" panose="020B0609020204030204" pitchFamily="49" charset="0"/>
              </a:rPr>
              <a:t>memoryview</a:t>
            </a: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'); _.remove('open')</a:t>
            </a:r>
          </a:p>
          <a:p>
            <a:pPr>
              <a:lnSpc>
                <a:spcPct val="95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10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b="1" kern="0" spc="-100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8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8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105" y="637856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290507" y="2157368"/>
            <a:ext cx="2511725" cy="1428070"/>
            <a:chOff x="5197519" y="2381510"/>
            <a:chExt cx="2511725" cy="1428070"/>
          </a:xfrm>
        </p:grpSpPr>
        <p:sp>
          <p:nvSpPr>
            <p:cNvPr id="11" name="Rounded Rectangular Callout 10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3" name="Rounded Rectangular Callout 12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1" name="Rounded Rectangular Callout 20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4608522" y="6487295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49438" y="645960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61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5000"/>
              </a:lnSpc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 _.remove('quit'); _.remove('exit'); _</a:t>
            </a:r>
          </a:p>
          <a:p>
            <a:pPr lvl="0">
              <a:lnSpc>
                <a:spcPct val="95000"/>
              </a:lnSpc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6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6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90507" y="1837328"/>
            <a:ext cx="2511725" cy="1428070"/>
            <a:chOff x="5197519" y="2381510"/>
            <a:chExt cx="2511725" cy="1428070"/>
          </a:xfrm>
        </p:grpSpPr>
        <p:sp>
          <p:nvSpPr>
            <p:cNvPr id="11" name="Rounded Rectangular Callout 10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3" name="Rounded Rectangular Callout 12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1" name="Rounded Rectangular Callout 20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9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5000"/>
              </a:lnSpc>
            </a:pP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l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te</a:t>
            </a:r>
            <a:r>
              <a:rPr lang="en-US" altLang="zh-TW" sz="2500" b="1" kern="0" spc="-200" dirty="0">
                <a:solidFill>
                  <a:srgbClr val="FFFF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6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6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 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90507" y="1460138"/>
            <a:ext cx="2511725" cy="1428070"/>
            <a:chOff x="5197519" y="2381510"/>
            <a:chExt cx="2511725" cy="1428070"/>
          </a:xfrm>
        </p:grpSpPr>
        <p:sp>
          <p:nvSpPr>
            <p:cNvPr id="11" name="Rounded Rectangular Callout 10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3" name="Rounded Rectangular Callout 12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1" name="Rounded Rectangular Callout 20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7734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5000"/>
              </a:lnSpc>
            </a:pP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FF00"/>
                </a:solidFill>
                <a:latin typeface="Consolas" panose="020B0609020204030204" pitchFamily="49" charset="0"/>
              </a:rPr>
              <a:t>map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b="1" kern="0" spc="-100" dirty="0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', 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6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16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5290507" y="1151528"/>
            <a:ext cx="2511725" cy="1428070"/>
            <a:chOff x="5197519" y="2381510"/>
            <a:chExt cx="2511725" cy="1428070"/>
          </a:xfrm>
        </p:grpSpPr>
        <p:sp>
          <p:nvSpPr>
            <p:cNvPr id="11" name="Rounded Rectangular Callout 10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3" name="Rounded Rectangular Callout 12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2" name="Isosceles Triangle 11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21" name="Rounded Rectangular Callout 20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53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5000"/>
              </a:lnSpc>
            </a:pP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object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property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 err="1">
                <a:solidFill>
                  <a:srgbClr val="FFFFFF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500" kern="0" spc="-300" dirty="0">
                <a:solidFill>
                  <a:srgbClr val="FFFFFF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5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super']</a:t>
            </a:r>
          </a:p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290507" y="751478"/>
            <a:ext cx="2511725" cy="1428070"/>
            <a:chOff x="5197519" y="2381510"/>
            <a:chExt cx="2511725" cy="1428070"/>
          </a:xfrm>
        </p:grpSpPr>
        <p:sp>
          <p:nvSpPr>
            <p:cNvPr id="10" name="Rounded Rectangular Callout 9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4" name="Rounded Rectangular Callout 13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5" name="Isosceles Triangle 14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" name="Rounded Rectangular Callout 15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167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>
              <a:lnSpc>
                <a:spcPct val="90000"/>
              </a:lnSpc>
              <a:spcBef>
                <a:spcPts val="300"/>
              </a:spcBef>
            </a:pPr>
            <a:r>
              <a:rPr lang="en-US" altLang="zh-TW" sz="2600" kern="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4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kern="0" spc="-100" dirty="0" err="1">
                <a:solidFill>
                  <a:srgbClr val="FF0000"/>
                </a:solidFill>
                <a:latin typeface="Consolas" panose="020B0609020204030204" pitchFamily="49" charset="0"/>
              </a:rPr>
              <a:t>afterMidterm</a:t>
            </a:r>
            <a:r>
              <a:rPr lang="en-US" altLang="zh-TW" sz="2600" kern="0" spc="-100" dirty="0">
                <a:solidFill>
                  <a:srgbClr val="FFFFFF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endParaRPr lang="en-US" altLang="zh-TW" sz="2600" kern="0" spc="-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290507" y="374288"/>
            <a:ext cx="2511725" cy="1428070"/>
            <a:chOff x="5197519" y="2381510"/>
            <a:chExt cx="2511725" cy="1428070"/>
          </a:xfrm>
        </p:grpSpPr>
        <p:sp>
          <p:nvSpPr>
            <p:cNvPr id="10" name="Rounded Rectangular Callout 9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4" name="Rounded Rectangular Callout 13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5" name="Isosceles Triangle 14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" name="Rounded Rectangular Callout 15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29509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 print(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_[:54]+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filter.</a:t>
            </a:r>
            <a:r>
              <a:rPr lang="en-US" altLang="zh-TW" sz="2600" spc="-200" dirty="0" err="1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_doc</a:t>
            </a:r>
            <a:r>
              <a:rPr lang="en-US" altLang="zh-TW" sz="2600" spc="-200" dirty="0">
                <a:solidFill>
                  <a:srgbClr val="FFFFFF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_[88:])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5290507" y="42818"/>
            <a:ext cx="2511725" cy="1428070"/>
            <a:chOff x="5197519" y="2381510"/>
            <a:chExt cx="2511725" cy="1428070"/>
          </a:xfrm>
        </p:grpSpPr>
        <p:sp>
          <p:nvSpPr>
            <p:cNvPr id="10" name="Rounded Rectangular Callout 9"/>
            <p:cNvSpPr/>
            <p:nvPr/>
          </p:nvSpPr>
          <p:spPr bwMode="auto">
            <a:xfrm>
              <a:off x="5207152" y="2941785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What about these?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4" name="Rounded Rectangular Callout 13"/>
            <p:cNvSpPr/>
            <p:nvPr/>
          </p:nvSpPr>
          <p:spPr bwMode="auto">
            <a:xfrm flipH="1">
              <a:off x="5217190" y="2940873"/>
              <a:ext cx="2492054" cy="864920"/>
            </a:xfrm>
            <a:prstGeom prst="wedgeRoundRectCallout">
              <a:avLst>
                <a:gd name="adj1" fmla="val 46315"/>
                <a:gd name="adj2" fmla="val -116126"/>
                <a:gd name="adj3" fmla="val 16667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  <p:sp>
          <p:nvSpPr>
            <p:cNvPr id="15" name="Isosceles Triangle 14"/>
            <p:cNvSpPr/>
            <p:nvPr/>
          </p:nvSpPr>
          <p:spPr bwMode="auto">
            <a:xfrm rot="2188189">
              <a:off x="6849052" y="2381510"/>
              <a:ext cx="548938" cy="809166"/>
            </a:xfrm>
            <a:prstGeom prst="triangle">
              <a:avLst>
                <a:gd name="adj" fmla="val 75708"/>
              </a:avLst>
            </a:prstGeom>
            <a:solidFill>
              <a:srgbClr val="FFCC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16" name="Rounded Rectangular Callout 15"/>
            <p:cNvSpPr/>
            <p:nvPr/>
          </p:nvSpPr>
          <p:spPr bwMode="auto">
            <a:xfrm>
              <a:off x="5197519" y="2944660"/>
              <a:ext cx="2472828" cy="864920"/>
            </a:xfrm>
            <a:prstGeom prst="wedgeRoundRectCallout">
              <a:avLst>
                <a:gd name="adj1" fmla="val 27147"/>
                <a:gd name="adj2" fmla="val -46698"/>
                <a:gd name="adj3" fmla="val 16667"/>
              </a:avLst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57316" algn="ctr"/>
              <a:r>
                <a:rPr lang="en-US" altLang="zh-TW" sz="2592" spc="-93" dirty="0">
                  <a:latin typeface="Lucida Console" panose="020B0609040504020204" pitchFamily="49" charset="0"/>
                  <a:cs typeface="Courier New" pitchFamily="49" charset="0"/>
                </a:rPr>
                <a:t>These relate to </a:t>
              </a:r>
              <a:r>
                <a:rPr lang="en-US" altLang="zh-TW" sz="2592" spc="-93" dirty="0" err="1">
                  <a:latin typeface="Lucida Console" panose="020B0609040504020204" pitchFamily="49" charset="0"/>
                  <a:cs typeface="Courier New" pitchFamily="49" charset="0"/>
                </a:rPr>
                <a:t>iterables</a:t>
              </a: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  <a:p>
              <a:pPr algn="ctr">
                <a:buFontTx/>
                <a:buNone/>
              </a:pPr>
              <a:endParaRPr lang="en-US" altLang="zh-TW" sz="2592" spc="-463" dirty="0">
                <a:latin typeface="Lucida Console" panose="020B0609040504020204" pitchFamily="49" charset="0"/>
                <a:cs typeface="Courier New" pitchFamily="49" charset="0"/>
              </a:endParaRPr>
            </a:p>
          </p:txBody>
        </p:sp>
      </p:grp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75929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filter(function or None,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20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18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--&gt;</a:t>
            </a:r>
            <a:r>
              <a:rPr lang="en-US" altLang="zh-TW" sz="2000" spc="-1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filter</a:t>
            </a:r>
            <a:r>
              <a:rPr lang="en-US" altLang="zh-TW" sz="24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300140" y="180183"/>
            <a:ext cx="2492054" cy="864920"/>
          </a:xfrm>
          <a:prstGeom prst="wedgeRoundRectCallout">
            <a:avLst>
              <a:gd name="adj1" fmla="val 32097"/>
              <a:gd name="adj2" fmla="val -57980"/>
              <a:gd name="adj3" fmla="val 16667"/>
            </a:avLst>
          </a:prstGeom>
          <a:solidFill>
            <a:srgbClr val="FFCC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</a:bodyPr>
          <a:lstStyle/>
          <a:p>
            <a:pPr marL="57316" algn="ctr"/>
            <a:r>
              <a:rPr lang="en-US" altLang="zh-TW" sz="2592" spc="-93" dirty="0">
                <a:latin typeface="Lucida Console" panose="020B0609040504020204" pitchFamily="49" charset="0"/>
                <a:cs typeface="Courier New" pitchFamily="49" charset="0"/>
              </a:rPr>
              <a:t>What about these?</a:t>
            </a: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  <a:p>
            <a:pPr algn="ctr">
              <a:buFontTx/>
              <a:buNone/>
            </a:pP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 flipH="1">
            <a:off x="5310178" y="179271"/>
            <a:ext cx="2492054" cy="864920"/>
          </a:xfrm>
          <a:prstGeom prst="wedgeRoundRectCallout">
            <a:avLst>
              <a:gd name="adj1" fmla="val 29803"/>
              <a:gd name="adj2" fmla="val -60623"/>
              <a:gd name="adj3" fmla="val 16667"/>
            </a:avLst>
          </a:prstGeom>
          <a:solidFill>
            <a:srgbClr val="FFCC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buFontTx/>
              <a:buNone/>
            </a:pP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16" name="Rounded Rectangular Callout 15"/>
          <p:cNvSpPr/>
          <p:nvPr/>
        </p:nvSpPr>
        <p:spPr bwMode="auto">
          <a:xfrm>
            <a:off x="5290507" y="183058"/>
            <a:ext cx="2472828" cy="864920"/>
          </a:xfrm>
          <a:prstGeom prst="wedgeRoundRectCallout">
            <a:avLst>
              <a:gd name="adj1" fmla="val 27147"/>
              <a:gd name="adj2" fmla="val -46698"/>
              <a:gd name="adj3" fmla="val 16667"/>
            </a:avLst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45720" numCol="1" rtlCol="0" anchor="t" anchorCtr="0" compatLnSpc="1">
            <a:prstTxWarp prst="textNoShape">
              <a:avLst/>
            </a:prstTxWarp>
          </a:bodyPr>
          <a:lstStyle/>
          <a:p>
            <a:pPr marL="57316" algn="ctr"/>
            <a:r>
              <a:rPr lang="en-US" altLang="zh-TW" sz="2592" spc="-93" dirty="0">
                <a:latin typeface="Lucida Console" panose="020B0609040504020204" pitchFamily="49" charset="0"/>
                <a:cs typeface="Courier New" pitchFamily="49" charset="0"/>
              </a:rPr>
              <a:t>These relate to </a:t>
            </a:r>
            <a:r>
              <a:rPr lang="en-US" altLang="zh-TW" sz="2592" spc="-93" dirty="0" err="1">
                <a:latin typeface="Lucida Console" panose="020B0609040504020204" pitchFamily="49" charset="0"/>
                <a:cs typeface="Courier New" pitchFamily="49" charset="0"/>
              </a:rPr>
              <a:t>iterables</a:t>
            </a: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  <a:p>
            <a:pPr algn="ctr">
              <a:buFontTx/>
              <a:buNone/>
            </a:pPr>
            <a:endParaRPr lang="en-US" altLang="zh-TW" sz="2592" spc="-463" dirty="0">
              <a:latin typeface="Lucida Console" panose="020B0609040504020204" pitchFamily="49" charset="0"/>
              <a:cs typeface="Courier New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480330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355514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608522" y="6425823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49438" y="6436552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03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items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of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</a:t>
            </a:r>
            <a:r>
              <a:rPr lang="en-US" altLang="zh-TW" sz="2600" spc="-80" dirty="0" err="1">
                <a:solidFill>
                  <a:srgbClr val="FF9933"/>
                </a:solidFill>
                <a:latin typeface="Consolas" panose="020B0609020204030204" pitchFamily="49" charset="0"/>
              </a:rPr>
              <a:t>bl</a:t>
            </a:r>
            <a:r>
              <a:rPr lang="en-US" altLang="zh-TW" sz="2600" spc="-40" dirty="0" err="1">
                <a:solidFill>
                  <a:srgbClr val="FF9933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400" spc="-4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zh-TW" sz="2600" spc="-5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ch</a:t>
            </a: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ion(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m)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s true.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405160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ion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Non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he</a:t>
            </a:r>
            <a:r>
              <a:rPr lang="en-US" altLang="zh-TW" sz="24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ems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hat</a:t>
            </a:r>
            <a:r>
              <a:rPr lang="en-US" altLang="zh-TW" sz="20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re</a:t>
            </a:r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tru</a:t>
            </a:r>
            <a:r>
              <a:rPr lang="en-US" altLang="zh-TW" sz="2600" spc="-3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A6A6A6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37252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rgbClr val="9D9D9D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100" dirty="0">
                <a:solidFill>
                  <a:srgbClr val="FFCC99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__[:38]+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map.__doc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__[60:])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endParaRPr lang="en-US" altLang="zh-TW" sz="26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88621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map(</a:t>
            </a:r>
            <a:r>
              <a:rPr lang="en-US" altLang="zh-TW" sz="2600" spc="-100" dirty="0" err="1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, *</a:t>
            </a:r>
            <a:r>
              <a:rPr lang="en-US" altLang="zh-TW" sz="2600" spc="-10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) --&gt; map object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96257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endParaRPr lang="en-US" altLang="zh-TW" sz="2400" spc="-100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remove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66123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computes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funct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on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using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arguments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from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each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2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o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f</a:t>
            </a:r>
            <a:r>
              <a:rPr lang="en-US" altLang="zh-TW" sz="24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the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37856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9386355" y="6487295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049438" y="645960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89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4000"/>
              </a:lnSpc>
            </a:pP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iterables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. Stops when the shortest </a:t>
            </a:r>
            <a:r>
              <a:rPr lang="en-US" altLang="zh-TW" sz="2600" spc="-180" dirty="0" err="1">
                <a:solidFill>
                  <a:srgbClr val="FF9933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spc="-18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is exhausted.</a:t>
            </a:r>
          </a:p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6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8002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/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filte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r')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ma</a:t>
            </a:r>
            <a:r>
              <a:rPr lang="en-US" altLang="zh-TW" sz="2600" spc="-400" dirty="0">
                <a:solidFill>
                  <a:schemeClr val="bg1"/>
                </a:solidFill>
                <a:latin typeface="Consolas" panose="020B0609020204030204" pitchFamily="49" charset="0"/>
              </a:rPr>
              <a:t>p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1823982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lvl="0" defTabSz="914400">
              <a:lnSpc>
                <a:spcPct val="85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8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20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</p:spTree>
    <p:extLst>
      <p:ext uri="{BB962C8B-B14F-4D97-AF65-F5344CB8AC3E}">
        <p14:creationId xmlns:p14="http://schemas.microsoft.com/office/powerpoint/2010/main" val="33032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"/>
    </mc:Choice>
    <mc:Fallback xmlns="">
      <p:transition advTm="20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/>
            <a:endParaRPr lang="en-US" altLang="zh-TW" sz="20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44968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438" y="653072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圓角矩形圖說文字 4"/>
          <p:cNvSpPr/>
          <p:nvPr/>
        </p:nvSpPr>
        <p:spPr bwMode="auto">
          <a:xfrm>
            <a:off x="7376160" y="5872480"/>
            <a:ext cx="2361565" cy="985520"/>
          </a:xfrm>
          <a:prstGeom prst="wedgeRoundRectCallout">
            <a:avLst>
              <a:gd name="adj1" fmla="val -158841"/>
              <a:gd name="adj2" fmla="val -55335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These all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involve classes.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10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0" rtlCol="0" anchor="ctr"/>
          <a:lstStyle/>
          <a:p>
            <a:pPr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.__doc__)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) -&gt; iterator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 err="1">
                <a:solidFill>
                  <a:srgbClr val="A6A6A6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(callable, sentinel) -&gt; iterator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Get an iterator from an object. 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first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600" spc="-150" dirty="0">
                <a:solidFill>
                  <a:srgbClr val="FF9966"/>
                </a:solidFill>
                <a:latin typeface="Consolas" panose="020B0609020204030204" pitchFamily="49" charset="0"/>
              </a:rPr>
              <a:t>m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argument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must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supply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its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own iterato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or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be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a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sequenc</a:t>
            </a:r>
            <a:r>
              <a:rPr lang="en-US" altLang="zh-TW" sz="2600" spc="-130" dirty="0">
                <a:solidFill>
                  <a:srgbClr val="FF9966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400" spc="-3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second form,</a:t>
            </a:r>
            <a:r>
              <a:rPr lang="en-US" altLang="zh-TW" sz="2400" spc="-30" dirty="0">
                <a:solidFill>
                  <a:srgbClr val="A6A6A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" dirty="0">
                <a:solidFill>
                  <a:srgbClr val="A6A6A6"/>
                </a:solidFill>
                <a:latin typeface="Consolas" panose="020B0609020204030204" pitchFamily="49" charset="0"/>
              </a:rPr>
              <a:t>the </a:t>
            </a:r>
            <a:r>
              <a:rPr lang="en-US" altLang="zh-TW" sz="2600" dirty="0">
                <a:solidFill>
                  <a:srgbClr val="A6A6A6"/>
                </a:solidFill>
                <a:latin typeface="Consolas" panose="020B0609020204030204" pitchFamily="49" charset="0"/>
              </a:rPr>
              <a:t>callable is called until it returns the sentinel.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FFCCFF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 err="1">
                <a:solidFill>
                  <a:srgbClr val="FFFFFF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__)</a:t>
            </a: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next(iterator[, default])</a:t>
            </a:r>
          </a:p>
          <a:p>
            <a:pPr lvl="0" defTabSz="914400">
              <a:lnSpc>
                <a:spcPct val="84000"/>
              </a:lnSpc>
            </a:pPr>
            <a:endParaRPr lang="en-US" altLang="zh-TW" sz="1400" dirty="0">
              <a:solidFill>
                <a:srgbClr val="A6A6A6"/>
              </a:solidFill>
              <a:latin typeface="Consolas" panose="020B0609020204030204" pitchFamily="49" charset="0"/>
            </a:endParaRPr>
          </a:p>
          <a:p>
            <a:pPr lvl="0" defTabSz="914400">
              <a:lnSpc>
                <a:spcPct val="84000"/>
              </a:lnSpc>
            </a:pP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Return the next item from the iterator. </a:t>
            </a:r>
            <a:b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</a:b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If default is given and the iterator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400" dirty="0">
                <a:solidFill>
                  <a:srgbClr val="FF9966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exhauste</a:t>
            </a:r>
            <a:r>
              <a:rPr lang="en-US" altLang="zh-TW" sz="2600" spc="-100" dirty="0">
                <a:solidFill>
                  <a:srgbClr val="FF9966"/>
                </a:solidFill>
                <a:latin typeface="Consolas" panose="020B0609020204030204" pitchFamily="49" charset="0"/>
              </a:rPr>
              <a:t>d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, it is returned instead of raising </a:t>
            </a:r>
            <a:r>
              <a:rPr lang="en-US" altLang="zh-TW" sz="2600" dirty="0" err="1">
                <a:solidFill>
                  <a:srgbClr val="FF9966"/>
                </a:solidFill>
                <a:latin typeface="Consolas" panose="020B0609020204030204" pitchFamily="49" charset="0"/>
              </a:rPr>
              <a:t>StopIteration</a:t>
            </a:r>
            <a:r>
              <a:rPr lang="en-US" altLang="zh-TW" sz="2600" dirty="0">
                <a:solidFill>
                  <a:srgbClr val="FF9966"/>
                </a:solidFill>
                <a:latin typeface="Consolas" panose="020B0609020204030204" pitchFamily="49" charset="0"/>
              </a:rPr>
              <a:t>.</a:t>
            </a:r>
          </a:p>
          <a:p>
            <a:pPr defTabSz="914400">
              <a:lnSpc>
                <a:spcPct val="84000"/>
              </a:lnSpc>
            </a:pPr>
            <a:r>
              <a:rPr lang="en-US" altLang="zh-TW" sz="2600" spc="-6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37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16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 err="1">
                <a:solidFill>
                  <a:schemeClr val="bg1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spc="-300" dirty="0" err="1">
                <a:solidFill>
                  <a:schemeClr val="bg1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')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 _</a:t>
            </a:r>
            <a:r>
              <a:rPr lang="en-US" altLang="zh-TW" sz="2600" spc="-2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rem</a:t>
            </a:r>
            <a:r>
              <a:rPr lang="en-US" altLang="zh-TW" sz="2600" spc="-90" dirty="0">
                <a:solidFill>
                  <a:schemeClr val="bg1"/>
                </a:solidFill>
                <a:latin typeface="Consolas" panose="020B0609020204030204" pitchFamily="49" charset="0"/>
              </a:rPr>
              <a:t>ov</a:t>
            </a:r>
            <a:r>
              <a:rPr lang="en-US" altLang="zh-TW" sz="2600" spc="-110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  <a:r>
              <a:rPr lang="en-US" altLang="zh-TW" sz="2600" spc="-5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spc="-3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spc="-410" dirty="0">
                <a:solidFill>
                  <a:schemeClr val="bg1"/>
                </a:solidFill>
                <a:latin typeface="Consolas" panose="020B0609020204030204" pitchFamily="49" charset="0"/>
              </a:rPr>
              <a:t>'</a:t>
            </a:r>
            <a:r>
              <a:rPr lang="en-US" altLang="zh-TW" sz="2600" spc="-300" dirty="0">
                <a:solidFill>
                  <a:schemeClr val="bg1"/>
                </a:solidFill>
                <a:latin typeface="Consolas" panose="020B0609020204030204" pitchFamily="49" charset="0"/>
              </a:rPr>
              <a:t>);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60" dirty="0" err="1">
                <a:solidFill>
                  <a:srgbClr val="FF0000"/>
                </a:solidFill>
                <a:latin typeface="Consolas" panose="020B0609020204030204" pitchFamily="49" charset="0"/>
              </a:rPr>
              <a:t>StillLeft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kern="0" spc="-1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spc="-60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spc="-15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spc="-300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</a:p>
          <a:p>
            <a:pPr defTabSz="914400"/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['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classmethod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delattr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getattr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hasattr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isinstance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issubclass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'object', 'property',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setattr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</a:t>
            </a:r>
            <a:r>
              <a:rPr lang="en-US" altLang="zh-TW" sz="2600" spc="-100" dirty="0" err="1">
                <a:solidFill>
                  <a:schemeClr val="bg1"/>
                </a:solidFill>
                <a:latin typeface="Consolas" panose="020B0609020204030204" pitchFamily="49" charset="0"/>
              </a:rPr>
              <a:t>staticmethod</a:t>
            </a:r>
            <a:r>
              <a:rPr lang="en-US" altLang="zh-TW" sz="2600" spc="-100" dirty="0">
                <a:solidFill>
                  <a:schemeClr val="bg1"/>
                </a:solidFill>
                <a:latin typeface="Consolas" panose="020B0609020204030204" pitchFamily="49" charset="0"/>
              </a:rPr>
              <a:t>', 'super']</a:t>
            </a:r>
          </a:p>
          <a:p>
            <a:pPr defTabSz="914400"/>
            <a:endParaRPr lang="en-US" altLang="zh-TW" sz="2000" spc="-1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200" spc="-100" dirty="0">
                <a:solidFill>
                  <a:srgbClr val="0070C0"/>
                </a:solidFill>
              </a:rPr>
              <a:t>Other Fu</a:t>
            </a:r>
            <a:r>
              <a:rPr lang="en-US" altLang="en-US" sz="4200" spc="-200" dirty="0">
                <a:solidFill>
                  <a:srgbClr val="0070C0"/>
                </a:solidFill>
              </a:rPr>
              <a:t>n</a:t>
            </a:r>
            <a:r>
              <a:rPr lang="en-US" altLang="en-US" sz="4200" spc="-100" dirty="0">
                <a:solidFill>
                  <a:srgbClr val="0070C0"/>
                </a:solidFill>
              </a:rPr>
              <a:t>ct</a:t>
            </a:r>
            <a:r>
              <a:rPr lang="en-US" altLang="en-US" sz="4200" spc="-200" dirty="0">
                <a:solidFill>
                  <a:srgbClr val="0070C0"/>
                </a:solidFill>
              </a:rPr>
              <a:t>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105" y="6449686"/>
            <a:ext cx="732893" cy="4603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-US" altLang="zh-TW" sz="2600" spc="-1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sz="2600" spc="-100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049438" y="6530724"/>
            <a:ext cx="0" cy="32918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圓角矩形圖說文字 4"/>
          <p:cNvSpPr/>
          <p:nvPr/>
        </p:nvSpPr>
        <p:spPr bwMode="auto">
          <a:xfrm>
            <a:off x="7741921" y="3169920"/>
            <a:ext cx="1696720" cy="985520"/>
          </a:xfrm>
          <a:prstGeom prst="wedgeRoundRectCallout">
            <a:avLst>
              <a:gd name="adj1" fmla="val -341036"/>
              <a:gd name="adj2" fmla="val -29561"/>
              <a:gd name="adj3" fmla="val 16667"/>
            </a:avLst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Let's look </a:t>
            </a:r>
            <a:b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at this.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圓角矩形圖說文字 4"/>
          <p:cNvSpPr/>
          <p:nvPr/>
        </p:nvSpPr>
        <p:spPr bwMode="auto">
          <a:xfrm>
            <a:off x="7741921" y="660400"/>
            <a:ext cx="1696720" cy="985520"/>
          </a:xfrm>
          <a:prstGeom prst="wedgeRoundRectCallout">
            <a:avLst>
              <a:gd name="adj1" fmla="val -341036"/>
              <a:gd name="adj2" fmla="val -29561"/>
              <a:gd name="adj3" fmla="val 16667"/>
            </a:avLst>
          </a:prstGeom>
          <a:solidFill>
            <a:srgbClr val="FFCC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Let's look </a:t>
            </a:r>
            <a:b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2800" i="1" dirty="0">
                <a:solidFill>
                  <a:srgbClr val="000000"/>
                </a:solidFill>
                <a:latin typeface="Times New Roman" charset="0"/>
              </a:rPr>
              <a:t>at this.</a:t>
            </a:r>
            <a:endParaRPr lang="zh-TW" altLang="en-US" sz="2800" i="1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31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__[65:135] + "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…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" + </a:t>
            </a: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\</a:t>
            </a:r>
            <a:b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__[162:177])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Get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iterator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object.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first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form, the argument must </a:t>
            </a:r>
            <a:r>
              <a:rPr lang="en-US" altLang="en-US" sz="2800" b="1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…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be a sequence.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43429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b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b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51545856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Get an iterator from an object.  In the first form, the argument must supply its own iterator, or be a sequence.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</p:txBody>
      </p:sp>
    </p:spTree>
    <p:extLst>
      <p:ext uri="{BB962C8B-B14F-4D97-AF65-F5344CB8AC3E}">
        <p14:creationId xmlns:p14="http://schemas.microsoft.com/office/powerpoint/2010/main" val="3624091590"/>
      </p:ext>
    </p:extLst>
  </p:cSld>
  <p:clrMapOvr>
    <a:masterClrMapping/>
  </p:clrMapOvr>
  <p:transition spd="med" advTm="200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first form, the argument must supply its own iterator, or be a sequence.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370652" y="6424292"/>
            <a:ext cx="851452" cy="3346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0248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own iterator, or be a sequence.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30048924"/>
      </p:ext>
    </p:extLst>
  </p:cSld>
  <p:clrMapOvr>
    <a:masterClrMapping/>
  </p:clrMapOvr>
  <p:transition spd="med" advTm="200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61494"/>
      </p:ext>
    </p:extLst>
  </p:cSld>
  <p:clrMapOvr>
    <a:masterClrMapping/>
  </p:clrMapOvr>
  <p:transition spd="med" advTm="200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the next item from the iterator. </a:t>
            </a: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254437"/>
      </p:ext>
    </p:extLst>
  </p:cSld>
  <p:clrMapOvr>
    <a:masterClrMapping/>
  </p:clrMapOvr>
  <p:transition spd="med" advTm="200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the next item from the iterator.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If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is given and the iterator is</a:t>
            </a:r>
          </a:p>
        </p:txBody>
      </p:sp>
    </p:spTree>
    <p:extLst>
      <p:ext uri="{BB962C8B-B14F-4D97-AF65-F5344CB8AC3E}">
        <p14:creationId xmlns:p14="http://schemas.microsoft.com/office/powerpoint/2010/main" val="409903942"/>
      </p:ext>
    </p:extLst>
  </p:cSld>
  <p:clrMapOvr>
    <a:masterClrMapping/>
  </p:clrMapOvr>
  <p:transition spd="med" advTm="200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the next item from the iterator.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If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is given and the iterator is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exhausted,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it is returned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instead of</a:t>
            </a: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325394"/>
      </p:ext>
    </p:extLst>
  </p:cSld>
  <p:clrMapOvr>
    <a:masterClrMapping/>
  </p:clrMapOvr>
  <p:transition spd="med" advTm="200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the next item from the iterator.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If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is given and the iterator is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exhausted,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it is returned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instead of raising 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2740311"/>
      </p:ext>
    </p:extLst>
  </p:cSld>
  <p:clrMapOvr>
    <a:masterClrMapping/>
  </p:clrMapOvr>
  <p:transition spd="med" advTm="200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'end'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[, default]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Return the next item from the iterator.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If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default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 is given and the iterator is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exhausted, 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it is returned 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instead of raising 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761214331"/>
      </p:ext>
    </p:extLst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Any multi-value type is </a:t>
            </a:r>
            <a:r>
              <a:rPr lang="en-GB" altLang="en-US" sz="4400" kern="0" dirty="0" err="1">
                <a:latin typeface="Elephant" panose="02020904090505020303" pitchFamily="18" charset="0"/>
              </a:rPr>
              <a:t>iterable</a:t>
            </a:r>
            <a:r>
              <a:rPr lang="en-GB" altLang="en-US" sz="4400" kern="0" dirty="0">
                <a:latin typeface="Elephant" panose="02020904090505020303" pitchFamily="18" charset="0"/>
              </a:rPr>
              <a:t>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([1,'b'])    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 from a list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(seq,0),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(seq,0),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(seq,0)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(1, 'b', 0)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((1,'b',3.0))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 from a tuple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(1, 'b', 3.0)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({1,'b',3.0})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 from a set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('b', 1, 3.0)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({1:9,'b':9,3.0:9})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#from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rgbClr val="FF6699"/>
                </a:solidFill>
                <a:latin typeface="Lucida Console" panose="020B0609040504020204" pitchFamily="49" charset="0"/>
              </a:rPr>
              <a:t>dict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(1, 'b', 3.0) 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("Hi!")      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 from a string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next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('H', '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i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', '!')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iter(1)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not from a single-value type</a:t>
            </a:r>
          </a:p>
          <a:p>
            <a:pPr marL="95250" indent="0" defTabSz="914400" eaLnBrk="1">
              <a:lnSpc>
                <a:spcPct val="70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000" kern="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0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0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000" kern="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0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: '</a:t>
            </a:r>
            <a:r>
              <a:rPr lang="en-US" altLang="en-US" sz="28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' object is not </a:t>
            </a:r>
            <a:r>
              <a:rPr lang="en-US" altLang="en-US" sz="2800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iterable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46637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FF669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0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kern="0" dirty="0">
              <a:solidFill>
                <a:srgbClr val="FFB3B3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000" kern="0" dirty="0">
              <a:solidFill>
                <a:srgbClr val="FFB3B3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1642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6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5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8" dur="500"/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An</a:t>
            </a:r>
            <a:r>
              <a:rPr lang="en-GB" altLang="en-US" sz="4000" kern="0" dirty="0"/>
              <a:t> </a:t>
            </a:r>
            <a:r>
              <a:rPr lang="en-GB" altLang="en-US" sz="44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created from a List: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__[65:135] + "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…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" + </a:t>
            </a: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\</a:t>
            </a:r>
            <a:b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__[162:177])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Get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iterator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object.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first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form, the argument must </a:t>
            </a:r>
            <a:r>
              <a:rPr lang="en-US" altLang="en-US" sz="2800" b="1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…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be a sequence.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next.__doc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__[27:66])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Return the next item from the iterator.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FFC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,"end")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43429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b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-2700000">
            <a:off x="-605249" y="328375"/>
            <a:ext cx="2488700" cy="643997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ea typeface="新細明體" charset="-120"/>
              </a:rPr>
              <a:t> Recall</a:t>
            </a:r>
            <a:br>
              <a:rPr lang="en-US" sz="2400" dirty="0">
                <a:solidFill>
                  <a:srgbClr val="000000"/>
                </a:solidFill>
                <a:ea typeface="新細明體" charset="-120"/>
              </a:rPr>
            </a:br>
            <a:r>
              <a:rPr lang="en-US" sz="2400" dirty="0">
                <a:solidFill>
                  <a:srgbClr val="000000"/>
                </a:solidFill>
                <a:ea typeface="新細明體" charset="-120"/>
              </a:rPr>
              <a:t> Slide</a:t>
            </a:r>
            <a:r>
              <a:rPr lang="en-US" sz="2000" dirty="0">
                <a:solidFill>
                  <a:srgbClr val="000000"/>
                </a:solidFill>
                <a:ea typeface="新細明體" charset="-120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新細明體" charset="-120"/>
              </a:rPr>
              <a:t>89</a:t>
            </a:r>
            <a:endParaRPr lang="en-US" sz="2800" dirty="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" name="Oval Callout 5"/>
          <p:cNvSpPr/>
          <p:nvPr/>
        </p:nvSpPr>
        <p:spPr bwMode="auto">
          <a:xfrm>
            <a:off x="6479672" y="2625205"/>
            <a:ext cx="960582" cy="923636"/>
          </a:xfrm>
          <a:prstGeom prst="wedgeEllipseCallout">
            <a:avLst>
              <a:gd name="adj1" fmla="val -134586"/>
              <a:gd name="adj2" fmla="val -108152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7367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Supplying its own iterator: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__[65:135] + "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…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" + </a:t>
            </a: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\</a:t>
            </a:r>
            <a:b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...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__[162:177])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Get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iterator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object.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first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form, the argument must </a:t>
            </a:r>
            <a:r>
              <a:rPr lang="en-US" altLang="en-US" sz="2800" b="1" kern="0" spc="-40" dirty="0">
                <a:solidFill>
                  <a:srgbClr val="FFC000"/>
                </a:solidFill>
                <a:latin typeface="Lucida Console" panose="020B0609040504020204" pitchFamily="49" charset="0"/>
              </a:rPr>
              <a:t>…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be a sequence.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=iter(['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apple','banana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'])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list_iterator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0x6ffff83e908&gt;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print(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iter.__doc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__[65:177])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Get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iterator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from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object.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first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form, the argument must </a:t>
            </a:r>
            <a:r>
              <a:rPr lang="en-US" altLang="en-US" sz="2800" kern="0" spc="-40" dirty="0">
                <a:solidFill>
                  <a:srgbClr val="FFC000"/>
                </a:solidFill>
                <a:latin typeface="Lucida Console" panose="020B0609040504020204" pitchFamily="49" charset="0"/>
              </a:rPr>
              <a:t>supply its own iterator,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 or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40" dirty="0">
                <a:solidFill>
                  <a:srgbClr val="FF0000"/>
                </a:solidFill>
                <a:latin typeface="Lucida Console" panose="020B0609040504020204" pitchFamily="49" charset="0"/>
              </a:rPr>
              <a:t>be a sequence.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sq2=iter(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28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2800" kern="0" spc="-5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spc="-50" dirty="0">
                <a:solidFill>
                  <a:srgbClr val="FFB3B3"/>
                </a:solidFill>
                <a:latin typeface="Lucida Console" panose="020B0609040504020204" pitchFamily="49" charset="0"/>
              </a:rPr>
              <a:t> already an iterator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'apple'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next(sq2) </a:t>
            </a:r>
            <a:r>
              <a:rPr lang="en-US" altLang="en-US" sz="1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4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B3B3"/>
                </a:solidFill>
                <a:latin typeface="Lucida Console" panose="020B0609040504020204" pitchFamily="49" charset="0"/>
              </a:rPr>
              <a:t>Did </a:t>
            </a:r>
            <a:r>
              <a:rPr lang="en-US" altLang="en-US" sz="2800" kern="0" spc="-50" dirty="0">
                <a:solidFill>
                  <a:srgbClr val="FFB3B3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spc="-5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spc="-50" dirty="0">
                <a:solidFill>
                  <a:srgbClr val="FFB3B3"/>
                </a:solidFill>
                <a:latin typeface="Lucida Console" panose="020B0609040504020204" pitchFamily="49" charset="0"/>
              </a:rPr>
              <a:t>) affect sq2?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'banana'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seq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is sq2</a:t>
            </a:r>
            <a:r>
              <a:rPr lang="en-US" altLang="en-US" sz="1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4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It </a:t>
            </a:r>
            <a:r>
              <a:rPr lang="en-US" altLang="en-US" sz="2800" kern="0" spc="-100" dirty="0">
                <a:solidFill>
                  <a:srgbClr val="FFB3B3"/>
                </a:solidFill>
                <a:latin typeface="Lucida Console" panose="020B0609040504020204" pitchFamily="49" charset="0"/>
              </a:rPr>
              <a:t>did</a:t>
            </a:r>
            <a:r>
              <a:rPr lang="en-US" altLang="en-US" sz="2800" kern="0" spc="-40" dirty="0">
                <a:solidFill>
                  <a:srgbClr val="FFB3B3"/>
                </a:solidFill>
                <a:latin typeface="Lucida Console" panose="020B0609040504020204" pitchFamily="49" charset="0"/>
              </a:rPr>
              <a:t>. Are they the same?</a:t>
            </a:r>
            <a:endParaRPr lang="en-US" altLang="en-US" sz="2800" kern="0" spc="-4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True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43429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br>
              <a:rPr lang="en-US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Oval Callout 5"/>
          <p:cNvSpPr/>
          <p:nvPr/>
        </p:nvSpPr>
        <p:spPr bwMode="auto">
          <a:xfrm>
            <a:off x="6479672" y="2625205"/>
            <a:ext cx="960582" cy="923636"/>
          </a:xfrm>
          <a:prstGeom prst="wedgeEllipseCallout">
            <a:avLst>
              <a:gd name="adj1" fmla="val -134586"/>
              <a:gd name="adj2" fmla="val -108152"/>
            </a:avLst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215540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5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Is </a:t>
            </a:r>
            <a:r>
              <a:rPr lang="en-GB" altLang="en-US" sz="4400" b="1" kern="0" dirty="0">
                <a:latin typeface="Lucida Console" panose="020B0609040504020204" pitchFamily="49" charset="0"/>
              </a:rPr>
              <a:t>range</a:t>
            </a:r>
            <a:r>
              <a:rPr lang="en-GB" altLang="en-US" sz="4400" b="1" kern="0" dirty="0">
                <a:latin typeface="Agency FB" panose="020B0503020202020204" pitchFamily="34" charset="0"/>
              </a:rPr>
              <a:t>() </a:t>
            </a:r>
            <a:r>
              <a:rPr lang="en-GB" altLang="en-US" sz="4400" kern="0" dirty="0">
                <a:latin typeface="Elephant" panose="02020904090505020303" pitchFamily="18" charset="0"/>
              </a:rPr>
              <a:t>an iterator?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=range(3); x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range(0, 3)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 No, it isn't an iterator: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spc="-6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6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en-US" sz="28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iterator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=iter(range(3));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#What about this?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range_iterator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0x6ffffd37090&gt;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,-1)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0, 1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-1)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=iter(rang</a:t>
            </a:r>
            <a:r>
              <a:rPr lang="en-US" altLang="en-US" sz="28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e(3))</a:t>
            </a:r>
            <a:r>
              <a:rPr lang="en-US" altLang="en-US" sz="14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2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Are</a:t>
            </a:r>
            <a:r>
              <a:rPr lang="en-US" altLang="en-US" sz="2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same?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2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Yes: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=iter(rang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e(3))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,ite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r(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e(3)</a:t>
            </a:r>
            <a:r>
              <a:rPr lang="en-US" altLang="en-US" sz="28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#Now?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2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Different: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43429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  <p:sp>
        <p:nvSpPr>
          <p:cNvPr id="3" name="Rectangle 2"/>
          <p:cNvSpPr/>
          <p:nvPr/>
        </p:nvSpPr>
        <p:spPr bwMode="auto">
          <a:xfrm>
            <a:off x="277402" y="708917"/>
            <a:ext cx="9215919" cy="6149083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2" name="Rounded Rectangular Callout 1"/>
          <p:cNvSpPr/>
          <p:nvPr/>
        </p:nvSpPr>
        <p:spPr bwMode="auto">
          <a:xfrm>
            <a:off x="1686870" y="1304818"/>
            <a:ext cx="6431621" cy="2681557"/>
          </a:xfrm>
          <a:prstGeom prst="wedgeRoundRectCallout">
            <a:avLst>
              <a:gd name="adj1" fmla="val -24130"/>
              <a:gd name="adj2" fmla="val -75236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effectLst/>
              </a:rPr>
              <a:t>But range() </a:t>
            </a:r>
            <a:r>
              <a:rPr lang="en-US" sz="3600" dirty="0"/>
              <a:t>i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effectLst/>
              </a:rPr>
              <a:t>s a function. </a:t>
            </a:r>
            <a:br>
              <a:rPr kumimoji="0" lang="en-US" sz="36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sz="3600" b="0" i="0" u="none" strike="noStrike" cap="none" normalizeH="0" baseline="0" dirty="0">
                <a:ln>
                  <a:noFill/>
                </a:ln>
                <a:effectLst/>
              </a:rPr>
              <a:t>If an iterator can be</a:t>
            </a:r>
            <a:r>
              <a:rPr kumimoji="0" lang="en-US" sz="3600" b="0" i="0" u="none" strike="noStrike" cap="none" normalizeH="0" dirty="0">
                <a:ln>
                  <a:noFill/>
                </a:ln>
                <a:effectLst/>
              </a:rPr>
              <a:t> created from it, does that mean we can </a:t>
            </a:r>
            <a:r>
              <a:rPr kumimoji="0" lang="en-US" sz="36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write our own functions </a:t>
            </a:r>
            <a:r>
              <a:rPr kumimoji="0" lang="en-US" sz="3600" b="0" i="0" u="none" strike="noStrike" cap="none" normalizeH="0" dirty="0">
                <a:ln>
                  <a:noFill/>
                </a:ln>
                <a:effectLst/>
              </a:rPr>
              <a:t>that create iterators?</a:t>
            </a:r>
            <a:endParaRPr kumimoji="0" lang="en-US" sz="3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185131" y="4263774"/>
            <a:ext cx="2537520" cy="2594225"/>
          </a:xfrm>
          <a:prstGeom prst="wedgeRoundRectCallout">
            <a:avLst>
              <a:gd name="adj1" fmla="val 62516"/>
              <a:gd name="adj2" fmla="val -8774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normalizeH="0" baseline="0" dirty="0">
                <a:ln>
                  <a:noFill/>
                </a:ln>
                <a:effectLst/>
              </a:rPr>
              <a:t>Yes. In fact there </a:t>
            </a:r>
            <a:r>
              <a:rPr kumimoji="0" lang="en-US" sz="3600" b="0" i="0" u="none" strike="noStrike" cap="none" spc="-80" normalizeH="0" baseline="0" dirty="0">
                <a:ln>
                  <a:noFill/>
                </a:ln>
                <a:effectLst/>
              </a:rPr>
              <a:t>are</a:t>
            </a:r>
            <a:r>
              <a:rPr kumimoji="0" lang="en-US" sz="3200" b="0" i="0" u="none" strike="noStrike" cap="none" spc="-80" normalizeH="0" dirty="0">
                <a:ln>
                  <a:noFill/>
                </a:ln>
                <a:effectLst/>
              </a:rPr>
              <a:t> </a:t>
            </a:r>
            <a:r>
              <a:rPr kumimoji="0" lang="en-US" sz="3600" b="0" i="0" u="none" strike="noStrike" cap="none" spc="-80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2</a:t>
            </a:r>
            <a:r>
              <a:rPr kumimoji="0" lang="en-US" sz="3200" b="0" i="0" u="none" strike="noStrike" cap="none" spc="-80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sz="3600" b="0" i="0" u="none" strike="noStrike" cap="none" spc="-80" normalizeH="0" dirty="0">
                <a:ln>
                  <a:noFill/>
                </a:ln>
                <a:solidFill>
                  <a:schemeClr val="bg1"/>
                </a:solidFill>
                <a:effectLst/>
              </a:rPr>
              <a:t>ways</a:t>
            </a:r>
            <a:r>
              <a:rPr kumimoji="0" lang="en-US" sz="3600" b="0" i="0" u="none" strike="noStrike" cap="none" spc="-80" normalizeH="0" dirty="0">
                <a:ln>
                  <a:noFill/>
                </a:ln>
                <a:effectLst/>
              </a:rPr>
              <a:t> </a:t>
            </a:r>
            <a:r>
              <a:rPr kumimoji="0" lang="en-US" sz="3600" b="0" i="0" u="none" strike="noStrike" cap="none" normalizeH="0" dirty="0">
                <a:ln>
                  <a:noFill/>
                </a:ln>
                <a:effectLst/>
              </a:rPr>
              <a:t>to write them…</a:t>
            </a:r>
            <a:endParaRPr kumimoji="0" lang="en-US" sz="36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3369922" y="3989793"/>
            <a:ext cx="5402495" cy="1907570"/>
          </a:xfrm>
          <a:prstGeom prst="wedgeRoundRectCallout">
            <a:avLst>
              <a:gd name="adj1" fmla="val -66036"/>
              <a:gd name="adj2" fmla="val 2948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effectLst/>
              </a:rPr>
              <a:t>1.</a:t>
            </a:r>
            <a:r>
              <a:rPr kumimoji="0" lang="en-US" sz="3600" b="1" i="0" u="none" strike="noStrike" cap="none" normalizeH="0" dirty="0">
                <a:ln>
                  <a:noFill/>
                </a:ln>
                <a:effectLst/>
              </a:rPr>
              <a:t> </a:t>
            </a:r>
            <a:r>
              <a:rPr kumimoji="0" lang="en-US" sz="3600" b="1" i="0" u="none" strike="noStrike" cap="none" normalizeH="0" baseline="0" dirty="0">
                <a:ln>
                  <a:noFill/>
                </a:ln>
                <a:effectLst/>
              </a:rPr>
              <a:t>The obvious way:</a:t>
            </a:r>
          </a:p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Wrap the call in an iter() and return a tuple:</a:t>
            </a:r>
            <a:r>
              <a:rPr kumimoji="0" lang="en-US" sz="3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algn="ctr" defTabSz="9144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spc="-100" dirty="0">
                <a:solidFill>
                  <a:schemeClr val="bg1"/>
                </a:solidFill>
                <a:latin typeface="Lucida Console" panose="020B0609040504020204" pitchFamily="49" charset="0"/>
              </a:rPr>
              <a:t>x=iter</a:t>
            </a:r>
            <a:r>
              <a:rPr lang="en-US" sz="2800" spc="-200" dirty="0">
                <a:solidFill>
                  <a:schemeClr val="bg1"/>
                </a:solidFill>
                <a:latin typeface="Bahnschrift" panose="020B0502040204020203" pitchFamily="34" charset="0"/>
              </a:rPr>
              <a:t>(</a:t>
            </a:r>
            <a:r>
              <a:rPr lang="en-US" sz="2800" spc="-1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funcReturnsTu</a:t>
            </a:r>
            <a:r>
              <a:rPr lang="en-US" sz="2800" spc="-200" dirty="0" err="1">
                <a:solidFill>
                  <a:schemeClr val="bg1"/>
                </a:solidFill>
                <a:latin typeface="Lucida Console" panose="020B0609040504020204" pitchFamily="49" charset="0"/>
              </a:rPr>
              <a:t>ple</a:t>
            </a:r>
            <a:r>
              <a:rPr lang="en-US" sz="2800" spc="-200" dirty="0">
                <a:solidFill>
                  <a:schemeClr val="bg1"/>
                </a:solidFill>
                <a:latin typeface="Bahnschrift" panose="020B0502040204020203" pitchFamily="34" charset="0"/>
              </a:rPr>
              <a:t>( ) )</a:t>
            </a:r>
            <a:endParaRPr kumimoji="0" lang="en-US" sz="2800" b="0" i="0" u="none" strike="noStrike" cap="none" spc="-200" normalizeH="0" dirty="0">
              <a:ln>
                <a:noFill/>
              </a:ln>
              <a:solidFill>
                <a:schemeClr val="bg1"/>
              </a:solidFill>
              <a:effectLst/>
              <a:latin typeface="Bahnschrift" panose="020B0502040204020203" pitchFamily="34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3337390" y="5876818"/>
            <a:ext cx="5402495" cy="1035974"/>
          </a:xfrm>
          <a:prstGeom prst="wedgeRoundRectCallout">
            <a:avLst>
              <a:gd name="adj1" fmla="val -66035"/>
              <a:gd name="adj2" fmla="val -65682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none" normalizeH="0" baseline="0" dirty="0">
                <a:ln>
                  <a:noFill/>
                </a:ln>
                <a:effectLst/>
              </a:rPr>
              <a:t>2.</a:t>
            </a:r>
            <a:r>
              <a:rPr kumimoji="0" lang="en-US" sz="3600" b="1" i="0" u="none" strike="noStrike" cap="none" normalizeH="0" dirty="0">
                <a:ln>
                  <a:noFill/>
                </a:ln>
                <a:effectLst/>
              </a:rPr>
              <a:t> </a:t>
            </a:r>
            <a:r>
              <a:rPr kumimoji="0" lang="en-US" sz="3600" b="1" i="0" u="none" strike="noStrike" cap="none" normalizeH="0" baseline="0" dirty="0">
                <a:ln>
                  <a:noFill/>
                </a:ln>
                <a:effectLst/>
              </a:rPr>
              <a:t>The better way:</a:t>
            </a:r>
          </a:p>
          <a:p>
            <a:pPr marL="0" marR="0" indent="0" algn="ctr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600" dirty="0"/>
              <a:t>Use a </a:t>
            </a:r>
            <a:r>
              <a:rPr lang="en-US" sz="3600" i="1" dirty="0">
                <a:solidFill>
                  <a:schemeClr val="bg1"/>
                </a:solidFill>
              </a:rPr>
              <a:t>generator function</a:t>
            </a:r>
            <a:r>
              <a:rPr kumimoji="0" lang="en-US" sz="36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66456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7" grpId="0" animBg="1"/>
      <p:bldP spid="8" grpId="0" animBg="1"/>
      <p:bldP spid="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Is </a:t>
            </a:r>
            <a:r>
              <a:rPr lang="en-GB" altLang="en-US" sz="4400" b="1" kern="0" dirty="0">
                <a:latin typeface="Lucida Console" panose="020B0609040504020204" pitchFamily="49" charset="0"/>
              </a:rPr>
              <a:t>range</a:t>
            </a:r>
            <a:r>
              <a:rPr lang="en-GB" altLang="en-US" sz="4400" b="1" kern="0" dirty="0">
                <a:latin typeface="Agency FB" panose="020B0503020202020204" pitchFamily="34" charset="0"/>
              </a:rPr>
              <a:t>() </a:t>
            </a:r>
            <a:r>
              <a:rPr lang="en-GB" altLang="en-US" sz="4400" kern="0" dirty="0">
                <a:latin typeface="Elephant" panose="02020904090505020303" pitchFamily="18" charset="0"/>
              </a:rPr>
              <a:t>an iterator?</a:t>
            </a:r>
            <a:endParaRPr lang="en-GB" altLang="en-US" sz="4000" kern="0" dirty="0">
              <a:latin typeface="Elephant" panose="02020904090505020303" pitchFamily="18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14332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=range(3); x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range(0, 3)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 No, it isn't an iterator: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spc="-6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spc="-60" dirty="0" err="1">
                <a:solidFill>
                  <a:srgbClr val="FFB3B3"/>
                </a:solidFill>
                <a:latin typeface="Lucida Console" panose="020B0609040504020204" pitchFamily="49" charset="0"/>
              </a:rPr>
              <a:t>TypeError</a:t>
            </a:r>
            <a:r>
              <a:rPr lang="en-US" altLang="en-US" sz="28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:</a:t>
            </a:r>
            <a:r>
              <a:rPr lang="en-US" altLang="en-US" sz="1600" kern="0" spc="-60" dirty="0">
                <a:solidFill>
                  <a:srgbClr val="FFB3B3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en-US" sz="2800" kern="0" spc="-300" dirty="0">
                <a:solidFill>
                  <a:srgbClr val="FF0000"/>
                </a:solidFill>
                <a:latin typeface="Lucida Console" panose="020B0609040504020204" pitchFamily="49" charset="0"/>
              </a:rPr>
              <a:t>e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'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object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is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an</a:t>
            </a:r>
            <a:r>
              <a:rPr lang="en-US" altLang="en-US" sz="24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spc="-60" dirty="0">
                <a:solidFill>
                  <a:srgbClr val="FF0000"/>
                </a:solidFill>
                <a:latin typeface="Lucida Console" panose="020B0609040504020204" pitchFamily="49" charset="0"/>
              </a:rPr>
              <a:t>iterator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=iter(range(3));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#What about this?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&lt;</a:t>
            </a:r>
            <a:r>
              <a:rPr lang="en-US" altLang="en-US" sz="2800" kern="0" dirty="0" err="1">
                <a:solidFill>
                  <a:srgbClr val="2D2DB9"/>
                </a:solidFill>
                <a:latin typeface="Lucida Console" panose="020B0609040504020204" pitchFamily="49" charset="0"/>
              </a:rPr>
              <a:t>range_iterator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 object at 0x6ffffd37090&gt;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,-1)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0, 1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-1)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=iter(rang</a:t>
            </a:r>
            <a:r>
              <a:rPr lang="en-US" altLang="en-US" sz="28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e(3))</a:t>
            </a:r>
            <a:r>
              <a:rPr lang="en-US" altLang="en-US" sz="14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2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Are</a:t>
            </a:r>
            <a:r>
              <a:rPr lang="en-US" altLang="en-US" sz="2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&amp;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the</a:t>
            </a:r>
            <a:r>
              <a:rPr lang="en-US" altLang="en-US" sz="2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same?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4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2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Yes: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kern="0" dirty="0" err="1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=iter(rang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e(3))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,ite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r(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rang</a:t>
            </a:r>
            <a:r>
              <a:rPr lang="en-US" altLang="en-US" sz="2800" kern="0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e(3)</a:t>
            </a:r>
            <a:r>
              <a:rPr lang="en-US" altLang="en-US" sz="2800" kern="0" spc="-5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#Now?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  <a:r>
              <a:rPr lang="en-US" altLang="en-US" sz="14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#</a:t>
            </a:r>
            <a:r>
              <a:rPr lang="en-US" altLang="en-US" sz="12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 </a:t>
            </a:r>
            <a:r>
              <a:rPr lang="en-US" altLang="en-US" sz="2800" kern="0" dirty="0">
                <a:solidFill>
                  <a:srgbClr val="FF6699"/>
                </a:solidFill>
                <a:latin typeface="Lucida Console" panose="020B0609040504020204" pitchFamily="49" charset="0"/>
              </a:rPr>
              <a:t>Different: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 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chemeClr val="bg1"/>
                </a:solidFill>
                <a:latin typeface="Lucida Console" panose="020B0609040504020204" pitchFamily="49" charset="0"/>
              </a:rPr>
              <a:t>&gt;&gt;&gt; 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x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), next(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US" altLang="en-US" sz="2800" kern="0" dirty="0">
                <a:solidFill>
                  <a:schemeClr val="tx1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, </a:t>
            </a:r>
            <a:r>
              <a:rPr lang="en-US" altLang="en-US" sz="2800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r>
              <a:rPr lang="en-US" altLang="en-US" sz="2800" kern="0" dirty="0">
                <a:solidFill>
                  <a:srgbClr val="2D2DB9"/>
                </a:solidFill>
                <a:latin typeface="Lucida Console" panose="020B0609040504020204" pitchFamily="49" charset="0"/>
              </a:rPr>
              <a:t>)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75771" y="762000"/>
            <a:ext cx="943429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BFBFBF"/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rgbClr val="2D2DB9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endParaRPr lang="en-US" altLang="en-US" sz="2800" kern="0" dirty="0">
              <a:solidFill>
                <a:schemeClr val="tx1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br>
              <a:rPr lang="en-US" altLang="en-US" sz="2800" kern="0" dirty="0">
                <a:solidFill>
                  <a:srgbClr val="FFC000"/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US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21036491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49262" y="1524000"/>
            <a:ext cx="8686800" cy="533400"/>
          </a:xfrm>
          <a:prstGeom prst="rect">
            <a:avLst/>
          </a:prstGeom>
          <a:solidFill>
            <a:srgbClr val="FFFF99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449262" y="2590800"/>
            <a:ext cx="8686800" cy="13716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188418" name="Rectangle 1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Function</a:t>
            </a:r>
            <a:r>
              <a:rPr lang="en-GB" altLang="en-US" sz="4400" b="1" dirty="0">
                <a:latin typeface="Elephant" panose="02020904090505020303" pitchFamily="18" charset="0"/>
              </a:rPr>
              <a:t> </a:t>
            </a:r>
            <a:r>
              <a:rPr lang="en-GB" altLang="en-US" sz="4400" dirty="0">
                <a:latin typeface="Elephant" panose="02020904090505020303" pitchFamily="18" charset="0"/>
              </a:rPr>
              <a:t>Generators</a:t>
            </a:r>
          </a:p>
        </p:txBody>
      </p:sp>
      <p:sp>
        <p:nvSpPr>
          <p:cNvPr id="1884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3062" y="974726"/>
            <a:ext cx="8915400" cy="5883275"/>
          </a:xfrm>
        </p:spPr>
        <p:txBody>
          <a:bodyPr/>
          <a:lstStyle/>
          <a:p>
            <a:pPr marL="363538" indent="-268288" eaLnBrk="1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Compare these two C codes: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rgbClr val="FFC000"/>
                </a:solidFill>
                <a:latin typeface="Lucida Console" panose="020B0609040504020204" pitchFamily="49" charset="0"/>
              </a:rPr>
              <a:t>for(bb=</a:t>
            </a:r>
            <a:r>
              <a:rPr lang="en-GB" altLang="en-US" sz="32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Lhead;bb;bb</a:t>
            </a:r>
            <a:r>
              <a:rPr lang="en-GB" altLang="en-US" sz="3200" dirty="0">
                <a:solidFill>
                  <a:srgbClr val="FFC000"/>
                </a:solidFill>
                <a:latin typeface="Lucida Console" panose="020B0609040504020204" pitchFamily="49" charset="0"/>
              </a:rPr>
              <a:t>=bb-&gt;next) f(bb);</a:t>
            </a:r>
          </a:p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3200" dirty="0">
              <a:solidFill>
                <a:srgbClr val="006600"/>
              </a:solidFill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#define FOR_ALL_BB(bb)for(bb=</a:t>
            </a:r>
            <a:r>
              <a:rPr lang="en-GB" altLang="en-US" sz="3200" dirty="0" err="1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Lhead;bb;bb</a:t>
            </a:r>
            <a:r>
              <a:rPr lang="en-GB" altLang="en-US" sz="3200" dirty="0">
                <a:solidFill>
                  <a:srgbClr val="0066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=bb-&gt;next)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…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rgbClr val="006600"/>
                </a:solidFill>
                <a:latin typeface="Lucida Console" panose="020B0609040504020204" pitchFamily="49" charset="0"/>
              </a:rPr>
              <a:t>FOR_ALL_BB(bb) f(bb);</a:t>
            </a:r>
          </a:p>
          <a:p>
            <a:pPr marL="363538" indent="-268288" eaLnBrk="1">
              <a:lnSpc>
                <a:spcPct val="93000"/>
              </a:lnSpc>
              <a:spcBef>
                <a:spcPts val="1200"/>
              </a:spcBef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The 2</a:t>
            </a:r>
            <a:r>
              <a:rPr lang="en-GB" altLang="en-US" sz="3200" baseline="30000" dirty="0">
                <a:solidFill>
                  <a:schemeClr val="tx1"/>
                </a:solidFill>
              </a:rPr>
              <a:t>nd</a:t>
            </a:r>
            <a:r>
              <a:rPr lang="en-GB" altLang="en-US" sz="3200" dirty="0">
                <a:solidFill>
                  <a:schemeClr val="tx1"/>
                </a:solidFill>
              </a:rPr>
              <a:t> one is better: the mess of the iteration implementation is done just one time. After that,</a:t>
            </a:r>
            <a:r>
              <a:rPr lang="en-GB" altLang="en-US" sz="2800" dirty="0">
                <a:solidFill>
                  <a:schemeClr val="tx1"/>
                </a:solidFill>
              </a:rPr>
              <a:t> </a:t>
            </a:r>
            <a:r>
              <a:rPr lang="en-GB" altLang="en-US" sz="3200" dirty="0">
                <a:solidFill>
                  <a:schemeClr val="tx1"/>
                </a:solidFill>
              </a:rPr>
              <a:t>any</a:t>
            </a:r>
            <a:r>
              <a:rPr lang="en-GB" altLang="en-US" sz="2800" dirty="0">
                <a:solidFill>
                  <a:schemeClr val="tx1"/>
                </a:solidFill>
              </a:rPr>
              <a:t> </a:t>
            </a:r>
            <a:r>
              <a:rPr lang="en-GB" altLang="en-US" sz="3200" dirty="0">
                <a:solidFill>
                  <a:schemeClr val="tx1"/>
                </a:solidFill>
              </a:rPr>
              <a:t>function</a:t>
            </a:r>
            <a:r>
              <a:rPr lang="en-GB" altLang="en-US" sz="2800" dirty="0">
                <a:solidFill>
                  <a:schemeClr val="tx1"/>
                </a:solidFill>
              </a:rPr>
              <a:t> </a:t>
            </a:r>
            <a:r>
              <a:rPr lang="en-GB" altLang="en-US" sz="3200" dirty="0">
                <a:solidFill>
                  <a:schemeClr val="tx1"/>
                </a:solidFill>
              </a:rPr>
              <a:t>can</a:t>
            </a:r>
            <a:r>
              <a:rPr lang="en-GB" altLang="en-US" sz="2800" dirty="0">
                <a:solidFill>
                  <a:schemeClr val="tx1"/>
                </a:solidFill>
              </a:rPr>
              <a:t> </a:t>
            </a:r>
            <a:r>
              <a:rPr lang="en-GB" altLang="en-US" sz="3200" dirty="0">
                <a:solidFill>
                  <a:schemeClr val="tx1"/>
                </a:solidFill>
              </a:rPr>
              <a:t>use</a:t>
            </a:r>
            <a:r>
              <a:rPr lang="en-GB" altLang="en-US" sz="2800" dirty="0">
                <a:solidFill>
                  <a:schemeClr val="tx1"/>
                </a:solidFill>
              </a:rPr>
              <a:t> </a:t>
            </a:r>
            <a:r>
              <a:rPr lang="en-GB" altLang="en-US" sz="3200" dirty="0">
                <a:solidFill>
                  <a:schemeClr val="tx1"/>
                </a:solidFill>
              </a:rPr>
              <a:t>it in a readable way.</a:t>
            </a:r>
          </a:p>
          <a:p>
            <a:pPr marL="763588" lvl="1" indent="-268288" eaLnBrk="1">
              <a:lnSpc>
                <a:spcPct val="93000"/>
              </a:lnSpc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000" dirty="0">
                <a:solidFill>
                  <a:schemeClr val="tx1"/>
                </a:solidFill>
              </a:rPr>
              <a:t>Do you see why we needed to use a #define, not a function?</a:t>
            </a:r>
          </a:p>
          <a:p>
            <a:pPr marL="495300" lvl="1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000" dirty="0">
                <a:solidFill>
                  <a:srgbClr val="FF0000"/>
                </a:solidFill>
              </a:rPr>
              <a:t>	Q: Can we do something like this in Python?</a:t>
            </a:r>
          </a:p>
        </p:txBody>
      </p:sp>
    </p:spTree>
    <p:extLst>
      <p:ext uri="{BB962C8B-B14F-4D97-AF65-F5344CB8AC3E}">
        <p14:creationId xmlns:p14="http://schemas.microsoft.com/office/powerpoint/2010/main" val="15432537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73062" y="974726"/>
            <a:ext cx="8839200" cy="5883275"/>
          </a:xfrm>
        </p:spPr>
        <p:txBody>
          <a:bodyPr/>
          <a:lstStyle/>
          <a:p>
            <a:pPr marL="95250" indent="0" eaLnBrk="1">
              <a:lnSpc>
                <a:spcPct val="93000"/>
              </a:lnSpc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Q:</a:t>
            </a:r>
            <a:r>
              <a:rPr lang="en-GB" altLang="en-US" sz="2400" dirty="0">
                <a:solidFill>
                  <a:schemeClr val="tx1"/>
                </a:solidFill>
              </a:rPr>
              <a:t> </a:t>
            </a:r>
            <a:r>
              <a:rPr lang="en-GB" altLang="en-US" sz="3200" dirty="0">
                <a:solidFill>
                  <a:schemeClr val="tx1"/>
                </a:solidFill>
              </a:rPr>
              <a:t>Can we do something like this in Python?</a:t>
            </a:r>
          </a:p>
          <a:p>
            <a:pPr marL="95250" indent="0" eaLnBrk="1">
              <a:lnSpc>
                <a:spcPct val="93000"/>
              </a:lnSpc>
              <a:spcBef>
                <a:spcPts val="180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A: We can do better! </a:t>
            </a:r>
          </a:p>
          <a:p>
            <a:pPr marL="763588" lvl="1" indent="-268288" eaLnBrk="1">
              <a:lnSpc>
                <a:spcPct val="93000"/>
              </a:lnSpc>
              <a:spcBef>
                <a:spcPts val="0"/>
              </a:spcBef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C’s code was, itself, a messy work-around. </a:t>
            </a:r>
          </a:p>
          <a:p>
            <a:pPr marL="763588" lvl="1" indent="-268288" eaLnBrk="1">
              <a:lnSpc>
                <a:spcPct val="93000"/>
              </a:lnSpc>
              <a:spcBef>
                <a:spcPts val="1800"/>
              </a:spcBef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But Python has direct syntax support for it. </a:t>
            </a:r>
          </a:p>
          <a:p>
            <a:pPr marL="1163638" lvl="2" indent="-268288" eaLnBrk="1">
              <a:lnSpc>
                <a:spcPct val="93000"/>
              </a:lnSpc>
              <a:spcBef>
                <a:spcPts val="0"/>
              </a:spcBef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This is the syntax of the generator:</a:t>
            </a:r>
          </a:p>
          <a:p>
            <a:pPr marL="1620838" lvl="3" indent="-268288" eaLnBrk="1">
              <a:lnSpc>
                <a:spcPct val="93000"/>
              </a:lnSpc>
              <a:spcBef>
                <a:spcPts val="0"/>
              </a:spcBef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A generator returns only the next value, but it can pick up again where   it left off when it is called again.</a:t>
            </a:r>
          </a:p>
          <a:p>
            <a:pPr marL="1620838" lvl="3" indent="-268288" eaLnBrk="1">
              <a:lnSpc>
                <a:spcPct val="93000"/>
              </a:lnSpc>
              <a:spcBef>
                <a:spcPts val="1800"/>
              </a:spcBef>
              <a:buSzPct val="45000"/>
              <a:buFont typeface="Wingdings" pitchFamily="2" charset="2"/>
              <a:buChar char="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200" dirty="0">
                <a:solidFill>
                  <a:schemeClr val="tx1"/>
                </a:solidFill>
              </a:rPr>
              <a:t>Syntactically, the generator looks just like a function, but it will “</a:t>
            </a:r>
            <a:r>
              <a:rPr lang="en-GB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yield</a:t>
            </a:r>
            <a:r>
              <a:rPr lang="en-GB" altLang="en-US" sz="3200" dirty="0">
                <a:solidFill>
                  <a:schemeClr val="tx1"/>
                </a:solidFill>
              </a:rPr>
              <a:t>” a value rather than “</a:t>
            </a:r>
            <a:r>
              <a:rPr lang="en-GB" altLang="en-US" sz="3200" dirty="0">
                <a:solidFill>
                  <a:schemeClr val="tx1"/>
                </a:solidFill>
                <a:latin typeface="Lucida Console" panose="020B0609040504020204" pitchFamily="49" charset="0"/>
              </a:rPr>
              <a:t>return</a:t>
            </a:r>
            <a:r>
              <a:rPr lang="en-GB" altLang="en-US" sz="3200" dirty="0">
                <a:solidFill>
                  <a:schemeClr val="tx1"/>
                </a:solidFill>
              </a:rPr>
              <a:t>” one.</a:t>
            </a:r>
            <a:endParaRPr lang="en-GB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4062" y="6336320"/>
            <a:ext cx="8382000" cy="521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lvl="1" defTabSz="914400" fontAlgn="base" hangingPunct="0">
              <a:lnSpc>
                <a:spcPct val="93000"/>
              </a:lnSpc>
              <a:spcAft>
                <a:spcPct val="0"/>
              </a:spcAft>
              <a:buSzPct val="45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000" dirty="0">
                <a:solidFill>
                  <a:srgbClr val="FF0000"/>
                </a:solidFill>
                <a:cs typeface="Times New Roman" panose="02020603050405020304" pitchFamily="18" charset="0"/>
              </a:rPr>
              <a:t>Q: Can we do something like this in Python?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49262" y="3580927"/>
            <a:ext cx="8458200" cy="535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5300" lvl="1" defTabSz="914400" fontAlgn="base" hangingPunct="0">
              <a:lnSpc>
                <a:spcPct val="93000"/>
              </a:lnSpc>
              <a:spcAft>
                <a:spcPct val="0"/>
              </a:spcAft>
              <a:buSzPct val="45000"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3100" dirty="0">
                <a:solidFill>
                  <a:srgbClr val="FF0000"/>
                </a:solidFill>
                <a:cs typeface="Times New Roman" panose="02020603050405020304" pitchFamily="18" charset="0"/>
              </a:rPr>
              <a:t>Q: Can we do something like this in Python?</a:t>
            </a: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>
                <a:latin typeface="Elephant" panose="02020904090505020303" pitchFamily="18" charset="0"/>
              </a:rPr>
              <a:t>Function</a:t>
            </a:r>
            <a:r>
              <a:rPr lang="en-GB" altLang="en-US" sz="4400" b="1" kern="0">
                <a:latin typeface="Elephant" panose="02020904090505020303" pitchFamily="18" charset="0"/>
              </a:rPr>
              <a:t> </a:t>
            </a:r>
            <a:r>
              <a:rPr lang="en-GB" altLang="en-US" sz="4400" kern="0">
                <a:latin typeface="Elephant" panose="02020904090505020303" pitchFamily="18" charset="0"/>
              </a:rPr>
              <a:t>Generators</a:t>
            </a:r>
            <a:endParaRPr lang="en-GB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2485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44444E-6 L -0.03333 -0.4062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-20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64" presetClass="pat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-0.04011 -0.37917 " pathEditMode="relative" rAng="0" ptsTypes="AA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4" y="-18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5" grpId="2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03691" y="762000"/>
            <a:ext cx="8915400" cy="6096000"/>
          </a:xfrm>
        </p:spPr>
        <p:txBody>
          <a:bodyPr/>
          <a:lstStyle/>
          <a:p>
            <a:pPr marL="95250" indent="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dirty="0" err="1">
                <a:latin typeface="Lucida Console" panose="020B0609040504020204" pitchFamily="49" charset="0"/>
              </a:rPr>
              <a:t>def</a:t>
            </a:r>
            <a:r>
              <a:rPr lang="en-GB" altLang="en-US" sz="2800" dirty="0">
                <a:latin typeface="Lucida Console" panose="020B0609040504020204" pitchFamily="49" charset="0"/>
              </a:rPr>
              <a:t> squares(x):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GB" altLang="en-US" sz="2800" dirty="0">
                <a:latin typeface="Lucida Console" panose="020B0609040504020204" pitchFamily="49" charset="0"/>
              </a:rPr>
              <a:t>    for </a:t>
            </a:r>
            <a:r>
              <a:rPr lang="en-GB" altLang="en-US" sz="280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latin typeface="Lucida Console" panose="020B0609040504020204" pitchFamily="49" charset="0"/>
              </a:rPr>
              <a:t> in range(x): </a:t>
            </a: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yield</a:t>
            </a:r>
            <a:r>
              <a:rPr lang="en-GB" altLang="en-US" sz="2800" dirty="0">
                <a:latin typeface="Lucida Console" panose="020B0609040504020204" pitchFamily="49" charset="0"/>
              </a:rPr>
              <a:t> </a:t>
            </a:r>
            <a:r>
              <a:rPr lang="en-GB" altLang="en-US" sz="280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latin typeface="Lucida Console" panose="020B0609040504020204" pitchFamily="49" charset="0"/>
              </a:rPr>
              <a:t>**2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for </a:t>
            </a:r>
            <a:r>
              <a:rPr lang="en-GB" altLang="en-US" sz="28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in squares(4)</a:t>
            </a:r>
            <a:r>
              <a:rPr lang="en-GB" altLang="en-US" sz="2800" dirty="0">
                <a:latin typeface="Lucida Console" panose="020B0609040504020204" pitchFamily="49" charset="0"/>
              </a:rPr>
              <a:t>: print (</a:t>
            </a:r>
            <a:r>
              <a:rPr lang="en-GB" altLang="en-US" sz="280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dirty="0">
                <a:latin typeface="Lucida Console" panose="020B0609040504020204" pitchFamily="49" charset="0"/>
              </a:rPr>
              <a:t>)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...</a:t>
            </a:r>
            <a:br>
              <a:rPr lang="en-GB" altLang="en-US" sz="2800" dirty="0">
                <a:latin typeface="Lucida Console" panose="020B0609040504020204" pitchFamily="49" charset="0"/>
              </a:rPr>
            </a:br>
            <a:r>
              <a:rPr lang="en-GB" altLang="en-US" sz="2800" dirty="0">
                <a:latin typeface="Lucida Console" panose="020B0609040504020204" pitchFamily="49" charset="0"/>
              </a:rPr>
              <a:t>0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1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4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latin typeface="Lucida Console" panose="020B0609040504020204" pitchFamily="49" charset="0"/>
              </a:rPr>
              <a:t>9</a:t>
            </a: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 </a:t>
            </a: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dirty="0">
                <a:solidFill>
                  <a:schemeClr val="bg1">
                    <a:lumMod val="7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en-GB" altLang="en-US" sz="2800" dirty="0">
              <a:latin typeface="Lucida Console" panose="020B0609040504020204" pitchFamily="49" charset="0"/>
            </a:endParaRPr>
          </a:p>
          <a:p>
            <a:pPr marL="95250" indent="0" eaLnBrk="1">
              <a:lnSpc>
                <a:spcPct val="93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endParaRPr lang="en-GB" altLang="en-US" sz="1800" dirty="0">
              <a:latin typeface="Lucida Console" panose="020B0609040504020204" pitchFamily="49" charset="0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601662" y="2057400"/>
            <a:ext cx="8001000" cy="22860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 flipV="1">
            <a:off x="1418091" y="1444753"/>
            <a:ext cx="8001000" cy="35335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TW" altLang="en-US" sz="20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1047750"/>
          </a:xfrm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dirty="0">
                <a:latin typeface="Elephant" panose="02020904090505020303" pitchFamily="18" charset="0"/>
              </a:rPr>
              <a:t>Function</a:t>
            </a:r>
            <a:r>
              <a:rPr lang="en-GB" altLang="en-US" sz="4400" b="1" dirty="0">
                <a:latin typeface="Elephant" panose="02020904090505020303" pitchFamily="18" charset="0"/>
              </a:rPr>
              <a:t> </a:t>
            </a:r>
            <a:r>
              <a:rPr lang="en-GB" altLang="en-US" sz="4400" dirty="0">
                <a:latin typeface="Elephant" panose="02020904090505020303" pitchFamily="18" charset="0"/>
              </a:rPr>
              <a:t>Generators</a:t>
            </a:r>
          </a:p>
        </p:txBody>
      </p:sp>
    </p:spTree>
    <p:extLst>
      <p:ext uri="{BB962C8B-B14F-4D97-AF65-F5344CB8AC3E}">
        <p14:creationId xmlns:p14="http://schemas.microsoft.com/office/powerpoint/2010/main" val="18192719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Function</a:t>
            </a:r>
            <a:r>
              <a:rPr lang="en-GB" altLang="en-US" sz="4400" b="1" kern="0" dirty="0">
                <a:latin typeface="Elephant" panose="02020904090505020303" pitchFamily="18" charset="0"/>
              </a:rPr>
              <a:t> </a:t>
            </a:r>
            <a:r>
              <a:rPr lang="en-GB" altLang="en-US" sz="4400" kern="0" dirty="0">
                <a:latin typeface="Elephant" panose="02020904090505020303" pitchFamily="18" charset="0"/>
              </a:rPr>
              <a:t>Generators</a:t>
            </a:r>
          </a:p>
        </p:txBody>
      </p:sp>
      <p:sp>
        <p:nvSpPr>
          <p:cNvPr id="16" name="Rectangle 1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1047750"/>
          </a:xfrm>
          <a:solidFill>
            <a:schemeClr val="bg1"/>
          </a:solidFill>
        </p:spPr>
        <p:txBody>
          <a:bodyPr/>
          <a:lstStyle/>
          <a:p>
            <a:pPr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000" b="1" dirty="0">
                <a:solidFill>
                  <a:srgbClr val="FF0000"/>
                </a:solidFill>
              </a:rPr>
              <a:t>next</a:t>
            </a:r>
            <a:r>
              <a:rPr lang="en-GB" altLang="en-US" sz="4000" dirty="0"/>
              <a:t> </a:t>
            </a:r>
            <a:r>
              <a:rPr lang="en-GB" altLang="en-US" sz="4200" dirty="0">
                <a:latin typeface="Elephant" panose="02020904090505020303" pitchFamily="18" charset="0"/>
              </a:rPr>
              <a:t>with a Function</a:t>
            </a:r>
            <a:r>
              <a:rPr lang="en-GB" altLang="en-US" sz="4200" b="1" dirty="0">
                <a:latin typeface="Elephant" panose="02020904090505020303" pitchFamily="18" charset="0"/>
              </a:rPr>
              <a:t> </a:t>
            </a:r>
            <a:r>
              <a:rPr lang="en-GB" altLang="en-US" sz="4200" dirty="0">
                <a:latin typeface="Elephant" panose="02020904090505020303" pitchFamily="18" charset="0"/>
              </a:rPr>
              <a:t>Generator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3691" y="762000"/>
            <a:ext cx="8915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latin typeface="Lucida Console" panose="020B0609040504020204" pitchFamily="49" charset="0"/>
              </a:rPr>
              <a:t> </a:t>
            </a:r>
            <a:r>
              <a:rPr lang="en-GB" altLang="en-US" sz="2800" kern="0" dirty="0" err="1">
                <a:latin typeface="Lucida Console" panose="020B0609040504020204" pitchFamily="49" charset="0"/>
              </a:rPr>
              <a:t>def</a:t>
            </a:r>
            <a:r>
              <a:rPr lang="en-GB" altLang="en-US" sz="2800" kern="0" dirty="0">
                <a:latin typeface="Lucida Console" panose="020B0609040504020204" pitchFamily="49" charset="0"/>
              </a:rPr>
              <a:t> squares(x):</a:t>
            </a:r>
            <a:br>
              <a:rPr lang="en-GB" altLang="en-US" sz="2800" kern="0" dirty="0"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...</a:t>
            </a:r>
            <a:r>
              <a:rPr lang="en-GB" altLang="en-US" sz="2800" kern="0" dirty="0">
                <a:latin typeface="Lucida Console" panose="020B0609040504020204" pitchFamily="49" charset="0"/>
              </a:rPr>
              <a:t>    for </a:t>
            </a:r>
            <a:r>
              <a:rPr lang="en-GB" altLang="en-US" sz="2800" kern="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latin typeface="Lucida Console" panose="020B0609040504020204" pitchFamily="49" charset="0"/>
              </a:rPr>
              <a:t> in range(x):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yield</a:t>
            </a:r>
            <a:r>
              <a:rPr lang="en-GB" altLang="en-US" sz="2800" kern="0" dirty="0">
                <a:latin typeface="Lucida Console" panose="020B0609040504020204" pitchFamily="49" charset="0"/>
              </a:rPr>
              <a:t> </a:t>
            </a:r>
            <a:r>
              <a:rPr lang="en-GB" altLang="en-US" sz="2800" kern="0" dirty="0" err="1"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latin typeface="Lucida Console" panose="020B0609040504020204" pitchFamily="49" charset="0"/>
              </a:rPr>
              <a:t>**2</a:t>
            </a:r>
            <a:br>
              <a:rPr lang="en-GB" altLang="en-US" sz="2800" kern="0" dirty="0"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squares(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starts with the first: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steps through sequence: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squares(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2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this new one starts fresh: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y sequence unaffected by z: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endParaRPr lang="en-GB" altLang="en-US" sz="2800" b="1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#This is z’s second element: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1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#But z only has 2 elements (square(2))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8349" y="5426765"/>
            <a:ext cx="851452" cy="3346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98349" y="1809750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8349" y="2495550"/>
            <a:ext cx="851452" cy="2112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98349" y="3141592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98349" y="3486150"/>
            <a:ext cx="851452" cy="2277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98349" y="4098236"/>
            <a:ext cx="851452" cy="3213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98349" y="4784036"/>
            <a:ext cx="851452" cy="288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5676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7" grpId="0"/>
      <p:bldP spid="8" grpId="0"/>
      <p:bldP spid="9" grpId="0"/>
      <p:bldP spid="10" grpId="0"/>
      <p:bldP spid="1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1047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lnSpc>
                <a:spcPct val="47000"/>
              </a:lnSpc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000" kern="0" dirty="0"/>
              <a:t>(</a:t>
            </a:r>
            <a:r>
              <a:rPr lang="en-GB" altLang="en-US" sz="4200" kern="0" dirty="0">
                <a:latin typeface="Elephant" panose="02020904090505020303" pitchFamily="18" charset="0"/>
              </a:rPr>
              <a:t>We've used </a:t>
            </a:r>
            <a:r>
              <a:rPr lang="en-GB" altLang="en-US" sz="4000" b="1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4000" kern="0" dirty="0"/>
              <a:t> </a:t>
            </a:r>
            <a:r>
              <a:rPr lang="en-GB" altLang="en-US" sz="4200" kern="0" dirty="0">
                <a:latin typeface="Elephant" panose="02020904090505020303" pitchFamily="18" charset="0"/>
              </a:rPr>
              <a:t>similarly</a:t>
            </a:r>
            <a:r>
              <a:rPr lang="en-GB" altLang="en-US" sz="4000" kern="0" dirty="0"/>
              <a:t>)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503691" y="762000"/>
            <a:ext cx="89154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rgbClr val="222222"/>
                </a:solidFill>
                <a:latin typeface="+mn-lt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222222"/>
                </a:solidFill>
                <a:latin typeface="+mn-lt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rgbClr val="222222"/>
                </a:solidFill>
                <a:latin typeface="+mn-lt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  <a:ea typeface="MS PGothic" pitchFamily="34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kern="0" dirty="0" err="1">
                <a:solidFill>
                  <a:srgbClr val="FFFFFF"/>
                </a:solidFill>
                <a:latin typeface="Lucida Console" panose="020B0609040504020204" pitchFamily="49" charset="0"/>
              </a:rPr>
              <a:t>def</a:t>
            </a: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 squares(x):</a:t>
            </a:r>
            <a:b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...    for </a:t>
            </a:r>
            <a:r>
              <a:rPr lang="en-GB" altLang="en-US" sz="2800" kern="0" dirty="0" err="1">
                <a:solidFill>
                  <a:srgbClr val="FFFFFF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 in range(x): yield </a:t>
            </a:r>
            <a:r>
              <a:rPr lang="en-GB" altLang="en-US" sz="2800" kern="0" dirty="0" err="1">
                <a:solidFill>
                  <a:srgbClr val="FFFFFF"/>
                </a:solidFill>
                <a:latin typeface="Lucida Console" panose="020B0609040504020204" pitchFamily="49" charset="0"/>
              </a:rPr>
              <a:t>i</a:t>
            </a: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**2</a:t>
            </a:r>
            <a:b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</a:b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80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4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&gt;&gt;&gt;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starts with the first: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it steps through sequence: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1</a:t>
            </a: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= </a:t>
            </a:r>
            <a:r>
              <a:rPr lang="en-GB" altLang="en-US" sz="2800" b="1" u="sng" kern="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iter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(range(</a:t>
            </a:r>
            <a:r>
              <a:rPr lang="en-GB" altLang="en-US" sz="2800" b="1" kern="0" dirty="0">
                <a:solidFill>
                  <a:srgbClr val="00B0F0"/>
                </a:solidFill>
                <a:latin typeface="Lucida Console" panose="020B0609040504020204" pitchFamily="49" charset="0"/>
              </a:rPr>
              <a:t>2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))) </a:t>
            </a:r>
            <a:endParaRPr lang="en-GB" altLang="en-US" sz="2800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this new one starts fresh: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0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y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#See how y sequence unaffected by z: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B050"/>
                </a:solidFill>
                <a:latin typeface="Lucida Console" panose="020B0609040504020204" pitchFamily="49" charset="0"/>
              </a:rPr>
              <a:t>2</a:t>
            </a:r>
            <a:endParaRPr lang="en-GB" altLang="en-US" sz="2800" b="1" kern="0" dirty="0">
              <a:solidFill>
                <a:srgbClr val="FFFFFF"/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#This is z’s second element: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1</a:t>
            </a:r>
            <a:endParaRPr lang="en-GB" altLang="en-US" sz="2800" b="1" kern="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</a:endParaRPr>
          </a:p>
          <a:p>
            <a:pPr marL="95250" indent="0" defTabSz="914400" eaLnBrk="1">
              <a:lnSpc>
                <a:spcPct val="78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GB" altLang="en-US" sz="2800" kern="0" dirty="0">
                <a:solidFill>
                  <a:srgbClr val="FFFFFF"/>
                </a:solidFill>
                <a:latin typeface="Lucida Console" panose="020B0609040504020204" pitchFamily="49" charset="0"/>
              </a:rPr>
              <a:t>&gt;&gt;&gt;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0000"/>
                </a:solidFill>
                <a:latin typeface="Lucida Console" panose="020B0609040504020204" pitchFamily="49" charset="0"/>
              </a:rPr>
              <a:t>next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(</a:t>
            </a:r>
            <a:r>
              <a:rPr lang="en-GB" altLang="en-US" sz="2800" b="1" kern="0" dirty="0">
                <a:solidFill>
                  <a:srgbClr val="00DBD6"/>
                </a:solidFill>
                <a:latin typeface="Lucida Console" panose="020B0609040504020204" pitchFamily="49" charset="0"/>
              </a:rPr>
              <a:t>z</a:t>
            </a:r>
            <a:r>
              <a:rPr lang="en-GB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)</a:t>
            </a:r>
            <a:r>
              <a:rPr lang="en-GB" altLang="en-US" sz="12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  <a:t> </a:t>
            </a:r>
            <a:r>
              <a:rPr lang="en-GB" altLang="en-US" sz="2800" kern="0" dirty="0">
                <a:solidFill>
                  <a:srgbClr val="FFFFFF">
                    <a:lumMod val="75000"/>
                  </a:srgbClr>
                </a:solidFill>
              </a:rPr>
              <a:t>#But z only has 2 elements (square(2))</a:t>
            </a:r>
            <a:br>
              <a:rPr lang="en-GB" altLang="en-US" sz="2800" kern="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</a:rPr>
            </a:b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Traceback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  File "&lt;</a:t>
            </a: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stdin</a:t>
            </a:r>
            <a:r>
              <a:rPr lang="en-US" altLang="en-US" sz="2800" kern="0" dirty="0">
                <a:solidFill>
                  <a:srgbClr val="000000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95250" indent="0" defTabSz="914400" eaLnBrk="1">
              <a:lnSpc>
                <a:spcPct val="85000"/>
              </a:lnSpc>
              <a:spcBef>
                <a:spcPts val="0"/>
              </a:spcBef>
              <a:buSzPct val="45000"/>
              <a:buNone/>
              <a:tabLst>
                <a:tab pos="363538" algn="l"/>
                <a:tab pos="468313" algn="l"/>
                <a:tab pos="882650" algn="l"/>
                <a:tab pos="1298575" algn="l"/>
                <a:tab pos="1712913" algn="l"/>
                <a:tab pos="2127250" algn="l"/>
                <a:tab pos="2541588" algn="l"/>
                <a:tab pos="2957513" algn="l"/>
                <a:tab pos="3371850" algn="l"/>
                <a:tab pos="3786188" algn="l"/>
                <a:tab pos="4200525" algn="l"/>
                <a:tab pos="4616450" algn="l"/>
                <a:tab pos="5030788" algn="l"/>
                <a:tab pos="5445125" algn="l"/>
                <a:tab pos="5859463" algn="l"/>
                <a:tab pos="6275388" algn="l"/>
                <a:tab pos="6689725" algn="l"/>
                <a:tab pos="7104063" algn="l"/>
                <a:tab pos="7518400" algn="l"/>
                <a:tab pos="7934325" algn="l"/>
                <a:tab pos="8348663" algn="l"/>
              </a:tabLst>
            </a:pPr>
            <a:r>
              <a:rPr lang="en-US" altLang="en-US" sz="2800" kern="0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StopIteration</a:t>
            </a:r>
            <a:endParaRPr lang="en-US" altLang="en-US" sz="2800" kern="0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/>
          <p:cNvSpPr/>
          <p:nvPr/>
        </p:nvSpPr>
        <p:spPr bwMode="auto">
          <a:xfrm>
            <a:off x="598349" y="5426765"/>
            <a:ext cx="851452" cy="33461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598349" y="1809750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598349" y="2495550"/>
            <a:ext cx="851452" cy="21120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98349" y="3141592"/>
            <a:ext cx="851452" cy="24765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598349" y="3486150"/>
            <a:ext cx="851452" cy="22777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98349" y="4098236"/>
            <a:ext cx="851452" cy="3213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98349" y="4784036"/>
            <a:ext cx="851452" cy="28823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800" dirty="0">
                <a:solidFill>
                  <a:srgbClr val="FFFFFF">
                    <a:lumMod val="7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800" dirty="0">
              <a:solidFill>
                <a:srgbClr val="FFFFFF">
                  <a:lumMod val="7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7563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609600"/>
            <a:ext cx="9144000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1800" dirty="0">
              <a:solidFill>
                <a:srgbClr val="2D2DB9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There are Generator Functions: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squares(start,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yield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*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squares(a, b)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36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spc="-80" dirty="0">
                <a:solidFill>
                  <a:srgbClr val="2D2DB9"/>
                </a:solidFill>
              </a:rPr>
              <a:t>There are Generator</a:t>
            </a:r>
            <a:r>
              <a:rPr lang="en-US" altLang="zh-TW" sz="2800" spc="-80" dirty="0">
                <a:solidFill>
                  <a:srgbClr val="2D2DB9"/>
                </a:solidFill>
              </a:rPr>
              <a:t> </a:t>
            </a:r>
            <a:r>
              <a:rPr lang="en-US" altLang="zh-TW" sz="3200" spc="-80" dirty="0">
                <a:solidFill>
                  <a:srgbClr val="2D2DB9"/>
                </a:solidFill>
              </a:rPr>
              <a:t>Expressions: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</a:t>
            </a:r>
            <a:r>
              <a:rPr lang="en-US" altLang="zh-TW" sz="2800" dirty="0" err="1">
                <a:latin typeface="Lucida Console" panose="020B0609040504020204" pitchFamily="49" charset="0"/>
              </a:rPr>
              <a:t>a,b</a:t>
            </a:r>
            <a:r>
              <a:rPr lang="en-US" altLang="zh-TW" sz="2800" dirty="0"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    #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This is </a:t>
            </a:r>
            <a:r>
              <a:rPr lang="en-US" altLang="zh-TW" sz="2800" u="sng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a tuple.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16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3000" spc="-80" dirty="0">
                <a:solidFill>
                  <a:srgbClr val="2D2DB9"/>
                </a:solidFill>
              </a:rPr>
              <a:t>(Generator</a:t>
            </a:r>
            <a:r>
              <a:rPr lang="en-US" altLang="zh-TW" spc="-80" dirty="0">
                <a:solidFill>
                  <a:srgbClr val="2D2DB9"/>
                </a:solidFill>
              </a:rPr>
              <a:t> </a:t>
            </a:r>
            <a:r>
              <a:rPr lang="en-US" altLang="zh-TW" sz="3000" spc="-80" dirty="0">
                <a:solidFill>
                  <a:srgbClr val="2D2DB9"/>
                </a:solidFill>
              </a:rPr>
              <a:t>expressions are not comprehensions.)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 </a:t>
            </a:r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generator?</a:t>
            </a:r>
            <a:endParaRPr lang="en-GB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65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Comprehensions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1263" y="838200"/>
            <a:ext cx="8797491" cy="6019800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en-US" altLang="en-US" sz="3200" spc="-10" dirty="0"/>
              <a:t>A list can be </a:t>
            </a:r>
            <a:r>
              <a:rPr lang="en-US" altLang="en-US" sz="3200" i="1" spc="-10" dirty="0"/>
              <a:t>comprehended</a:t>
            </a:r>
            <a:r>
              <a:rPr lang="en-US" altLang="en-US" sz="3200" spc="-10" dirty="0"/>
              <a:t> (created </a:t>
            </a:r>
            <a:r>
              <a:rPr lang="en-US" altLang="en-US" sz="3200" i="1" spc="-10" dirty="0"/>
              <a:t>in-place</a:t>
            </a:r>
            <a:r>
              <a:rPr lang="en-US" altLang="en-US" sz="3200" spc="-10" dirty="0"/>
              <a:t>) </a:t>
            </a:r>
            <a:r>
              <a:rPr lang="en-US" altLang="en-US" sz="3200" dirty="0"/>
              <a:t>immediately as its elements are calculated:</a:t>
            </a:r>
            <a:endParaRPr lang="en-US" altLang="en-US" sz="2800" dirty="0">
              <a:solidFill>
                <a:schemeClr val="tx1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[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3*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[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[{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)]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[{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9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},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}]</a:t>
            </a:r>
          </a:p>
          <a:p>
            <a:r>
              <a:rPr lang="en-US" altLang="en-US" sz="3200" dirty="0"/>
              <a:t>Set comprehension:</a:t>
            </a:r>
            <a:endParaRPr lang="en-US" altLang="en-US" sz="2800" dirty="0"/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8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27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200" dirty="0"/>
              <a:t>Dictionary comprehension:</a:t>
            </a:r>
            <a:endParaRPr lang="en-US" altLang="en-US" sz="2800" dirty="0"/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latin typeface="Lucida Console" pitchFamily="49" charset="0"/>
              </a:rPr>
              <a:t>&gt;&gt;&gt;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{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 err="1">
                <a:solidFill>
                  <a:schemeClr val="tx1"/>
                </a:solidFill>
                <a:latin typeface="Lucida Console" pitchFamily="49" charset="0"/>
              </a:rPr>
              <a:t>:</a:t>
            </a:r>
            <a:r>
              <a:rPr lang="en-US" altLang="en-US" sz="2800" dirty="0" err="1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accent2"/>
                </a:solidFill>
                <a:latin typeface="Lucida Console" pitchFamily="49" charset="0"/>
              </a:rPr>
              <a:t>**4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for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x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 in (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)}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{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2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16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, </a:t>
            </a:r>
            <a:r>
              <a:rPr lang="en-US" altLang="en-US" sz="2800" dirty="0">
                <a:solidFill>
                  <a:srgbClr val="FF0000"/>
                </a:solidFill>
                <a:latin typeface="Lucida Console" pitchFamily="49" charset="0"/>
              </a:rPr>
              <a:t>3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: </a:t>
            </a:r>
            <a:r>
              <a:rPr lang="en-US" altLang="en-US" sz="2800" dirty="0">
                <a:solidFill>
                  <a:srgbClr val="CC3399"/>
                </a:solidFill>
                <a:latin typeface="Lucida Console" pitchFamily="49" charset="0"/>
              </a:rPr>
              <a:t>81</a:t>
            </a: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}</a:t>
            </a:r>
          </a:p>
          <a:p>
            <a:r>
              <a:rPr lang="en-US" altLang="en-US" sz="3200" b="1" dirty="0">
                <a:solidFill>
                  <a:srgbClr val="7030A0"/>
                </a:solidFill>
              </a:rPr>
              <a:t>But tuples and strings don’t work.</a:t>
            </a:r>
            <a:endParaRPr lang="en-US" altLang="en-US" sz="2800" b="1" dirty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altLang="en-US" sz="2800" dirty="0">
                <a:solidFill>
                  <a:schemeClr val="tx1"/>
                </a:solidFill>
                <a:latin typeface="Lucida Console" pitchFamily="49" charset="0"/>
              </a:rPr>
              <a:t>	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0" y="688369"/>
            <a:ext cx="9737725" cy="5609689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sp>
        <p:nvSpPr>
          <p:cNvPr id="5" name="Trapezoid 4"/>
          <p:cNvSpPr>
            <a:spLocks noChangeAspect="1"/>
          </p:cNvSpPr>
          <p:nvPr/>
        </p:nvSpPr>
        <p:spPr bwMode="auto">
          <a:xfrm rot="18900000">
            <a:off x="-684172" y="459519"/>
            <a:ext cx="2984561" cy="695576"/>
          </a:xfrm>
          <a:prstGeom prst="trapezoid">
            <a:avLst>
              <a:gd name="adj" fmla="val 100893"/>
            </a:avLst>
          </a:prstGeom>
          <a:solidFill>
            <a:srgbClr val="FFFF00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8764" tIns="0" rIns="98764" bIns="49382" numCol="1" rtlCol="0" anchor="ctr" anchorCtr="1" compatLnSpc="1">
            <a:prstTxWarp prst="textNoShape">
              <a:avLst/>
            </a:prstTxWarp>
          </a:bodyPr>
          <a:lstStyle/>
          <a:p>
            <a:pPr algn="ctr">
              <a:lnSpc>
                <a:spcPct val="70000"/>
              </a:lnSpc>
            </a:pPr>
            <a:r>
              <a:rPr lang="en-US" sz="2592" spc="-100" dirty="0">
                <a:solidFill>
                  <a:srgbClr val="000000"/>
                </a:solidFill>
                <a:latin typeface="Arial" charset="0"/>
                <a:ea typeface="新細明體" charset="-120"/>
              </a:rPr>
              <a:t>Recall</a:t>
            </a:r>
            <a:b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</a:br>
            <a:r>
              <a:rPr lang="en-US" sz="2592" dirty="0">
                <a:solidFill>
                  <a:srgbClr val="000000"/>
                </a:solidFill>
                <a:latin typeface="Arial" charset="0"/>
                <a:ea typeface="新細明體" charset="-120"/>
              </a:rPr>
              <a:t> Slide #29</a:t>
            </a:r>
            <a:endParaRPr lang="en-US" sz="3024" dirty="0">
              <a:solidFill>
                <a:srgbClr val="000000"/>
              </a:solidFill>
              <a:latin typeface="Arial" charset="0"/>
              <a:ea typeface="新細明體" charset="-12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022372" y="6308333"/>
            <a:ext cx="2205056" cy="549667"/>
          </a:xfrm>
          <a:prstGeom prst="rect">
            <a:avLst/>
          </a:prstGeom>
          <a:solidFill>
            <a:srgbClr val="FFFFFF">
              <a:alpha val="8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0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1" y="609600"/>
            <a:ext cx="9201099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1800" dirty="0">
              <a:solidFill>
                <a:srgbClr val="2D2DB9"/>
              </a:solidFill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There are Generator Functions: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 err="1">
                <a:latin typeface="Lucida Console" panose="020B0609040504020204" pitchFamily="49" charset="0"/>
              </a:rPr>
              <a:t>def</a:t>
            </a:r>
            <a:r>
              <a:rPr lang="en-US" altLang="zh-TW" sz="2800" dirty="0">
                <a:latin typeface="Lucida Console" panose="020B0609040504020204" pitchFamily="49" charset="0"/>
              </a:rPr>
              <a:t> squares(start,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yield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*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squares(a, b)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3600" dirty="0">
              <a:latin typeface="Lucida Console" panose="020B06090405040202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200" spc="-80" dirty="0">
                <a:solidFill>
                  <a:srgbClr val="2D2DB9"/>
                </a:solidFill>
              </a:rPr>
              <a:t>There are Generator</a:t>
            </a:r>
            <a:r>
              <a:rPr lang="en-US" altLang="zh-TW" sz="2800" spc="-80" dirty="0">
                <a:solidFill>
                  <a:srgbClr val="2D2DB9"/>
                </a:solidFill>
              </a:rPr>
              <a:t> </a:t>
            </a:r>
            <a:r>
              <a:rPr lang="en-US" altLang="zh-TW" sz="3200" spc="-80" dirty="0">
                <a:solidFill>
                  <a:srgbClr val="2D2DB9"/>
                </a:solidFill>
              </a:rPr>
              <a:t>Expressions:</a:t>
            </a:r>
          </a:p>
          <a:p>
            <a:pPr lvl="1">
              <a:lnSpc>
                <a:spcPct val="90000"/>
              </a:lnSpc>
              <a:spcBef>
                <a:spcPts val="1200"/>
              </a:spcBef>
              <a:buClr>
                <a:schemeClr val="bg1"/>
              </a:buClr>
            </a:pP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iterator =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(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for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range(</a:t>
            </a:r>
            <a:r>
              <a:rPr lang="en-US" altLang="zh-TW" sz="2800" dirty="0" err="1">
                <a:latin typeface="Lucida Console" panose="020B0609040504020204" pitchFamily="49" charset="0"/>
              </a:rPr>
              <a:t>a,b</a:t>
            </a:r>
            <a:r>
              <a:rPr lang="en-US" altLang="zh-TW" sz="2800" dirty="0"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)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sz="2800" dirty="0">
                <a:latin typeface="Lucida Console" panose="020B0609040504020204" pitchFamily="49" charset="0"/>
              </a:rPr>
              <a:t>           # 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This is </a:t>
            </a:r>
            <a:r>
              <a:rPr lang="en-US" altLang="zh-TW" sz="2800" u="sng" dirty="0">
                <a:solidFill>
                  <a:srgbClr val="FF0000"/>
                </a:solidFill>
                <a:latin typeface="Lucida Console" panose="020B0609040504020204" pitchFamily="49" charset="0"/>
              </a:rPr>
              <a:t>not</a:t>
            </a:r>
            <a:r>
              <a:rPr lang="en-US" altLang="zh-TW" sz="2800" dirty="0">
                <a:solidFill>
                  <a:srgbClr val="FF0000"/>
                </a:solidFill>
                <a:latin typeface="Lucida Console" panose="020B0609040504020204" pitchFamily="49" charset="0"/>
              </a:rPr>
              <a:t> a tuple.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16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3000" spc="-80" dirty="0">
                <a:solidFill>
                  <a:srgbClr val="2D2DB9"/>
                </a:solidFill>
              </a:rPr>
              <a:t>(Generator</a:t>
            </a:r>
            <a:r>
              <a:rPr lang="en-US" altLang="zh-TW" spc="-80" dirty="0">
                <a:solidFill>
                  <a:srgbClr val="2D2DB9"/>
                </a:solidFill>
              </a:rPr>
              <a:t> </a:t>
            </a:r>
            <a:r>
              <a:rPr lang="en-US" altLang="zh-TW" sz="3000" spc="-80" dirty="0">
                <a:solidFill>
                  <a:srgbClr val="2D2DB9"/>
                </a:solidFill>
              </a:rPr>
              <a:t>expressions are not comprehensions.)</a:t>
            </a:r>
          </a:p>
          <a:p>
            <a:pPr lvl="1">
              <a:lnSpc>
                <a:spcPct val="90000"/>
              </a:lnSpc>
              <a:spcBef>
                <a:spcPts val="1200"/>
              </a:spcBef>
            </a:pPr>
            <a:r>
              <a:rPr lang="en-US" altLang="zh-TW" sz="3000" spc="-130" dirty="0">
                <a:solidFill>
                  <a:srgbClr val="FF0000"/>
                </a:solidFill>
              </a:rPr>
              <a:t>That's one reason there are no tuple comprehensions.</a:t>
            </a:r>
          </a:p>
          <a:p>
            <a:pPr lvl="2">
              <a:lnSpc>
                <a:spcPct val="90000"/>
              </a:lnSpc>
              <a:spcBef>
                <a:spcPts val="600"/>
              </a:spcBef>
            </a:pPr>
            <a:r>
              <a:rPr lang="en-US" altLang="zh-TW" sz="2800" spc="-80" dirty="0">
                <a:solidFill>
                  <a:schemeClr val="tx1"/>
                </a:solidFill>
              </a:rPr>
              <a:t>But you can do this:  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tuple([</a:t>
            </a:r>
            <a:r>
              <a:rPr lang="en-US" altLang="zh-TW" sz="2800" spc="-80" dirty="0" err="1">
                <a:solidFill>
                  <a:schemeClr val="tx1"/>
                </a:solidFill>
                <a:latin typeface="Lucida Fax" panose="02060602050505020204" pitchFamily="18" charset="0"/>
              </a:rPr>
              <a:t>i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 for </a:t>
            </a:r>
            <a:r>
              <a:rPr lang="en-US" altLang="zh-TW" sz="2800" spc="-80" dirty="0" err="1">
                <a:solidFill>
                  <a:schemeClr val="tx1"/>
                </a:solidFill>
                <a:latin typeface="Lucida Fax" panose="02060602050505020204" pitchFamily="18" charset="0"/>
              </a:rPr>
              <a:t>i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 in range(</a:t>
            </a:r>
            <a:r>
              <a:rPr lang="en-US" altLang="zh-TW" sz="2800" spc="-80" dirty="0" err="1">
                <a:solidFill>
                  <a:schemeClr val="tx1"/>
                </a:solidFill>
                <a:latin typeface="Lucida Fax" panose="02060602050505020204" pitchFamily="18" charset="0"/>
              </a:rPr>
              <a:t>a,b</a:t>
            </a:r>
            <a:r>
              <a:rPr lang="en-US" altLang="zh-TW" sz="2800" spc="-80" dirty="0">
                <a:solidFill>
                  <a:schemeClr val="tx1"/>
                </a:solidFill>
                <a:latin typeface="Lucida Fax" panose="02060602050505020204" pitchFamily="18" charset="0"/>
              </a:rPr>
              <a:t>)])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endParaRPr lang="en-US" altLang="zh-TW" sz="2800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 </a:t>
            </a:r>
            <a:r>
              <a:rPr lang="en-US" altLang="en-US" sz="4400" dirty="0">
                <a:solidFill>
                  <a:schemeClr val="accent6"/>
                </a:solidFill>
                <a:latin typeface="Elephant" panose="02020904090505020303" pitchFamily="18" charset="0"/>
                <a:cs typeface="Arial" panose="020B0604020202020204" pitchFamily="34" charset="0"/>
              </a:rPr>
              <a:t>generator?</a:t>
            </a:r>
            <a:endParaRPr lang="en-GB" altLang="en-US" sz="4400" kern="0" dirty="0">
              <a:latin typeface="Elephant" panose="0202090409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32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609600"/>
            <a:ext cx="9144000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srgbClr val="2D2DB9"/>
                </a:solidFill>
              </a:rPr>
              <a:t>Generator functions are iterators: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 err="1"/>
              <a:t>def</a:t>
            </a:r>
            <a:r>
              <a:rPr lang="en-US" altLang="zh-TW" dirty="0"/>
              <a:t> squares(start,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for </a:t>
            </a:r>
            <a:r>
              <a:rPr lang="en-US" altLang="zh-TW" dirty="0" err="1"/>
              <a:t>i</a:t>
            </a:r>
            <a:r>
              <a:rPr lang="en-US" altLang="zh-TW" dirty="0"/>
              <a:t> in range(start, stop):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yield </a:t>
            </a:r>
            <a:r>
              <a:rPr lang="en-US" altLang="zh-TW" dirty="0" err="1"/>
              <a:t>i</a:t>
            </a:r>
            <a:r>
              <a:rPr lang="en-US" altLang="zh-TW" dirty="0"/>
              <a:t> * </a:t>
            </a:r>
            <a:r>
              <a:rPr lang="en-US" altLang="zh-TW" dirty="0" err="1"/>
              <a:t>i</a:t>
            </a:r>
            <a:r>
              <a:rPr lang="en-US" altLang="zh-TW" dirty="0"/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squares(a, b)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2800" spc="-80" dirty="0">
                <a:solidFill>
                  <a:srgbClr val="2D2DB9"/>
                </a:solidFill>
              </a:rPr>
              <a:t>Generator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expressions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(not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comprehensions)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are</a:t>
            </a:r>
            <a:r>
              <a:rPr lang="en-US" altLang="zh-TW" sz="2400" spc="-80" dirty="0">
                <a:solidFill>
                  <a:srgbClr val="2D2DB9"/>
                </a:solidFill>
              </a:rPr>
              <a:t> </a:t>
            </a:r>
            <a:r>
              <a:rPr lang="en-US" altLang="zh-TW" sz="2800" spc="-80" dirty="0">
                <a:solidFill>
                  <a:srgbClr val="2D2DB9"/>
                </a:solidFill>
              </a:rPr>
              <a:t>iterators: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en-US" altLang="zh-TW" dirty="0" err="1"/>
              <a:t>i</a:t>
            </a:r>
            <a:r>
              <a:rPr lang="en-US" altLang="zh-TW" dirty="0"/>
              <a:t> for </a:t>
            </a:r>
            <a:r>
              <a:rPr lang="en-US" altLang="zh-TW" dirty="0" err="1"/>
              <a:t>i</a:t>
            </a:r>
            <a:r>
              <a:rPr lang="en-US" altLang="zh-TW" dirty="0"/>
              <a:t> in range(</a:t>
            </a:r>
            <a:r>
              <a:rPr lang="en-US" altLang="zh-TW" dirty="0" err="1"/>
              <a:t>a,b</a:t>
            </a:r>
            <a:r>
              <a:rPr lang="en-US" altLang="zh-TW" dirty="0"/>
              <a:t>)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2D2DB9"/>
                </a:solidFill>
              </a:rPr>
              <a:t>Plain iterators are, of course, iterators: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</a:t>
            </a:r>
            <a:r>
              <a:rPr lang="en-US" altLang="zh-TW" dirty="0" err="1"/>
              <a:t>iter</a:t>
            </a:r>
            <a:r>
              <a:rPr lang="en-US" altLang="zh-TW" dirty="0"/>
              <a:t>(range(</a:t>
            </a:r>
            <a:r>
              <a:rPr lang="en-US" altLang="zh-TW" dirty="0" err="1"/>
              <a:t>a,b</a:t>
            </a:r>
            <a:r>
              <a:rPr lang="en-US" altLang="zh-TW" dirty="0"/>
              <a:t>))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dirty="0">
                <a:solidFill>
                  <a:srgbClr val="2D2DB9"/>
                </a:solidFill>
              </a:rPr>
              <a:t>Classes with __iter__ and __next__ define iterators: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class Squares(object):                        </a:t>
            </a:r>
            <a:r>
              <a:rPr lang="en-US" altLang="zh-TW" dirty="0">
                <a:solidFill>
                  <a:srgbClr val="FFCCCC"/>
                </a:solidFill>
              </a:rPr>
              <a:t># We’ll learn classes</a:t>
            </a:r>
            <a:r>
              <a:rPr lang="en-US" altLang="zh-TW" dirty="0"/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__</a:t>
            </a:r>
            <a:r>
              <a:rPr lang="en-US" altLang="zh-TW" dirty="0" err="1"/>
              <a:t>init</a:t>
            </a:r>
            <a:r>
              <a:rPr lang="en-US" altLang="zh-TW" dirty="0"/>
              <a:t>__(self, start, stop):          </a:t>
            </a:r>
            <a:r>
              <a:rPr lang="en-US" altLang="zh-TW" sz="200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later. We don’t know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</a:t>
            </a:r>
            <a:r>
              <a:rPr lang="en-US" altLang="zh-TW" dirty="0" err="1"/>
              <a:t>self.start</a:t>
            </a:r>
            <a:r>
              <a:rPr lang="en-US" altLang="zh-TW" dirty="0"/>
              <a:t> = start; </a:t>
            </a:r>
            <a:r>
              <a:rPr lang="en-US" altLang="zh-TW" dirty="0" err="1"/>
              <a:t>self.stop</a:t>
            </a:r>
            <a:r>
              <a:rPr lang="en-US" altLang="zh-TW" dirty="0"/>
              <a:t> = stop </a:t>
            </a:r>
            <a:r>
              <a:rPr lang="en-US" altLang="zh-TW" sz="1100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this syntax yet.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__iter__(self): return self          </a:t>
            </a:r>
            <a:r>
              <a:rPr lang="en-US" altLang="zh-TW" sz="1100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But we do see that a</a:t>
            </a:r>
            <a:r>
              <a:rPr lang="en-US" altLang="zh-TW" dirty="0"/>
              <a:t> 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</a:t>
            </a:r>
            <a:r>
              <a:rPr lang="en-US" altLang="zh-TW" dirty="0" err="1"/>
              <a:t>def</a:t>
            </a:r>
            <a:r>
              <a:rPr lang="en-US" altLang="zh-TW" dirty="0"/>
              <a:t> next(self):                                  </a:t>
            </a:r>
            <a:r>
              <a:rPr lang="en-US" altLang="zh-TW" dirty="0">
                <a:solidFill>
                  <a:srgbClr val="FFCCCC"/>
                </a:solidFill>
              </a:rPr>
              <a:t># class can define an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 if self.start+1&gt;=</a:t>
            </a:r>
            <a:r>
              <a:rPr lang="en-US" altLang="zh-TW" dirty="0" err="1"/>
              <a:t>self.stop</a:t>
            </a:r>
            <a:r>
              <a:rPr lang="en-US" altLang="zh-TW" dirty="0"/>
              <a:t>: raise </a:t>
            </a:r>
            <a:r>
              <a:rPr lang="en-US" altLang="zh-TW" dirty="0" err="1"/>
              <a:t>StopIteration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CCCC"/>
                </a:solidFill>
              </a:rPr>
              <a:t># iterator.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/>
              <a:t>        </a:t>
            </a:r>
            <a:r>
              <a:rPr lang="en-US" altLang="zh-TW" dirty="0" err="1"/>
              <a:t>self.start</a:t>
            </a:r>
            <a:r>
              <a:rPr lang="en-US" altLang="zh-TW" dirty="0"/>
              <a:t> += 1; return self.start-1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buClr>
                <a:schemeClr val="bg1"/>
              </a:buClr>
            </a:pPr>
            <a:r>
              <a:rPr lang="en-US" altLang="zh-TW" dirty="0">
                <a:solidFill>
                  <a:srgbClr val="339933"/>
                </a:solidFill>
              </a:rPr>
              <a:t>iterator =</a:t>
            </a:r>
            <a:r>
              <a:rPr lang="en-US" altLang="zh-TW" dirty="0"/>
              <a:t> Squares(a, b) 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an iterator?</a:t>
            </a:r>
          </a:p>
        </p:txBody>
      </p:sp>
    </p:spTree>
    <p:extLst>
      <p:ext uri="{BB962C8B-B14F-4D97-AF65-F5344CB8AC3E}">
        <p14:creationId xmlns:p14="http://schemas.microsoft.com/office/powerpoint/2010/main" val="395256199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862" y="609600"/>
            <a:ext cx="9144000" cy="62484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TW" sz="3600" dirty="0"/>
              <a:t>If you can loop over it, it’s an </a:t>
            </a:r>
            <a:r>
              <a:rPr lang="en-US" altLang="zh-TW" sz="3600" dirty="0" err="1"/>
              <a:t>iterable</a:t>
            </a:r>
            <a:r>
              <a:rPr lang="en-US" altLang="zh-TW" sz="3600" dirty="0"/>
              <a:t>. So:</a:t>
            </a:r>
            <a:endParaRPr lang="en-US" altLang="zh-TW" sz="3200" dirty="0"/>
          </a:p>
          <a:p>
            <a:pPr marL="1371600" lvl="3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TW" sz="1800" dirty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Standard data types besides numbers</a:t>
            </a:r>
            <a:r>
              <a:rPr lang="en-US" altLang="zh-TW" sz="3200" dirty="0"/>
              <a:t>: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"Hi"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[('H', '</a:t>
            </a:r>
            <a:r>
              <a:rPr lang="en-US" altLang="zh-TW" sz="2800" dirty="0" err="1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']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(1,2,3)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[1,2,3]</a:t>
            </a:r>
          </a:p>
          <a:p>
            <a:pPr lvl="1">
              <a:lnSpc>
                <a:spcPct val="90000"/>
              </a:lnSpc>
              <a:spcBef>
                <a:spcPts val="18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Generator expressions or functions</a:t>
            </a:r>
            <a:r>
              <a:rPr lang="en-US" altLang="zh-TW" sz="3200" dirty="0"/>
              <a:t>: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genEx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= (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for </a:t>
            </a:r>
            <a:r>
              <a:rPr lang="en-US" altLang="zh-TW" sz="2800" dirty="0" err="1">
                <a:solidFill>
                  <a:schemeClr val="tx1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solidFill>
                  <a:schemeClr val="tx1"/>
                </a:solidFill>
                <a:latin typeface="Lucida Console" panose="020B0609040504020204" pitchFamily="49" charset="0"/>
              </a:rPr>
              <a:t> in (1,2,3))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genEx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65000"/>
                  </a:schemeClr>
                </a:solidFill>
                <a:latin typeface="Lucida Console" panose="020B0609040504020204" pitchFamily="49" charset="0"/>
              </a:rPr>
              <a:t>[0,1,2]</a:t>
            </a:r>
          </a:p>
          <a:p>
            <a:pPr lvl="1">
              <a:lnSpc>
                <a:spcPct val="90000"/>
              </a:lnSpc>
              <a:spcBef>
                <a:spcPts val="1800"/>
              </a:spcBef>
            </a:pPr>
            <a:r>
              <a:rPr lang="en-US" altLang="zh-TW" sz="3200" dirty="0">
                <a:solidFill>
                  <a:srgbClr val="2D2DB9"/>
                </a:solidFill>
              </a:rPr>
              <a:t>Plain iterators</a:t>
            </a:r>
            <a:r>
              <a:rPr lang="en-US" altLang="zh-TW" sz="3200" dirty="0"/>
              <a:t>: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sz="2800" dirty="0">
                <a:latin typeface="Lucida Console" panose="020B0609040504020204" pitchFamily="49" charset="0"/>
              </a:rPr>
              <a:t> [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>
                <a:solidFill>
                  <a:srgbClr val="66CCFF"/>
                </a:solidFill>
                <a:latin typeface="Lucida Console" panose="020B0609040504020204" pitchFamily="49" charset="0"/>
              </a:rPr>
              <a:t>for</a:t>
            </a:r>
            <a:r>
              <a:rPr lang="en-US" altLang="zh-TW" sz="2800" dirty="0">
                <a:latin typeface="Lucida Console" panose="020B0609040504020204" pitchFamily="49" charset="0"/>
              </a:rPr>
              <a:t> </a:t>
            </a:r>
            <a:r>
              <a:rPr lang="en-US" altLang="zh-TW" sz="2800" dirty="0" err="1">
                <a:latin typeface="Lucida Console" panose="020B0609040504020204" pitchFamily="49" charset="0"/>
              </a:rPr>
              <a:t>i</a:t>
            </a:r>
            <a:r>
              <a:rPr lang="en-US" altLang="zh-TW" sz="2800" dirty="0">
                <a:latin typeface="Lucida Console" panose="020B0609040504020204" pitchFamily="49" charset="0"/>
              </a:rPr>
              <a:t> in </a:t>
            </a:r>
            <a:r>
              <a:rPr lang="en-US" altLang="zh-TW" sz="2800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zh-TW" sz="2800" dirty="0">
                <a:solidFill>
                  <a:srgbClr val="339933"/>
                </a:solidFill>
                <a:latin typeface="Lucida Console" panose="020B0609040504020204" pitchFamily="49" charset="0"/>
              </a:rPr>
              <a:t>(range(3))</a:t>
            </a:r>
            <a:r>
              <a:rPr lang="en-US" altLang="zh-TW" sz="2800" dirty="0">
                <a:latin typeface="Lucida Console" panose="020B0609040504020204" pitchFamily="49" charset="0"/>
              </a:rPr>
              <a:t>]</a:t>
            </a:r>
          </a:p>
          <a:p>
            <a:pPr marL="914400" lvl="2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TW" sz="2800" dirty="0">
                <a:latin typeface="Lucida Console" panose="020B0609040504020204" pitchFamily="49" charset="0"/>
              </a:rPr>
              <a:t>[0,1,2]</a:t>
            </a:r>
            <a:endParaRPr lang="en-US" altLang="zh-TW" sz="3200" dirty="0">
              <a:latin typeface="Lucida Console" panose="020B0609040504020204" pitchFamily="49" charset="0"/>
            </a:endParaRPr>
          </a:p>
          <a:p>
            <a:pPr lvl="1">
              <a:lnSpc>
                <a:spcPct val="90000"/>
              </a:lnSpc>
              <a:spcBef>
                <a:spcPts val="0"/>
              </a:spcBef>
            </a:pPr>
            <a:endParaRPr lang="en-US" altLang="zh-TW" sz="3000" dirty="0"/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altLang="zh-TW" sz="2800" dirty="0"/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296862" y="0"/>
            <a:ext cx="91440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 eaLnBrk="1">
              <a:tabLst>
                <a:tab pos="0" algn="l"/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  <a:tab pos="8293100" algn="l"/>
              </a:tabLst>
            </a:pPr>
            <a:r>
              <a:rPr lang="en-GB" altLang="en-US" sz="4400" kern="0" dirty="0">
                <a:latin typeface="Elephant" panose="02020904090505020303" pitchFamily="18" charset="0"/>
              </a:rPr>
              <a:t>What is an </a:t>
            </a:r>
            <a:r>
              <a:rPr lang="en-GB" altLang="en-US" sz="4400" kern="0" dirty="0" err="1">
                <a:latin typeface="Elephant" panose="02020904090505020303" pitchFamily="18" charset="0"/>
              </a:rPr>
              <a:t>iterable</a:t>
            </a:r>
            <a:r>
              <a:rPr lang="en-GB" altLang="en-US" sz="4400" kern="0" dirty="0">
                <a:latin typeface="Elephant" panose="020209040905050203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121735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262" y="0"/>
            <a:ext cx="8077200" cy="685800"/>
          </a:xfrm>
        </p:spPr>
        <p:txBody>
          <a:bodyPr/>
          <a:lstStyle/>
          <a:p>
            <a:r>
              <a:rPr lang="en-US" sz="4400" dirty="0">
                <a:latin typeface="Elephant" panose="02020904090505020303" pitchFamily="18" charset="0"/>
              </a:rPr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462" y="685800"/>
            <a:ext cx="9067800" cy="6172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 container</a:t>
            </a:r>
            <a:r>
              <a:rPr lang="en-US" dirty="0">
                <a:solidFill>
                  <a:srgbClr val="FF0000"/>
                </a:solidFill>
              </a:rPr>
              <a:t>: any object for which the </a:t>
            </a:r>
            <a:r>
              <a:rPr lang="en-US" dirty="0">
                <a:solidFill>
                  <a:schemeClr val="tx1"/>
                </a:solidFill>
                <a:latin typeface="Lucida Console" panose="020B0609040504020204" pitchFamily="49" charset="0"/>
              </a:rPr>
              <a:t>in</a:t>
            </a:r>
            <a:r>
              <a:rPr lang="en-US" dirty="0">
                <a:solidFill>
                  <a:srgbClr val="FF0000"/>
                </a:solidFill>
              </a:rPr>
              <a:t> operator is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define</a:t>
            </a:r>
            <a:r>
              <a:rPr lang="en-US" spc="-200" dirty="0">
                <a:solidFill>
                  <a:srgbClr val="FF0000"/>
                </a:solidFill>
              </a:rPr>
              <a:t>d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Its contents all exist somewhere in the computer memory.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DAA100"/>
                </a:solidFill>
              </a:rPr>
              <a:t>A comprehension</a:t>
            </a:r>
            <a:r>
              <a:rPr lang="en-US" dirty="0">
                <a:solidFill>
                  <a:srgbClr val="DAA100"/>
                </a:solidFill>
              </a:rPr>
              <a:t>: any container created at the time of its definition by use looping or filtering instructions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6600"/>
                </a:solidFill>
              </a:rPr>
              <a:t>An </a:t>
            </a:r>
            <a:r>
              <a:rPr lang="en-US" b="1" dirty="0" err="1">
                <a:solidFill>
                  <a:srgbClr val="006600"/>
                </a:solidFill>
              </a:rPr>
              <a:t>iterable</a:t>
            </a:r>
            <a:r>
              <a:rPr lang="en-US" dirty="0">
                <a:solidFill>
                  <a:srgbClr val="006600"/>
                </a:solidFill>
              </a:rPr>
              <a:t>: any object that is able to be iterated over. This includes containers for lists, sets, or other data structures.</a:t>
            </a:r>
            <a:br>
              <a:rPr lang="en-US" dirty="0">
                <a:solidFill>
                  <a:srgbClr val="006600"/>
                </a:solidFill>
              </a:rPr>
            </a:br>
            <a:r>
              <a:rPr lang="en-US" dirty="0">
                <a:solidFill>
                  <a:srgbClr val="006600"/>
                </a:solidFill>
              </a:rPr>
              <a:t>But it also includes other objects like files or sockets.</a:t>
            </a:r>
          </a:p>
          <a:p>
            <a:pPr marL="0" indent="0">
              <a:buNone/>
            </a:pPr>
            <a:r>
              <a:rPr lang="en-US" b="1" spc="-40" dirty="0">
                <a:solidFill>
                  <a:srgbClr val="00667A"/>
                </a:solidFill>
              </a:rPr>
              <a:t>An iterator</a:t>
            </a:r>
            <a:r>
              <a:rPr lang="en-US" spc="-40" dirty="0">
                <a:solidFill>
                  <a:srgbClr val="00667A"/>
                </a:solidFill>
              </a:rPr>
              <a:t>: any object on which the </a:t>
            </a:r>
            <a:r>
              <a:rPr lang="en-US" spc="-40" dirty="0">
                <a:solidFill>
                  <a:schemeClr val="tx1"/>
                </a:solidFill>
              </a:rPr>
              <a:t>next()</a:t>
            </a:r>
            <a:r>
              <a:rPr lang="en-US" spc="-40" dirty="0">
                <a:solidFill>
                  <a:srgbClr val="00667A"/>
                </a:solidFill>
              </a:rPr>
              <a:t> function is defined.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A generator function</a:t>
            </a:r>
            <a:r>
              <a:rPr lang="en-US" dirty="0">
                <a:solidFill>
                  <a:schemeClr val="accent2"/>
                </a:solidFill>
              </a:rPr>
              <a:t>: any function using a yield statement.</a:t>
            </a:r>
          </a:p>
          <a:p>
            <a:pPr marL="0" indent="0">
              <a:buNone/>
            </a:pPr>
            <a:r>
              <a:rPr lang="en-US" b="1" spc="-10" dirty="0">
                <a:solidFill>
                  <a:srgbClr val="7030A0"/>
                </a:solidFill>
              </a:rPr>
              <a:t>A generator expression</a:t>
            </a:r>
            <a:r>
              <a:rPr lang="en-US" spc="-10" dirty="0">
                <a:solidFill>
                  <a:srgbClr val="7030A0"/>
                </a:solidFill>
              </a:rPr>
              <a:t>: A lazy counterpart to list (only list) </a:t>
            </a:r>
            <a:r>
              <a:rPr lang="en-US" spc="-20" dirty="0">
                <a:solidFill>
                  <a:srgbClr val="7030A0"/>
                </a:solidFill>
              </a:rPr>
              <a:t>comprehension, defined by replacing the enclosing “[…]” with</a:t>
            </a:r>
            <a:r>
              <a:rPr lang="en-US" spc="-10" dirty="0">
                <a:solidFill>
                  <a:srgbClr val="7030A0"/>
                </a:solidFill>
              </a:rPr>
              <a:t> </a:t>
            </a:r>
            <a:r>
              <a:rPr lang="en-US" spc="-50" dirty="0">
                <a:solidFill>
                  <a:srgbClr val="7030A0"/>
                </a:solidFill>
              </a:rPr>
              <a:t>“</a:t>
            </a:r>
            <a:r>
              <a:rPr lang="en-US" spc="-150" dirty="0">
                <a:solidFill>
                  <a:srgbClr val="7030A0"/>
                </a:solidFill>
              </a:rPr>
              <a:t>(</a:t>
            </a:r>
            <a:r>
              <a:rPr lang="en-US" spc="-50" dirty="0">
                <a:solidFill>
                  <a:srgbClr val="7030A0"/>
                </a:solidFill>
              </a:rPr>
              <a:t>..</a:t>
            </a:r>
            <a:r>
              <a:rPr lang="en-US" spc="-150" dirty="0">
                <a:solidFill>
                  <a:srgbClr val="7030A0"/>
                </a:solidFill>
              </a:rPr>
              <a:t>.</a:t>
            </a:r>
            <a:r>
              <a:rPr lang="en-US" spc="-50" dirty="0">
                <a:solidFill>
                  <a:srgbClr val="7030A0"/>
                </a:solidFill>
              </a:rPr>
              <a:t>)</a:t>
            </a:r>
            <a:r>
              <a:rPr lang="en-US" spc="-150" dirty="0">
                <a:solidFill>
                  <a:srgbClr val="7030A0"/>
                </a:solidFill>
              </a:rPr>
              <a:t>”</a:t>
            </a:r>
            <a:r>
              <a:rPr lang="en-US" spc="-50" dirty="0">
                <a:solidFill>
                  <a:srgbClr val="7030A0"/>
                </a:solidFill>
              </a:rPr>
              <a:t>. </a:t>
            </a:r>
            <a:r>
              <a:rPr lang="en-US" spc="-150" dirty="0">
                <a:solidFill>
                  <a:srgbClr val="7030A0"/>
                </a:solidFill>
              </a:rPr>
              <a:t>V</a:t>
            </a:r>
            <a:r>
              <a:rPr lang="en-US" spc="-50" dirty="0">
                <a:solidFill>
                  <a:srgbClr val="7030A0"/>
                </a:solidFill>
              </a:rPr>
              <a:t>alues generate on-the-fly instead of residing in memor</a:t>
            </a:r>
            <a:r>
              <a:rPr lang="en-US" spc="-350" dirty="0">
                <a:solidFill>
                  <a:srgbClr val="7030A0"/>
                </a:solidFill>
              </a:rPr>
              <a:t>y</a:t>
            </a:r>
            <a:r>
              <a:rPr lang="en-US" spc="-50" dirty="0">
                <a:solidFill>
                  <a:srgbClr val="7030A0"/>
                </a:solidFill>
              </a:rPr>
              <a:t>.</a:t>
            </a:r>
          </a:p>
          <a:p>
            <a:pPr marL="0" indent="0">
              <a:buNone/>
            </a:pPr>
            <a:r>
              <a:rPr lang="en-US" b="1" spc="-20" dirty="0"/>
              <a:t>A generator</a:t>
            </a:r>
            <a:r>
              <a:rPr lang="en-US" spc="-20" dirty="0"/>
              <a:t>: any iterator that is a either a generator function</a:t>
            </a:r>
            <a:r>
              <a:rPr lang="en-US" dirty="0"/>
              <a:t> or a generator expression.</a:t>
            </a:r>
          </a:p>
        </p:txBody>
      </p:sp>
      <p:sp>
        <p:nvSpPr>
          <p:cNvPr id="8" name="Rectangle 7"/>
          <p:cNvSpPr/>
          <p:nvPr/>
        </p:nvSpPr>
        <p:spPr bwMode="auto">
          <a:xfrm>
            <a:off x="0" y="0"/>
            <a:ext cx="9737725" cy="59817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imes New Roman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12234" y="0"/>
            <a:ext cx="9121698" cy="5932449"/>
            <a:chOff x="312234" y="0"/>
            <a:chExt cx="9121698" cy="5932449"/>
          </a:xfrm>
        </p:grpSpPr>
        <p:sp>
          <p:nvSpPr>
            <p:cNvPr id="5" name="Rectangle 4"/>
            <p:cNvSpPr/>
            <p:nvPr/>
          </p:nvSpPr>
          <p:spPr bwMode="auto">
            <a:xfrm>
              <a:off x="312234" y="724829"/>
              <a:ext cx="9121698" cy="5207620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R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A car factory, for example, doesn't store any cars. 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Whenever</a:t>
              </a:r>
              <a:r>
                <a:rPr kumimoji="0" lang="en-US" sz="3200" b="0" i="0" u="none" strike="noStrike" cap="none" normalizeH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a car gets generated, it passes out of the factory. </a:t>
              </a:r>
            </a:p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kumimoji="0" lang="en-US" sz="3200" b="0" i="0" u="none" strike="noStrike" cap="none" normalizeH="0" dirty="0">
                  <a:ln>
                    <a:noFill/>
                  </a:ln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The only limit to how many cars a factory can generate is how often you run the factory.</a:t>
              </a:r>
              <a:endParaRPr kumimoji="0" lang="en-US" sz="3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480"/>
            <a:stretch/>
          </p:blipFill>
          <p:spPr>
            <a:xfrm>
              <a:off x="1839951" y="3310929"/>
              <a:ext cx="5634076" cy="2487706"/>
            </a:xfrm>
            <a:prstGeom prst="rect">
              <a:avLst/>
            </a:prstGeom>
          </p:spPr>
        </p:pic>
        <p:sp>
          <p:nvSpPr>
            <p:cNvPr id="7" name="Title 1"/>
            <p:cNvSpPr txBox="1">
              <a:spLocks/>
            </p:cNvSpPr>
            <p:nvPr/>
          </p:nvSpPr>
          <p:spPr bwMode="auto">
            <a:xfrm>
              <a:off x="2509024" y="0"/>
              <a:ext cx="4739270" cy="68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+mj-lt"/>
                  <a:ea typeface="MS PGothic" pitchFamily="34" charset="-128"/>
                  <a:cs typeface="ＭＳ Ｐゴシック" pitchFamily="-65" charset="-128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D2DB9"/>
                  </a:solidFill>
                  <a:latin typeface="Arial" charset="0"/>
                  <a:ea typeface="MS PGothic" pitchFamily="34" charset="-128"/>
                  <a:cs typeface="ＭＳ Ｐゴシック" pitchFamily="-65" charset="-128"/>
                </a:defRPr>
              </a:lvl5pPr>
              <a:lvl6pPr marL="4572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6pPr>
              <a:lvl7pPr marL="9144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7pPr>
              <a:lvl8pPr marL="13716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8pPr>
              <a:lvl9pPr marL="1828800" algn="ctr" rtl="0" eaLnBrk="1" fontAlgn="base" hangingPunct="1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222222"/>
                  </a:solidFill>
                  <a:latin typeface="Arial" charset="0"/>
                </a:defRPr>
              </a:lvl9pPr>
            </a:lstStyle>
            <a:p>
              <a:pPr defTabSz="914400"/>
              <a:r>
                <a:rPr lang="en-US" sz="4400" kern="0" dirty="0">
                  <a:latin typeface="Elephant" panose="02020904090505020303" pitchFamily="18" charset="0"/>
                </a:rPr>
                <a:t>A value factory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925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62" y="533400"/>
            <a:ext cx="8839200" cy="6400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The difference, in terms of how you define them, is </a:t>
            </a:r>
            <a:r>
              <a:rPr lang="en-US" altLang="zh-TW" sz="2800" spc="-30" dirty="0">
                <a:solidFill>
                  <a:srgbClr val="FF0000"/>
                </a:solidFill>
              </a:rPr>
              <a:t>whether you use square brackets [] or parentheses ():</a:t>
            </a:r>
            <a:endParaRPr lang="en-US" altLang="zh-TW" sz="2800" dirty="0">
              <a:solidFill>
                <a:srgbClr val="FF0000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B0F0"/>
                </a:solidFill>
                <a:latin typeface="Lucida Console" panose="020B0609040504020204" pitchFamily="49" charset="0"/>
              </a:rPr>
              <a:t>  &gt;&gt;&gt; c=[n*2 for n in range(99)] </a:t>
            </a:r>
            <a:r>
              <a:rPr lang="en-US" altLang="zh-TW" sz="2400" dirty="0">
                <a:solidFill>
                  <a:srgbClr val="00B0F0"/>
                </a:solidFill>
              </a:rPr>
              <a:t># List </a:t>
            </a:r>
            <a:r>
              <a:rPr lang="en-US" altLang="zh-TW" sz="2400" dirty="0" err="1">
                <a:solidFill>
                  <a:srgbClr val="00B0F0"/>
                </a:solidFill>
              </a:rPr>
              <a:t>compr</a:t>
            </a:r>
            <a:r>
              <a:rPr lang="en-US" altLang="zh-TW" sz="2400" dirty="0">
                <a:solidFill>
                  <a:srgbClr val="00B0F0"/>
                </a:solidFill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006600"/>
                </a:solidFill>
                <a:latin typeface="Lucida Console" panose="020B0609040504020204" pitchFamily="49" charset="0"/>
              </a:rPr>
              <a:t>  &gt;&gt;&gt; g=(n*2 for n in range(99)) </a:t>
            </a:r>
            <a:r>
              <a:rPr lang="en-US" altLang="zh-TW" sz="2400" dirty="0">
                <a:solidFill>
                  <a:srgbClr val="006600"/>
                </a:solidFill>
              </a:rPr>
              <a:t># Generator expr.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altLang="zh-TW" dirty="0">
                <a:solidFill>
                  <a:schemeClr val="tx1"/>
                </a:solidFill>
              </a:rPr>
              <a:t>(Python uses the “(…)” symbols because they’re available: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pc="-20" dirty="0">
                <a:solidFill>
                  <a:schemeClr val="tx1"/>
                </a:solidFill>
              </a:rPr>
              <a:t>tuple comprehensions don’t exist (</a:t>
            </a:r>
            <a:r>
              <a:rPr lang="en-US" altLang="zh-TW" spc="-20" dirty="0" err="1">
                <a:solidFill>
                  <a:schemeClr val="tx1"/>
                </a:solidFill>
              </a:rPr>
              <a:t>ie</a:t>
            </a:r>
            <a:r>
              <a:rPr lang="en-US" altLang="zh-TW" spc="-20" dirty="0">
                <a:solidFill>
                  <a:schemeClr val="tx1"/>
                </a:solidFill>
              </a:rPr>
              <a:t>, tuples are immutabl</a:t>
            </a:r>
            <a:r>
              <a:rPr lang="en-US" altLang="zh-TW" spc="-100" dirty="0">
                <a:solidFill>
                  <a:schemeClr val="tx1"/>
                </a:solidFill>
              </a:rPr>
              <a:t>e).</a:t>
            </a:r>
            <a:r>
              <a:rPr lang="en-US" altLang="zh-TW" dirty="0">
                <a:solidFill>
                  <a:schemeClr val="tx1"/>
                </a:solidFill>
              </a:rPr>
              <a:t> Nor are there number comprehensions. So a “(… for …)” is unambiguously not a tuple or numeric expression.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D2DB9"/>
                </a:solidFill>
              </a:rPr>
              <a:t>Generators vs Comprehensions </a:t>
            </a:r>
          </a:p>
        </p:txBody>
      </p:sp>
    </p:spTree>
    <p:extLst>
      <p:ext uri="{BB962C8B-B14F-4D97-AF65-F5344CB8AC3E}">
        <p14:creationId xmlns:p14="http://schemas.microsoft.com/office/powerpoint/2010/main" val="116626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D2DB9"/>
                </a:solidFill>
              </a:rPr>
              <a:t>Generators vs Comprehensions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62" y="533400"/>
            <a:ext cx="8839200" cy="6400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ts val="0"/>
              </a:spcBef>
            </a:pPr>
            <a:r>
              <a:rPr lang="en-US" altLang="zh-TW" sz="2800" dirty="0">
                <a:solidFill>
                  <a:schemeClr val="tx1"/>
                </a:solidFill>
              </a:rPr>
              <a:t>The difference, in terms of how you define them, is </a:t>
            </a:r>
            <a:r>
              <a:rPr lang="en-US" altLang="zh-TW" sz="2800" spc="-30" dirty="0">
                <a:solidFill>
                  <a:schemeClr val="tx1"/>
                </a:solidFill>
              </a:rPr>
              <a:t>whether you use square brackets [] or parentheses ():</a:t>
            </a:r>
            <a:endParaRPr lang="en-US" altLang="zh-TW" sz="2800" dirty="0">
              <a:solidFill>
                <a:schemeClr val="tx1"/>
              </a:solidFill>
            </a:endParaRP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&gt;&gt;&gt; c=[n*2 for n in range(99)] </a:t>
            </a:r>
            <a:r>
              <a:rPr lang="en-US" altLang="zh-TW" sz="2400" dirty="0">
                <a:solidFill>
                  <a:schemeClr val="tx1"/>
                </a:solidFill>
              </a:rPr>
              <a:t># List </a:t>
            </a:r>
            <a:r>
              <a:rPr lang="en-US" altLang="zh-TW" sz="2400" dirty="0" err="1">
                <a:solidFill>
                  <a:schemeClr val="tx1"/>
                </a:solidFill>
              </a:rPr>
              <a:t>compr</a:t>
            </a:r>
            <a:r>
              <a:rPr lang="en-US" altLang="zh-TW" sz="2400" dirty="0">
                <a:solidFill>
                  <a:schemeClr val="tx1"/>
                </a:solidFill>
              </a:rPr>
              <a:t>.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chemeClr val="tx1"/>
                </a:solidFill>
                <a:latin typeface="Lucida Console" panose="020B0609040504020204" pitchFamily="49" charset="0"/>
              </a:rPr>
              <a:t>  &gt;&gt;&gt; g=(n*2 for n in range(99)) </a:t>
            </a:r>
            <a:r>
              <a:rPr lang="en-US" altLang="zh-TW" sz="2400" dirty="0">
                <a:solidFill>
                  <a:schemeClr val="tx1"/>
                </a:solidFill>
              </a:rPr>
              <a:t># Generator expr.</a:t>
            </a:r>
          </a:p>
          <a:p>
            <a:pPr lvl="1">
              <a:lnSpc>
                <a:spcPct val="85000"/>
              </a:lnSpc>
              <a:spcBef>
                <a:spcPts val="0"/>
              </a:spcBef>
            </a:pPr>
            <a:r>
              <a:rPr lang="en-US" altLang="zh-TW" dirty="0">
                <a:solidFill>
                  <a:schemeClr val="tx1"/>
                </a:solidFill>
              </a:rPr>
              <a:t>(Python uses the “(…)” symbols because they’re available:</a:t>
            </a:r>
            <a:br>
              <a:rPr lang="en-US" altLang="zh-TW" dirty="0">
                <a:solidFill>
                  <a:schemeClr val="tx1"/>
                </a:solidFill>
              </a:rPr>
            </a:br>
            <a:r>
              <a:rPr lang="en-US" altLang="zh-TW" spc="-20" dirty="0">
                <a:solidFill>
                  <a:schemeClr val="tx1"/>
                </a:solidFill>
              </a:rPr>
              <a:t>tuple comprehensions don’t exist (</a:t>
            </a:r>
            <a:r>
              <a:rPr lang="en-US" altLang="zh-TW" spc="-20" dirty="0" err="1">
                <a:solidFill>
                  <a:schemeClr val="tx1"/>
                </a:solidFill>
              </a:rPr>
              <a:t>ie</a:t>
            </a:r>
            <a:r>
              <a:rPr lang="en-US" altLang="zh-TW" spc="-20" dirty="0">
                <a:solidFill>
                  <a:schemeClr val="tx1"/>
                </a:solidFill>
              </a:rPr>
              <a:t>, tuples are immutabl</a:t>
            </a:r>
            <a:r>
              <a:rPr lang="en-US" altLang="zh-TW" spc="-100" dirty="0">
                <a:solidFill>
                  <a:schemeClr val="tx1"/>
                </a:solidFill>
              </a:rPr>
              <a:t>e).</a:t>
            </a:r>
            <a:r>
              <a:rPr lang="en-US" altLang="zh-TW" dirty="0">
                <a:solidFill>
                  <a:schemeClr val="tx1"/>
                </a:solidFill>
              </a:rPr>
              <a:t> Nor are there number comprehensions. So a “(… for …)” is unambiguously not a tuple or numeric expression. 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The above objects, c and g, are different types: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altLang="zh-TW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print(type(c), type(g))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&lt;class 'list'&gt; &lt;class 'generator'&gt;</a:t>
            </a: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With different sizes: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&gt;&gt;&gt; print(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sys.getsizeof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(c),</a:t>
            </a:r>
            <a:r>
              <a:rPr lang="en-US" sz="240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sys.getsizeof</a:t>
            </a: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(g))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Lucida Console" panose="020B0609040504020204" pitchFamily="49" charset="0"/>
              </a:rPr>
              <a:t>  912 88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>
              <a:lnSpc>
                <a:spcPct val="85000"/>
              </a:lnSpc>
              <a:spcBef>
                <a:spcPts val="600"/>
              </a:spcBef>
            </a:pPr>
            <a:r>
              <a:rPr lang="en-US" altLang="zh-TW" sz="2800" dirty="0">
                <a:solidFill>
                  <a:srgbClr val="FF0000"/>
                </a:solidFill>
              </a:rPr>
              <a:t>You cannot access the elements of a generator: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002060"/>
                </a:solidFill>
                <a:latin typeface="Lucida Console" panose="020B0609040504020204" pitchFamily="49" charset="0"/>
              </a:rPr>
              <a:t>  &gt;&gt;&gt; print(c[2],g[2])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  </a:t>
            </a:r>
            <a:r>
              <a:rPr lang="en-US" sz="2000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Traceback</a:t>
            </a: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 (most recent call last):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    File "&lt;</a:t>
            </a:r>
            <a:r>
              <a:rPr lang="en-US" sz="2000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stdin</a:t>
            </a:r>
            <a:r>
              <a:rPr lang="en-US" sz="2000" dirty="0">
                <a:solidFill>
                  <a:srgbClr val="FF99CC"/>
                </a:solidFill>
                <a:latin typeface="Lucida Console" panose="020B0609040504020204" pitchFamily="49" charset="0"/>
              </a:rPr>
              <a:t>&gt;", line 1, in &lt;module&gt;</a:t>
            </a:r>
          </a:p>
          <a:p>
            <a:pPr mar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en-US" sz="2400" dirty="0">
                <a:solidFill>
                  <a:srgbClr val="FF99CC"/>
                </a:solidFill>
                <a:latin typeface="Lucida Console" panose="020B0609040504020204" pitchFamily="49" charset="0"/>
              </a:rPr>
              <a:t>  </a:t>
            </a:r>
            <a:r>
              <a:rPr lang="en-US" sz="2400" spc="-120" dirty="0" err="1">
                <a:solidFill>
                  <a:srgbClr val="FF99CC"/>
                </a:solidFill>
                <a:latin typeface="Lucida Console" panose="020B0609040504020204" pitchFamily="49" charset="0"/>
              </a:rPr>
              <a:t>TypeError</a:t>
            </a:r>
            <a:r>
              <a:rPr lang="en-US" sz="2400" spc="-120" dirty="0">
                <a:solidFill>
                  <a:srgbClr val="FF99CC"/>
                </a:solidFill>
                <a:latin typeface="Lucida Console" panose="020B0609040504020204" pitchFamily="49" charset="0"/>
              </a:rPr>
              <a:t>:</a:t>
            </a:r>
            <a:r>
              <a:rPr lang="en-US" sz="2400" spc="-120" dirty="0">
                <a:solidFill>
                  <a:srgbClr val="FF0000"/>
                </a:solidFill>
                <a:latin typeface="Lucida Console" panose="020B0609040504020204" pitchFamily="49" charset="0"/>
              </a:rPr>
              <a:t>'generator' object is not </a:t>
            </a:r>
            <a:r>
              <a:rPr lang="en-US" sz="2400" spc="-120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subscriptable</a:t>
            </a:r>
            <a:endParaRPr lang="en-US" altLang="zh-TW" sz="2800" spc="-12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75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b="1" dirty="0">
                <a:solidFill>
                  <a:srgbClr val="2D2DB9"/>
                </a:solidFill>
              </a:rPr>
              <a:t>Generators vs Comprehensions 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562" y="685800"/>
            <a:ext cx="91440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from 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itertools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import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count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 for x in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count()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dirty="0">
                <a:solidFill>
                  <a:srgbClr val="000000"/>
                </a:solidFill>
              </a:rPr>
              <a:t>#A </a:t>
            </a:r>
            <a:r>
              <a:rPr lang="en-US" altLang="zh-TW" sz="2600" dirty="0">
                <a:solidFill>
                  <a:srgbClr val="663300"/>
                </a:solidFill>
              </a:rPr>
              <a:t>generator</a:t>
            </a:r>
            <a:r>
              <a:rPr lang="en-US" altLang="zh-TW" sz="2600" dirty="0">
                <a:solidFill>
                  <a:srgbClr val="000000"/>
                </a:solidFill>
              </a:rPr>
              <a:t> counting from 0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next(G,-1),next(G,-1),next(G,-1),next(G,-1)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&lt;generator object &lt;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genexpr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&gt; at 0x6ffffd95888&gt;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(0, 1, 2, 3)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in</a:t>
            </a:r>
            <a:r>
              <a:rPr lang="en-US" altLang="zh-TW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rang</a:t>
            </a:r>
            <a:r>
              <a:rPr lang="en-US" altLang="zh-TW" sz="2600" b="1" spc="-100" dirty="0">
                <a:solidFill>
                  <a:srgbClr val="7030A0"/>
                </a:solidFill>
                <a:latin typeface="Consolas" panose="020B0609020204030204" pitchFamily="49" charset="0"/>
              </a:rPr>
              <a:t>e(</a:t>
            </a:r>
            <a:r>
              <a:rPr lang="en-US" altLang="zh-TW" sz="2600" b="1" spc="-200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600" b="1" spc="-400" dirty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b="1" dirty="0">
                <a:solidFill>
                  <a:srgbClr val="66330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#A</a:t>
            </a:r>
            <a:r>
              <a:rPr lang="en-US" altLang="zh-TW" sz="20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663300"/>
                </a:solidFill>
                <a:cs typeface="Arial" panose="020B0604020202020204" pitchFamily="34" charset="0"/>
              </a:rPr>
              <a:t>generator</a:t>
            </a:r>
            <a:r>
              <a:rPr lang="en-US" altLang="zh-TW" sz="2400" dirty="0">
                <a:solidFill>
                  <a:srgbClr val="6633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counting</a:t>
            </a:r>
            <a:r>
              <a:rPr lang="en-US" altLang="zh-TW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up</a:t>
            </a:r>
            <a:r>
              <a:rPr lang="en-US" altLang="zh-TW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to</a:t>
            </a:r>
            <a:r>
              <a:rPr lang="en-US" altLang="zh-TW" sz="240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lang="en-US" altLang="zh-TW" sz="2600" dirty="0">
                <a:solidFill>
                  <a:srgbClr val="000000"/>
                </a:solidFill>
                <a:cs typeface="Arial" panose="020B0604020202020204" pitchFamily="34" charset="0"/>
              </a:rPr>
              <a:t>2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g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next(g,-1),next(g,-1),next(g,-1),next(g,-1)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&lt;generator object &lt;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genexpr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&gt; at 0x6ffffd95938&gt;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(0, 1, 2, 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c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 for x in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rang</a:t>
            </a:r>
            <a:r>
              <a:rPr lang="en-US" altLang="zh-TW" sz="2600" b="1" spc="-100" dirty="0">
                <a:solidFill>
                  <a:srgbClr val="7030A0"/>
                </a:solidFill>
                <a:latin typeface="Consolas" panose="020B0609020204030204" pitchFamily="49" charset="0"/>
              </a:rPr>
              <a:t>e(</a:t>
            </a:r>
            <a:r>
              <a:rPr lang="en-US" altLang="zh-TW" sz="2600" b="1" spc="-200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600" b="1" spc="-400" dirty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rgbClr val="000000"/>
                </a:solidFill>
              </a:rPr>
              <a:t>#A </a:t>
            </a:r>
            <a:r>
              <a:rPr lang="en-US" altLang="zh-TW" sz="2600" dirty="0">
                <a:solidFill>
                  <a:srgbClr val="00B0F0"/>
                </a:solidFill>
              </a:rPr>
              <a:t>comprehension</a:t>
            </a:r>
            <a:r>
              <a:rPr lang="en-US" altLang="zh-TW" sz="2600" dirty="0">
                <a:solidFill>
                  <a:srgbClr val="000000"/>
                </a:solidFill>
              </a:rPr>
              <a:t> of [0,1,2]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c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TW" sz="2600" dirty="0">
                <a:solidFill>
                  <a:srgbClr val="F15151"/>
                </a:solidFill>
                <a:latin typeface="Consolas" panose="020B0609020204030204" pitchFamily="49" charset="0"/>
              </a:rPr>
              <a:t>next(c,-1),next(c,-1),next(c,-1),next(c,-1)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b="1" dirty="0">
                <a:solidFill>
                  <a:srgbClr val="2D2DB9"/>
                </a:solidFill>
                <a:latin typeface="Consolas" panose="020B0609020204030204" pitchFamily="49" charset="0"/>
              </a:rPr>
              <a:t>[0, 1, 2]</a:t>
            </a:r>
          </a:p>
          <a:p>
            <a:pPr defTabSz="914400">
              <a:lnSpc>
                <a:spcPct val="75000"/>
              </a:lnSpc>
            </a:pPr>
            <a:r>
              <a:rPr lang="en-US" altLang="zh-TW" sz="1800" dirty="0" err="1">
                <a:solidFill>
                  <a:srgbClr val="EE2929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TW" sz="1800" dirty="0">
                <a:solidFill>
                  <a:srgbClr val="EE2929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1800" dirty="0">
                <a:solidFill>
                  <a:srgbClr val="EE2929"/>
                </a:solidFill>
                <a:latin typeface="Consolas" panose="020B0609020204030204" pitchFamily="49" charset="0"/>
              </a:rPr>
              <a:t>  File "&lt;</a:t>
            </a:r>
            <a:r>
              <a:rPr lang="en-US" altLang="zh-TW" sz="1800" dirty="0" err="1">
                <a:solidFill>
                  <a:srgbClr val="EE2929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1800" dirty="0">
                <a:solidFill>
                  <a:srgbClr val="EE2929"/>
                </a:solidFill>
                <a:latin typeface="Consolas" panose="020B0609020204030204" pitchFamily="49" charset="0"/>
              </a:rPr>
              <a:t>&gt;", line 1, in &lt;module&gt;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rgbClr val="EE2929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TW" sz="2600" dirty="0">
                <a:solidFill>
                  <a:srgbClr val="EE2929"/>
                </a:solidFill>
                <a:latin typeface="Consolas" panose="020B0609020204030204" pitchFamily="49" charset="0"/>
              </a:rPr>
              <a:t>: 'list' object is not an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(c)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i</a:t>
            </a:r>
            <a:r>
              <a:rPr lang="en-US" altLang="zh-TW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altLang="zh-TW" sz="2600" dirty="0" err="1">
                <a:solidFill>
                  <a:srgbClr val="00B050"/>
                </a:solidFill>
                <a:latin typeface="Consolas" panose="020B0609020204030204" pitchFamily="49" charset="0"/>
              </a:rPr>
              <a:t>next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(i,-1),next(i,-1),next(i,-1),next(i,-1)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&lt;</a:t>
            </a:r>
            <a:r>
              <a:rPr lang="en-US" altLang="zh-TW" sz="2600" dirty="0" err="1">
                <a:solidFill>
                  <a:srgbClr val="2D2DB9"/>
                </a:solidFill>
                <a:latin typeface="Consolas" panose="020B0609020204030204" pitchFamily="49" charset="0"/>
              </a:rPr>
              <a:t>list_iterator</a:t>
            </a:r>
            <a:r>
              <a:rPr lang="en-US" altLang="zh-TW" sz="2600" dirty="0">
                <a:solidFill>
                  <a:srgbClr val="2D2DB9"/>
                </a:solidFill>
                <a:latin typeface="Consolas" panose="020B0609020204030204" pitchFamily="49" charset="0"/>
              </a:rPr>
              <a:t> object at 0x6ffffd99eb8&gt;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(0, 1, 2, -1)</a:t>
            </a:r>
          </a:p>
          <a:p>
            <a:pPr defTabSz="914400">
              <a:lnSpc>
                <a:spcPct val="67000"/>
              </a:lnSpc>
            </a:pPr>
            <a:r>
              <a:rPr lang="en-US" altLang="zh-TW" sz="2600" dirty="0">
                <a:solidFill>
                  <a:srgbClr val="FFFFFF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</a:rPr>
              <a:t>DONT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[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x for x in </a:t>
            </a:r>
            <a:r>
              <a:rPr lang="en-US" altLang="zh-TW" sz="2600" b="1" dirty="0">
                <a:solidFill>
                  <a:srgbClr val="7030A0"/>
                </a:solidFill>
                <a:latin typeface="Consolas" panose="020B0609020204030204" pitchFamily="49" charset="0"/>
              </a:rPr>
              <a:t>count()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FF0000"/>
                </a:solidFill>
                <a:cs typeface="Arial" panose="020B0604020202020204" pitchFamily="34" charset="0"/>
              </a:rPr>
              <a:t>#Why does it kill my PC?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562" y="685800"/>
            <a:ext cx="80499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  <a:cs typeface="Arial" panose="020B0604020202020204" pitchFamily="34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18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FFFFFF">
                  <a:lumMod val="65000"/>
                </a:srgb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rgbClr val="FFFFFF">
                    <a:lumMod val="65000"/>
                  </a:srgb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FFFFFF">
                  <a:lumMod val="65000"/>
                </a:srgbClr>
              </a:solidFill>
              <a:cs typeface="Arial" panose="020B0604020202020204" pitchFamily="34" charset="0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2552700" y="1200150"/>
            <a:ext cx="5086350" cy="535305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pSp>
        <p:nvGrpSpPr>
          <p:cNvPr id="6" name="Group 5"/>
          <p:cNvGrpSpPr/>
          <p:nvPr/>
        </p:nvGrpSpPr>
        <p:grpSpPr>
          <a:xfrm>
            <a:off x="4648727" y="422910"/>
            <a:ext cx="3834079" cy="1340968"/>
            <a:chOff x="3086100" y="1314450"/>
            <a:chExt cx="3834079" cy="1340968"/>
          </a:xfrm>
        </p:grpSpPr>
        <p:sp>
          <p:nvSpPr>
            <p:cNvPr id="7" name="Snip Single Corner Rectangle 6"/>
            <p:cNvSpPr/>
            <p:nvPr/>
          </p:nvSpPr>
          <p:spPr bwMode="auto">
            <a:xfrm rot="10800000">
              <a:off x="3547869" y="1316736"/>
              <a:ext cx="3372310" cy="1331366"/>
            </a:xfrm>
            <a:prstGeom prst="snip1Rect">
              <a:avLst>
                <a:gd name="adj" fmla="val 50000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086100" y="1314450"/>
              <a:ext cx="3829050" cy="134096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This</a:t>
              </a:r>
              <a:r>
                <a:rPr kumimoji="0" lang="en-US" sz="3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sz="4000" b="0" i="0" u="none" strike="noStrike" cap="none" spc="-100" normalizeH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on</a:t>
              </a:r>
              <a:r>
                <a:rPr kumimoji="0" lang="en-US" sz="4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r>
                <a:rPr kumimoji="0" lang="en-US" sz="3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en-US" sz="4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did</a:t>
              </a:r>
              <a:r>
                <a:rPr kumimoji="0" lang="en-US" sz="4000" b="0" i="0" u="none" strike="noStrike" cap="none" spc="-100" normalizeH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r>
                <a:rPr kumimoji="0" lang="en-US" sz="40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't kill my PC.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645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3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00"/>
                            </p:stCondLst>
                            <p:childTnLst>
                              <p:par>
                                <p:cTn id="1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062" y="0"/>
            <a:ext cx="9144000" cy="6858000"/>
          </a:xfrm>
        </p:spPr>
        <p:txBody>
          <a:bodyPr/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(n):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for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in range(n):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yield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myIterableList</a:t>
            </a:r>
            <a:r>
              <a:rPr lang="en-US" altLang="zh-TW" dirty="0">
                <a:latin typeface="Lucida Console" panose="020B0609040504020204" pitchFamily="49" charset="0"/>
              </a:rPr>
              <a:t>(n):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dirty="0">
                <a:latin typeface="Lucida Console" panose="020B0609040504020204" pitchFamily="49" charset="0"/>
              </a:rPr>
              <a:t> [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for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in range(n)]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myIterableList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,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&lt;</a:t>
            </a:r>
            <a:r>
              <a:rPr lang="en-US" altLang="zh-TW" dirty="0">
                <a:solidFill>
                  <a:srgbClr val="FF0000"/>
                </a:solidFill>
                <a:ea typeface="STXihei" panose="02010600040101010101" pitchFamily="2" charset="-122"/>
              </a:rPr>
              <a:t>generator object </a:t>
            </a:r>
            <a:r>
              <a:rPr lang="en-US" altLang="zh-TW" dirty="0" err="1">
                <a:solidFill>
                  <a:srgbClr val="FF0000"/>
                </a:solidFill>
                <a:ea typeface="STXihei" panose="02010600040101010101" pitchFamily="2" charset="-122"/>
              </a:rPr>
              <a:t>myGeneratorList</a:t>
            </a:r>
            <a:r>
              <a:rPr lang="en-US" altLang="zh-TW" dirty="0">
                <a:latin typeface="Arial Narrow" panose="020B0606020202030204" pitchFamily="34" charset="0"/>
                <a:ea typeface="STXihei" panose="02010600040101010101" pitchFamily="2" charset="-122"/>
              </a:rPr>
              <a:t> at 0x6ffffb15728</a:t>
            </a:r>
            <a:r>
              <a:rPr lang="en-US" altLang="zh-TW" dirty="0">
                <a:latin typeface="Lucida Console" panose="020B0609040504020204" pitchFamily="49" charset="0"/>
              </a:rPr>
              <a:t>&gt;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[0, 1]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(list(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)), 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(list(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)), 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nn-NO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nn-NO" altLang="zh-TW" dirty="0">
                <a:latin typeface="Lucida Console" panose="020B0609040504020204" pitchFamily="49" charset="0"/>
              </a:rPr>
              <a:t> for 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nn-NO" altLang="zh-TW" dirty="0">
                <a:latin typeface="Lucida Console" panose="020B0609040504020204" pitchFamily="49" charset="0"/>
              </a:rPr>
              <a:t> in zip(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nn-NO" altLang="zh-TW" dirty="0"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1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nn-NO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nn-NO" altLang="zh-TW" dirty="0">
                <a:latin typeface="Lucida Console" panose="020B0609040504020204" pitchFamily="49" charset="0"/>
              </a:rPr>
              <a:t> for 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nn-NO" altLang="zh-TW" dirty="0">
                <a:latin typeface="Lucida Console" panose="020B0609040504020204" pitchFamily="49" charset="0"/>
              </a:rPr>
              <a:t> in zip(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nn-NO" altLang="zh-TW" dirty="0"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73062" y="4876801"/>
            <a:ext cx="851452" cy="27167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73062" y="2478413"/>
            <a:ext cx="851452" cy="3575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73062" y="3200401"/>
            <a:ext cx="851452" cy="2909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73062" y="3864230"/>
            <a:ext cx="851452" cy="2850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73062" y="4515592"/>
            <a:ext cx="851452" cy="2850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73062" y="6019801"/>
            <a:ext cx="851452" cy="342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66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062" y="0"/>
            <a:ext cx="9144000" cy="6858000"/>
          </a:xfrm>
        </p:spPr>
        <p:txBody>
          <a:bodyPr/>
          <a:lstStyle/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(n):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for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in range(n):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yield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endParaRPr lang="en-US" altLang="zh-TW" dirty="0">
              <a:latin typeface="Lucida Console" panose="020B0609040504020204" pitchFamily="49" charset="0"/>
            </a:endParaRP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latin typeface="Lucida Console" panose="020B0609040504020204" pitchFamily="49" charset="0"/>
              </a:rPr>
              <a:t>def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myIterableList</a:t>
            </a:r>
            <a:r>
              <a:rPr lang="en-US" altLang="zh-TW" dirty="0">
                <a:latin typeface="Lucida Console" panose="020B0609040504020204" pitchFamily="49" charset="0"/>
              </a:rPr>
              <a:t>(n):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  <a:r>
              <a:rPr lang="en-US" altLang="zh-TW" dirty="0">
                <a:latin typeface="Lucida Console" panose="020B0609040504020204" pitchFamily="49" charset="0"/>
              </a:rPr>
              <a:t>    </a:t>
            </a:r>
            <a:r>
              <a:rPr lang="en-US" altLang="zh-TW" dirty="0">
                <a:solidFill>
                  <a:srgbClr val="00B0F0"/>
                </a:solidFill>
                <a:latin typeface="Lucida Console" panose="020B0609040504020204" pitchFamily="49" charset="0"/>
              </a:rPr>
              <a:t>return</a:t>
            </a:r>
            <a:r>
              <a:rPr lang="en-US" altLang="zh-TW" dirty="0">
                <a:latin typeface="Lucida Console" panose="020B0609040504020204" pitchFamily="49" charset="0"/>
              </a:rPr>
              <a:t> [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for </a:t>
            </a:r>
            <a:r>
              <a:rPr lang="en-US" altLang="zh-TW" dirty="0" err="1">
                <a:latin typeface="Lucida Console" panose="020B0609040504020204" pitchFamily="49" charset="0"/>
              </a:rPr>
              <a:t>i</a:t>
            </a:r>
            <a:r>
              <a:rPr lang="en-US" altLang="zh-TW" dirty="0">
                <a:latin typeface="Lucida Console" panose="020B0609040504020204" pitchFamily="49" charset="0"/>
              </a:rPr>
              <a:t> in range(n)]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myIterableList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,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latin typeface="Lucida Console" panose="020B0609040504020204" pitchFamily="49" charset="0"/>
              </a:rPr>
              <a:t>&lt;</a:t>
            </a:r>
            <a:r>
              <a:rPr lang="en-US" altLang="zh-TW" dirty="0">
                <a:solidFill>
                  <a:srgbClr val="FF0000"/>
                </a:solidFill>
                <a:ea typeface="STXihei" panose="02010600040101010101" pitchFamily="2" charset="-122"/>
              </a:rPr>
              <a:t>generator object </a:t>
            </a:r>
            <a:r>
              <a:rPr lang="en-US" altLang="zh-TW" dirty="0" err="1">
                <a:solidFill>
                  <a:srgbClr val="FF0000"/>
                </a:solidFill>
                <a:ea typeface="STXihei" panose="02010600040101010101" pitchFamily="2" charset="-122"/>
              </a:rPr>
              <a:t>myGeneratorList</a:t>
            </a:r>
            <a:r>
              <a:rPr lang="en-US" altLang="zh-TW" dirty="0">
                <a:latin typeface="Arial Narrow" panose="020B0606020202030204" pitchFamily="34" charset="0"/>
                <a:ea typeface="STXihei" panose="02010600040101010101" pitchFamily="2" charset="-122"/>
              </a:rPr>
              <a:t> at 0x6ffffb15728</a:t>
            </a:r>
            <a:r>
              <a:rPr lang="en-US" altLang="zh-TW" dirty="0">
                <a:latin typeface="Lucida Console" panose="020B0609040504020204" pitchFamily="49" charset="0"/>
              </a:rPr>
              <a:t>&gt;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[0, 1]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(list(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)), 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print(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(list(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)), </a:t>
            </a:r>
            <a:r>
              <a:rPr lang="en-US" altLang="zh-TW" dirty="0" err="1">
                <a:latin typeface="Lucida Console" panose="020B0609040504020204" pitchFamily="49" charset="0"/>
              </a:rPr>
              <a:t>len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en-US" altLang="zh-TW" dirty="0">
                <a:latin typeface="Lucida Console" panose="020B0609040504020204" pitchFamily="49" charset="0"/>
              </a:rPr>
              <a:t>))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2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en-US" altLang="zh-TW" dirty="0">
                <a:latin typeface="Lucida Console" panose="020B0609040504020204" pitchFamily="49" charset="0"/>
              </a:rPr>
              <a:t> = </a:t>
            </a:r>
            <a:r>
              <a:rPr lang="en-US" altLang="zh-TW" dirty="0" err="1">
                <a:latin typeface="Lucida Console" panose="020B0609040504020204" pitchFamily="49" charset="0"/>
              </a:rPr>
              <a:t>myGeneratorList</a:t>
            </a:r>
            <a:r>
              <a:rPr lang="en-US" altLang="zh-TW" dirty="0">
                <a:latin typeface="Lucida Console" panose="020B0609040504020204" pitchFamily="49" charset="0"/>
              </a:rPr>
              <a:t>(</a:t>
            </a: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2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nn-NO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nn-NO" altLang="zh-TW" dirty="0">
                <a:latin typeface="Lucida Console" panose="020B0609040504020204" pitchFamily="49" charset="0"/>
              </a:rPr>
              <a:t> for 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nn-NO" altLang="zh-TW" dirty="0">
                <a:latin typeface="Lucida Console" panose="020B0609040504020204" pitchFamily="49" charset="0"/>
              </a:rPr>
              <a:t> in zip(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nn-NO" altLang="zh-TW" dirty="0"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0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0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1</a:t>
            </a:r>
            <a:r>
              <a:rPr lang="en-US" altLang="zh-TW" dirty="0">
                <a:latin typeface="Lucida Console" panose="020B0609040504020204" pitchFamily="49" charset="0"/>
              </a:rPr>
              <a:t> </a:t>
            </a:r>
            <a:r>
              <a:rPr lang="en-US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1</a:t>
            </a:r>
          </a:p>
          <a:p>
            <a:pPr marL="0" indent="0">
              <a:lnSpc>
                <a:spcPct val="83000"/>
              </a:lnSpc>
              <a:spcBef>
                <a:spcPts val="0"/>
              </a:spcBef>
              <a:buNone/>
            </a:pPr>
            <a:r>
              <a:rPr lang="nn-NO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r>
              <a:rPr lang="nn-NO" altLang="zh-TW" dirty="0">
                <a:latin typeface="Lucida Console" panose="020B0609040504020204" pitchFamily="49" charset="0"/>
              </a:rPr>
              <a:t> for 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nn-NO" altLang="zh-TW" dirty="0">
                <a:latin typeface="Lucida Console" panose="020B0609040504020204" pitchFamily="49" charset="0"/>
              </a:rPr>
              <a:t> in zip(</a:t>
            </a:r>
            <a:r>
              <a:rPr lang="nn-NO" altLang="zh-TW" dirty="0">
                <a:solidFill>
                  <a:srgbClr val="FF0000"/>
                </a:solidFill>
                <a:latin typeface="Lucida Console" panose="020B0609040504020204" pitchFamily="49" charset="0"/>
              </a:rPr>
              <a:t>L1</a:t>
            </a:r>
            <a:r>
              <a:rPr lang="nn-NO" altLang="zh-TW" dirty="0">
                <a:latin typeface="Lucida Console" panose="020B0609040504020204" pitchFamily="49" charset="0"/>
              </a:rPr>
              <a:t>,</a:t>
            </a:r>
            <a:r>
              <a:rPr lang="nn-NO" altLang="zh-TW" dirty="0">
                <a:solidFill>
                  <a:srgbClr val="339933"/>
                </a:solidFill>
                <a:latin typeface="Lucida Console" panose="020B0609040504020204" pitchFamily="49" charset="0"/>
              </a:rPr>
              <a:t>L2</a:t>
            </a:r>
            <a:r>
              <a:rPr lang="nn-NO" altLang="zh-TW" dirty="0">
                <a:latin typeface="Lucida Console" panose="020B0609040504020204" pitchFamily="49" charset="0"/>
              </a:rPr>
              <a:t>): </a:t>
            </a:r>
            <a:r>
              <a:rPr lang="en-US" altLang="zh-TW" dirty="0">
                <a:latin typeface="Lucida Console" panose="020B0609040504020204" pitchFamily="49" charset="0"/>
              </a:rPr>
              <a:t>print(</a:t>
            </a:r>
            <a:r>
              <a:rPr lang="en-US" altLang="zh-TW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en-US" altLang="zh-TW" dirty="0" err="1">
                <a:latin typeface="Lucida Console" panose="020B0609040504020204" pitchFamily="49" charset="0"/>
              </a:rPr>
              <a:t>,</a:t>
            </a:r>
            <a:r>
              <a:rPr lang="en-US" altLang="zh-TW" dirty="0" err="1">
                <a:solidFill>
                  <a:srgbClr val="339933"/>
                </a:solidFill>
                <a:latin typeface="Lucida Console" panose="020B0609040504020204" pitchFamily="49" charset="0"/>
              </a:rPr>
              <a:t>j</a:t>
            </a:r>
            <a:r>
              <a:rPr lang="en-US" altLang="zh-TW" dirty="0">
                <a:latin typeface="Lucida Console" panose="020B0609040504020204" pitchFamily="49" charset="0"/>
              </a:rPr>
              <a:t>)</a:t>
            </a:r>
          </a:p>
          <a:p>
            <a:pPr marL="0" indent="0">
              <a:lnSpc>
                <a:spcPct val="50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...</a:t>
            </a:r>
          </a:p>
          <a:p>
            <a:pPr marL="0" indent="0">
              <a:lnSpc>
                <a:spcPct val="87000"/>
              </a:lnSpc>
              <a:spcBef>
                <a:spcPts val="0"/>
              </a:spcBef>
              <a:buNone/>
            </a:pPr>
            <a:r>
              <a:rPr lang="en-US" altLang="zh-TW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</a:rPr>
              <a:t>&gt;&gt;&gt;</a:t>
            </a:r>
            <a:endParaRPr lang="zh-TW" altLang="en-US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73062" y="4876801"/>
            <a:ext cx="851452" cy="27167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73062" y="2478413"/>
            <a:ext cx="851452" cy="35755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73062" y="3200401"/>
            <a:ext cx="851452" cy="29094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73062" y="3864230"/>
            <a:ext cx="851452" cy="2850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73062" y="4515592"/>
            <a:ext cx="851452" cy="28500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4945062" y="-76200"/>
            <a:ext cx="4572000" cy="2209800"/>
          </a:xfrm>
          <a:prstGeom prst="wedgeRoundRectCallout">
            <a:avLst>
              <a:gd name="adj1" fmla="val -57568"/>
              <a:gd name="adj2" fmla="val 83415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Notice that the generator doesn’t have data, just a pointer to a function that knows how to make data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945062" y="3657600"/>
            <a:ext cx="4572000" cy="2209800"/>
          </a:xfrm>
          <a:prstGeom prst="wedgeRoundRectCallout">
            <a:avLst>
              <a:gd name="adj1" fmla="val -75135"/>
              <a:gd name="adj2" fmla="val -60294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If not cast to a list, </a:t>
            </a:r>
            <a:r>
              <a:rPr lang="en-US" altLang="zh-TW" sz="3200" dirty="0" err="1">
                <a:solidFill>
                  <a:srgbClr val="000000"/>
                </a:solidFill>
                <a:latin typeface="Times New Roman" charset="0"/>
              </a:rPr>
              <a:t>len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() would cause an error, because a generator has no data, so no size.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1668462" y="4724400"/>
            <a:ext cx="7391400" cy="1706262"/>
          </a:xfrm>
          <a:prstGeom prst="wedgeRoundRectCallout">
            <a:avLst>
              <a:gd name="adj1" fmla="val -64268"/>
              <a:gd name="adj2" fmla="val -63915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This is interesting. If L1 got cast into a list, that means it has </a:t>
            </a:r>
            <a:r>
              <a:rPr lang="en-US" altLang="zh-TW" sz="3200" b="1" i="1" dirty="0">
                <a:solidFill>
                  <a:srgbClr val="000000"/>
                </a:solidFill>
                <a:latin typeface="Times New Roman" charset="0"/>
              </a:rPr>
              <a:t>already</a:t>
            </a: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 been iterated. </a:t>
            </a:r>
            <a:b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</a:b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So it can’t be iterated again.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373062" y="6019801"/>
            <a:ext cx="851452" cy="342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260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cs typeface="Times New Roman" panose="02020603050405020304" pitchFamily="18" charset="0"/>
              </a:rPr>
              <a:t>&gt;&gt;&gt;</a:t>
            </a:r>
            <a:endParaRPr lang="zh-TW" altLang="en-US" sz="2600" dirty="0">
              <a:solidFill>
                <a:srgbClr val="FFFFFF">
                  <a:lumMod val="85000"/>
                </a:srgbClr>
              </a:solidFill>
              <a:latin typeface="Lucida Console" panose="020B060904050402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2963862" y="3124200"/>
            <a:ext cx="5791200" cy="1219200"/>
          </a:xfrm>
          <a:prstGeom prst="wedgeRoundRectCallout">
            <a:avLst>
              <a:gd name="adj1" fmla="val -72854"/>
              <a:gd name="adj2" fmla="val 70539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So if we want to generate it again, we have to re-initialize it first.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14" name="Rounded Rectangular Callout 13"/>
          <p:cNvSpPr/>
          <p:nvPr/>
        </p:nvSpPr>
        <p:spPr bwMode="auto">
          <a:xfrm>
            <a:off x="2659062" y="6400800"/>
            <a:ext cx="6844748" cy="457200"/>
          </a:xfrm>
          <a:prstGeom prst="wedgeRoundRectCallout">
            <a:avLst>
              <a:gd name="adj1" fmla="val -73287"/>
              <a:gd name="adj2" fmla="val -42795"/>
              <a:gd name="adj3" fmla="val 16667"/>
            </a:avLst>
          </a:prstGeom>
          <a:solidFill>
            <a:srgbClr val="00DBD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200" dirty="0">
                <a:solidFill>
                  <a:srgbClr val="000000"/>
                </a:solidFill>
                <a:latin typeface="Times New Roman" charset="0"/>
              </a:rPr>
              <a:t>We iterated it, so we can’t iterate again.</a:t>
            </a:r>
            <a:endParaRPr lang="zh-TW" altLang="en-US" sz="3200" dirty="0">
              <a:solidFill>
                <a:srgbClr val="000000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89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3" grpId="0" animBg="1"/>
      <p:bldP spid="13" grpId="1" animBg="1"/>
      <p:bldP spid="1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nvie.com/img/relationship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1130212"/>
            <a:ext cx="8506453" cy="38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036653" y="5564836"/>
            <a:ext cx="47500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dirty="0">
                <a:solidFill>
                  <a:srgbClr val="FF0000"/>
                </a:solidFill>
                <a:hlinkClick r:id="rId3"/>
              </a:rPr>
              <a:t>http://nvie.com/posts/iterators-vs-generators/</a:t>
            </a:r>
            <a:endParaRPr lang="en-US" altLang="zh-TW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18851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034" y="381000"/>
            <a:ext cx="8601657" cy="899160"/>
          </a:xfrm>
        </p:spPr>
        <p:txBody>
          <a:bodyPr/>
          <a:lstStyle/>
          <a:p>
            <a:r>
              <a:rPr lang="en-US" altLang="zh-TW" sz="4400" dirty="0" err="1">
                <a:latin typeface="Elephant" panose="02020904090505020303" pitchFamily="18" charset="0"/>
              </a:rPr>
              <a:t>Iterables</a:t>
            </a:r>
            <a:r>
              <a:rPr lang="en-US" altLang="zh-TW" sz="4400" dirty="0">
                <a:latin typeface="Elephant" panose="02020904090505020303" pitchFamily="18" charset="0"/>
              </a:rPr>
              <a:t> vs. Iterators </a:t>
            </a:r>
            <a:br>
              <a:rPr lang="en-US" altLang="zh-TW" sz="4400" dirty="0">
                <a:latin typeface="Elephant" panose="02020904090505020303" pitchFamily="18" charset="0"/>
              </a:rPr>
            </a:br>
            <a:r>
              <a:rPr lang="en-US" altLang="zh-TW" sz="4400" dirty="0">
                <a:latin typeface="Elephant" panose="02020904090505020303" pitchFamily="18" charset="0"/>
              </a:rPr>
              <a:t>vs.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262" y="1795914"/>
            <a:ext cx="8077200" cy="4953000"/>
          </a:xfrm>
        </p:spPr>
        <p:txBody>
          <a:bodyPr/>
          <a:lstStyle/>
          <a:p>
            <a:r>
              <a:rPr lang="en-US" altLang="zh-TW" sz="2800" dirty="0"/>
              <a:t>Let’s now look at:</a:t>
            </a:r>
            <a:br>
              <a:rPr lang="en-US" altLang="zh-TW" sz="2800" dirty="0"/>
            </a:br>
            <a:r>
              <a:rPr lang="en-US" altLang="zh-TW" sz="2800" dirty="0">
                <a:solidFill>
                  <a:srgbClr val="FF0000"/>
                </a:solidFill>
                <a:hlinkClick r:id="rId2"/>
              </a:rPr>
              <a:t>http://nvie.com/posts/iterators-vs-generators/</a:t>
            </a:r>
            <a:endParaRPr lang="en-US" altLang="zh-TW" sz="2800" dirty="0">
              <a:solidFill>
                <a:srgbClr val="FF0000"/>
              </a:solidFill>
            </a:endParaRPr>
          </a:p>
          <a:p>
            <a:endParaRPr lang="en-US" altLang="zh-TW" sz="2800" dirty="0"/>
          </a:p>
          <a:p>
            <a:r>
              <a:rPr lang="en-US" altLang="zh-TW" sz="2800" dirty="0"/>
              <a:t>It really is part of the lecture notes. We did look at it in lecture (although we skipped the parts on classes). </a:t>
            </a:r>
          </a:p>
          <a:p>
            <a:endParaRPr lang="en-US" altLang="zh-TW" sz="2800" dirty="0"/>
          </a:p>
          <a:p>
            <a:r>
              <a:rPr lang="en-US" altLang="zh-TW" sz="2800" dirty="0"/>
              <a:t>It is material that could be on the exam, so do look at it.</a:t>
            </a:r>
          </a:p>
        </p:txBody>
      </p:sp>
    </p:spTree>
    <p:extLst>
      <p:ext uri="{BB962C8B-B14F-4D97-AF65-F5344CB8AC3E}">
        <p14:creationId xmlns:p14="http://schemas.microsoft.com/office/powerpoint/2010/main" val="103006285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4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FFC000"/>
                </a:solidFill>
              </a:rPr>
              <a:t>  </a:t>
            </a:r>
            <a:r>
              <a:rPr lang="en-US" altLang="en-US" spc="-100" dirty="0">
                <a:solidFill>
                  <a:schemeClr val="tx1"/>
                </a:solidFill>
              </a:rPr>
              <a:t>vs  </a:t>
            </a:r>
            <a:r>
              <a:rPr lang="en-US" altLang="en-US" sz="400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chemeClr val="tx1"/>
                </a:solidFill>
              </a:rPr>
              <a:t> </a:t>
            </a:r>
            <a:r>
              <a:rPr lang="en-US" altLang="en-US" sz="4000" b="1" spc="-100" dirty="0">
                <a:solidFill>
                  <a:srgbClr val="00B050"/>
                </a:solidFill>
              </a:rPr>
              <a:t> </a:t>
            </a:r>
            <a:r>
              <a:rPr lang="en-US" altLang="en-US" spc="-100" dirty="0">
                <a:solidFill>
                  <a:schemeClr val="tx1"/>
                </a:solidFill>
              </a:rPr>
              <a:t>vs  </a:t>
            </a:r>
            <a:r>
              <a:rPr lang="en-US" altLang="en-US" sz="400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)</a:t>
            </a:r>
            <a:endParaRPr lang="en-US" altLang="en-US" sz="4000" b="1" spc="-200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806483" y="6439"/>
            <a:ext cx="2298877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B0F0"/>
                </a:solidFill>
              </a:rPr>
              <a:t>  </a:t>
            </a:r>
            <a:endParaRPr lang="en-US" altLang="en-US" sz="4000" b="1" spc="-2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33623" y="6439"/>
            <a:ext cx="3086100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B050"/>
                </a:solidFill>
              </a:rPr>
              <a:t>  </a:t>
            </a:r>
            <a:endParaRPr lang="en-US" altLang="en-US" sz="4000" b="1" spc="-2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 x=</a:t>
            </a:r>
            <a:r>
              <a:rPr lang="en-US" altLang="zh-TW" sz="26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b="1" spc="-300" dirty="0" err="1">
                <a:solidFill>
                  <a:srgbClr val="FFC0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00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600" spc="-500" dirty="0" err="1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_;print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(x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[: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6]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,x[6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4: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6],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x[11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7: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177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 -&gt;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 an iterator from an object. the argument must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supply its own iterator, or be a sequence.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FFC000"/>
                </a:solidFill>
                <a:latin typeface="Consolas" panose="020B0609020204030204" pitchFamily="49" charset="0"/>
              </a:rPr>
              <a:t>'Y'</a:t>
            </a: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__[:66])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reversed(sequence) -&gt; reverse iterator over values of the sequence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#So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iterator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'S'</a:t>
            </a: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__[:76])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 a new list containing all items from the </a:t>
            </a:r>
            <a:r>
              <a:rPr lang="en-US" altLang="zh-TW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in ascending order.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#So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iterator: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000" dirty="0" err="1">
                <a:solidFill>
                  <a:srgbClr val="FFCCCC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  File "&lt;</a:t>
            </a:r>
            <a:r>
              <a:rPr lang="en-US" altLang="zh-TW" sz="2000" dirty="0" err="1">
                <a:solidFill>
                  <a:srgbClr val="FFCCCC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&gt;", line 1, in &lt;module&gt;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rgbClr val="FFCCCC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TW" sz="2600" dirty="0">
                <a:solidFill>
                  <a:srgbClr val="FF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2600" dirty="0">
                <a:solidFill>
                  <a:srgbClr val="EE2929"/>
                </a:solidFill>
                <a:latin typeface="Consolas" panose="020B0609020204030204" pitchFamily="49" charset="0"/>
              </a:rPr>
              <a:t>'list' object is not an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("YES")))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#But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00B0F0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: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'E'</a:t>
            </a:r>
          </a:p>
          <a:p>
            <a:pPr defTabSz="914400">
              <a:lnSpc>
                <a:spcPct val="62000"/>
              </a:lnSpc>
            </a:pP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6862" y="685800"/>
            <a:ext cx="6858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b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0000"/>
              </a:lnSpc>
            </a:pPr>
            <a:b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000" dirty="0">
              <a:solidFill>
                <a:srgbClr val="FFCCCC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000" dirty="0">
              <a:solidFill>
                <a:srgbClr val="FFCCCC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EE2929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03368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>
            <a:spLocks/>
          </p:cNvSpPr>
          <p:nvPr/>
        </p:nvSpPr>
        <p:spPr>
          <a:xfrm>
            <a:off x="3968" y="0"/>
            <a:ext cx="9729788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 err="1">
                <a:solidFill>
                  <a:srgbClr val="FFC000"/>
                </a:solidFill>
                <a:latin typeface="Lucida Console" panose="020B0609040504020204" pitchFamily="49" charset="0"/>
              </a:rPr>
              <a:t>iter</a:t>
            </a:r>
            <a:r>
              <a:rPr lang="en-US" altLang="en-US" sz="4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FFC00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FFC000"/>
                </a:solidFill>
              </a:rPr>
              <a:t>  </a:t>
            </a:r>
            <a:r>
              <a:rPr lang="en-US" altLang="en-US" spc="-100" dirty="0">
                <a:solidFill>
                  <a:schemeClr val="tx1"/>
                </a:solidFill>
              </a:rPr>
              <a:t>vs  </a:t>
            </a:r>
            <a:r>
              <a:rPr lang="en-US" altLang="en-US" sz="400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chemeClr val="tx1"/>
                </a:solidFill>
              </a:rPr>
              <a:t> </a:t>
            </a:r>
            <a:r>
              <a:rPr lang="en-US" altLang="en-US" sz="4000" b="1" spc="-100" dirty="0">
                <a:solidFill>
                  <a:srgbClr val="00B050"/>
                </a:solidFill>
              </a:rPr>
              <a:t> </a:t>
            </a:r>
            <a:r>
              <a:rPr lang="en-US" altLang="en-US" spc="-100" dirty="0">
                <a:solidFill>
                  <a:schemeClr val="tx1"/>
                </a:solidFill>
              </a:rPr>
              <a:t>vs  </a:t>
            </a:r>
            <a:r>
              <a:rPr lang="en-US" altLang="en-US" sz="4000" b="1" spc="-100" dirty="0">
                <a:solidFill>
                  <a:schemeClr val="tx1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chemeClr val="tx1"/>
                </a:solidFill>
                <a:latin typeface="Agency FB" panose="020B0503020202020204" pitchFamily="34" charset="0"/>
              </a:rPr>
              <a:t>)</a:t>
            </a:r>
            <a:endParaRPr lang="en-US" altLang="en-US" sz="4000" b="1" spc="-200" dirty="0">
              <a:solidFill>
                <a:schemeClr val="tx1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6806483" y="6439"/>
            <a:ext cx="2298877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>
                <a:solidFill>
                  <a:srgbClr val="00B0F0"/>
                </a:solidFill>
                <a:latin typeface="Lucida Console" panose="020B0609040504020204" pitchFamily="49" charset="0"/>
              </a:rPr>
              <a:t>sorted</a:t>
            </a:r>
            <a:r>
              <a:rPr lang="en-US" altLang="en-US" sz="4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B0F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B0F0"/>
                </a:solidFill>
              </a:rPr>
              <a:t>  </a:t>
            </a:r>
            <a:endParaRPr lang="en-US" altLang="en-US" sz="4000" b="1" spc="-2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33623" y="6439"/>
            <a:ext cx="3086100" cy="6858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2060"/>
                </a:solidFill>
                <a:latin typeface="Elephant" panose="02020904090505020303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4000" b="1" spc="-100" dirty="0">
                <a:solidFill>
                  <a:srgbClr val="00B050"/>
                </a:solidFill>
                <a:latin typeface="Lucida Console" panose="020B0609040504020204" pitchFamily="49" charset="0"/>
              </a:rPr>
              <a:t>reversed</a:t>
            </a:r>
            <a:r>
              <a:rPr lang="en-US" altLang="en-US" sz="4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(</a:t>
            </a:r>
            <a:r>
              <a:rPr lang="en-US" altLang="en-US" sz="2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 </a:t>
            </a:r>
            <a:r>
              <a:rPr lang="en-US" altLang="en-US" sz="4000" b="1" spc="-100" dirty="0">
                <a:solidFill>
                  <a:srgbClr val="00B050"/>
                </a:solidFill>
                <a:latin typeface="Agency FB" panose="020B0503020202020204" pitchFamily="34" charset="0"/>
              </a:rPr>
              <a:t>)</a:t>
            </a:r>
            <a:r>
              <a:rPr lang="en-US" altLang="en-US" sz="4000" b="1" spc="-100" dirty="0">
                <a:solidFill>
                  <a:srgbClr val="00B050"/>
                </a:solidFill>
              </a:rPr>
              <a:t>  </a:t>
            </a:r>
            <a:endParaRPr lang="en-US" altLang="en-US" sz="4000" b="1" spc="-200" dirty="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6862" y="685800"/>
            <a:ext cx="91440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 x=</a:t>
            </a:r>
            <a:r>
              <a:rPr lang="en-US" altLang="zh-TW" sz="26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ite</a:t>
            </a:r>
            <a:r>
              <a:rPr lang="en-US" altLang="zh-TW" sz="2600" b="1" spc="-300" dirty="0" err="1">
                <a:solidFill>
                  <a:srgbClr val="FFC000"/>
                </a:solidFill>
                <a:latin typeface="Consolas" panose="020B0609020204030204" pitchFamily="49" charset="0"/>
              </a:rPr>
              <a:t>r</a:t>
            </a:r>
            <a:r>
              <a:rPr lang="en-US" altLang="zh-TW" sz="2600" spc="-3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zh-TW" sz="2600" spc="-500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doc</a:t>
            </a:r>
            <a:r>
              <a:rPr lang="en-US" altLang="zh-TW" sz="2600" spc="-500" dirty="0" err="1">
                <a:solidFill>
                  <a:schemeClr val="tx1"/>
                </a:solidFill>
                <a:latin typeface="Consolas" panose="020B0609020204030204" pitchFamily="49" charset="0"/>
              </a:rPr>
              <a:t>_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_;print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(x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[: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6]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,x[6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4: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9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6],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x[11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7: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177</a:t>
            </a:r>
            <a:r>
              <a:rPr lang="en-US" altLang="zh-TW" sz="2600" spc="-100" dirty="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 -&gt;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Get an iterator from an object. the argument must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supply its own iterator, or be a sequence.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 err="1">
                <a:solidFill>
                  <a:srgbClr val="FFC000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FFC000"/>
                </a:solidFill>
                <a:latin typeface="Consolas" panose="020B0609020204030204" pitchFamily="49" charset="0"/>
              </a:rPr>
              <a:t>'Y'</a:t>
            </a: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__[:66])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reversed(sequence) -&gt; reverse iterator over values of the sequence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#So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reversed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dirty="0">
                <a:solidFill>
                  <a:srgbClr val="00B05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Consolas" panose="020B0609020204030204" pitchFamily="49" charset="0"/>
              </a:rPr>
              <a:t>iterator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00B050"/>
                </a:solidFill>
                <a:latin typeface="Consolas" panose="020B0609020204030204" pitchFamily="49" charset="0"/>
              </a:rPr>
              <a:t>'S'</a:t>
            </a: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</a:t>
            </a: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print(</a:t>
            </a:r>
            <a:r>
              <a:rPr lang="en-US" altLang="zh-TW" sz="2600" b="1" dirty="0" err="1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.__doc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__[:76])</a:t>
            </a:r>
          </a:p>
          <a:p>
            <a:pPr defTabSz="914400">
              <a:lnSpc>
                <a:spcPct val="80000"/>
              </a:lnSpc>
            </a:pP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 a new list containing all items from the </a:t>
            </a:r>
            <a:r>
              <a:rPr lang="en-US" altLang="zh-TW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in ascending order.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#So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isn't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iterator: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000" dirty="0" err="1">
                <a:solidFill>
                  <a:srgbClr val="FFCCCC"/>
                </a:solidFill>
                <a:latin typeface="Consolas" panose="020B0609020204030204" pitchFamily="49" charset="0"/>
              </a:rPr>
              <a:t>Traceback</a:t>
            </a: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 (most recent call last):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  File "&lt;</a:t>
            </a:r>
            <a:r>
              <a:rPr lang="en-US" altLang="zh-TW" sz="2000" dirty="0" err="1">
                <a:solidFill>
                  <a:srgbClr val="FFCCCC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2000" dirty="0">
                <a:solidFill>
                  <a:srgbClr val="FFCCCC"/>
                </a:solidFill>
                <a:latin typeface="Consolas" panose="020B0609020204030204" pitchFamily="49" charset="0"/>
              </a:rPr>
              <a:t>&gt;", line 1, in &lt;module&gt;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 err="1">
                <a:solidFill>
                  <a:srgbClr val="FFCCCC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TW" sz="2600" dirty="0">
                <a:solidFill>
                  <a:srgbClr val="FFCCCC"/>
                </a:solidFill>
                <a:latin typeface="Consolas" panose="020B0609020204030204" pitchFamily="49" charset="0"/>
              </a:rPr>
              <a:t>: </a:t>
            </a:r>
            <a:r>
              <a:rPr lang="en-US" altLang="zh-TW" sz="2600" dirty="0">
                <a:solidFill>
                  <a:srgbClr val="EE2929"/>
                </a:solidFill>
                <a:latin typeface="Consolas" panose="020B0609020204030204" pitchFamily="49" charset="0"/>
              </a:rPr>
              <a:t>'list' object is not an iterator</a:t>
            </a: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/>
                </a:solidFill>
                <a:latin typeface="Consolas" panose="020B0609020204030204" pitchFamily="49" charset="0"/>
              </a:rPr>
              <a:t>&gt;&gt;&gt; 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next(</a:t>
            </a:r>
            <a:r>
              <a:rPr lang="en-US" altLang="zh-TW" sz="2600" dirty="0" err="1">
                <a:solidFill>
                  <a:schemeClr val="tx1"/>
                </a:solidFill>
                <a:latin typeface="Consolas" panose="020B0609020204030204" pitchFamily="49" charset="0"/>
              </a:rPr>
              <a:t>iter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sorted</a:t>
            </a:r>
            <a:r>
              <a:rPr lang="en-US" altLang="zh-TW" sz="2600" dirty="0">
                <a:solidFill>
                  <a:schemeClr val="tx1"/>
                </a:solidFill>
                <a:latin typeface="Consolas" panose="020B0609020204030204" pitchFamily="49" charset="0"/>
              </a:rPr>
              <a:t>("YES")))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#But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it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is</a:t>
            </a:r>
            <a:r>
              <a:rPr lang="en-US" altLang="zh-TW" sz="20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600" dirty="0" err="1">
                <a:solidFill>
                  <a:srgbClr val="00B0F0"/>
                </a:solidFill>
                <a:latin typeface="Consolas" panose="020B0609020204030204" pitchFamily="49" charset="0"/>
              </a:rPr>
              <a:t>iterable</a:t>
            </a:r>
            <a:r>
              <a:rPr lang="en-US" altLang="zh-TW" sz="2600" dirty="0">
                <a:solidFill>
                  <a:srgbClr val="00B0F0"/>
                </a:solidFill>
                <a:latin typeface="Consolas" panose="020B0609020204030204" pitchFamily="49" charset="0"/>
              </a:rPr>
              <a:t>:</a:t>
            </a:r>
          </a:p>
          <a:p>
            <a:pPr defTabSz="914400">
              <a:lnSpc>
                <a:spcPct val="72000"/>
              </a:lnSpc>
            </a:pPr>
            <a:r>
              <a:rPr lang="en-US" altLang="zh-TW" sz="2600" b="1" dirty="0">
                <a:solidFill>
                  <a:srgbClr val="00B0F0"/>
                </a:solidFill>
                <a:latin typeface="Consolas" panose="020B0609020204030204" pitchFamily="49" charset="0"/>
              </a:rPr>
              <a:t>'E'</a:t>
            </a:r>
          </a:p>
          <a:p>
            <a:pPr defTabSz="914400">
              <a:lnSpc>
                <a:spcPct val="62000"/>
              </a:lnSpc>
            </a:pPr>
            <a:endParaRPr lang="en-US" altLang="zh-TW" sz="2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6862" y="685800"/>
            <a:ext cx="685800" cy="617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b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0000"/>
              </a:lnSpc>
            </a:pPr>
            <a:br>
              <a:rPr lang="en-US" altLang="zh-TW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endParaRPr lang="en-US" altLang="zh-TW" sz="2600" dirty="0">
              <a:solidFill>
                <a:schemeClr val="accent2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000" dirty="0">
              <a:solidFill>
                <a:srgbClr val="FFCCCC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000" dirty="0">
              <a:solidFill>
                <a:srgbClr val="FFCCCC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endParaRPr lang="en-US" altLang="zh-TW" sz="2600" dirty="0">
              <a:solidFill>
                <a:srgbClr val="EE2929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8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  <a:endParaRPr lang="en-US" altLang="zh-TW" sz="26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72000"/>
              </a:lnSpc>
            </a:pPr>
            <a:endParaRPr lang="en-US" altLang="zh-TW" sz="2600" b="1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defTabSz="914400">
              <a:lnSpc>
                <a:spcPct val="62000"/>
              </a:lnSpc>
            </a:pPr>
            <a:r>
              <a:rPr lang="en-US" altLang="zh-TW" sz="2600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</a:rPr>
              <a:t>&gt;&gt;&gt;</a:t>
            </a:r>
          </a:p>
        </p:txBody>
      </p:sp>
      <p:pic>
        <p:nvPicPr>
          <p:cNvPr id="7" name="Picture 2" descr="https://nvie.com/img/relationship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37" y="1018702"/>
            <a:ext cx="8506453" cy="38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16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8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222222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222222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222222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222222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222222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222222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222222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</a:t>
            </a:r>
            <a:r>
              <a:rPr lang="en-US" altLang="en-US" sz="2800" dirty="0">
                <a:solidFill>
                  <a:schemeClr val="bg1"/>
                </a:solidFill>
                <a:ea typeface="Lucida Grande"/>
              </a:rPr>
              <a:t>is used as a shorter way</a:t>
            </a:r>
            <a:endParaRPr lang="en-US" altLang="en-US" sz="1100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104895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4D4D4D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ea typeface="Lucida Grande"/>
              </a:rPr>
              <a:t>The "</a:t>
            </a:r>
            <a:r>
              <a:rPr kumimoji="0" lang="en-US" altLang="en-US" b="0" i="0" u="none" strike="noStrike" cap="none" spc="-100" normalizeH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0" i="0" u="none" strike="noStrike" cap="none" spc="-50" normalizeH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kumimoji="0" lang="en-US" altLang="en-US" b="0" i="0" u="none" strike="noStrike" cap="none" spc="-100" normalizeH="0" baseline="0" dirty="0">
                <a:ln>
                  <a:noFill/>
                </a:ln>
                <a:solidFill>
                  <a:srgbClr val="4D4D4D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kumimoji="0" lang="en-US" altLang="en-US" b="0" i="0" u="none" strike="noStrike" cap="none" spc="-100" normalizeH="0" baseline="0" dirty="0">
              <a:ln>
                <a:noFill/>
              </a:ln>
              <a:solidFill>
                <a:srgbClr val="4D4D4D"/>
              </a:solidFill>
              <a:effectLst/>
              <a:latin typeface="+mn-lt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506662" y="6172200"/>
            <a:ext cx="22098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088062" y="2362200"/>
            <a:ext cx="32004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278062" y="2933701"/>
            <a:ext cx="6781800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9990" y="2933701"/>
            <a:ext cx="1898072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675764" y="6151571"/>
            <a:ext cx="407988" cy="533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37499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4D4D4D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in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yield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endParaRPr lang="en-US" altLang="en-US" sz="2400" dirty="0"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3802062" y="6096000"/>
            <a:ext cx="23622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088062" y="2362200"/>
            <a:ext cx="32004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278062" y="2933701"/>
            <a:ext cx="6781800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79990" y="2933701"/>
            <a:ext cx="1898072" cy="43641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675764" y="6151571"/>
            <a:ext cx="407988" cy="5334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Lucida Console" panose="020B0609040504020204" pitchFamily="49" charset="0"/>
                <a:ea typeface="MS PGothic" pitchFamily="34" charset="-128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328462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4D4D4D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in</a:t>
            </a:r>
            <a:r>
              <a:rPr lang="en-US" altLang="en-US" sz="2400" dirty="0">
                <a:solidFill>
                  <a:srgbClr val="0066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yield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endParaRPr lang="en-US" altLang="en-US" sz="2400" dirty="0">
              <a:solidFill>
                <a:schemeClr val="bg1">
                  <a:lumMod val="85000"/>
                </a:schemeClr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66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011862" y="6172200"/>
            <a:ext cx="22098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96862" y="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+mj-lt"/>
                <a:ea typeface="MS PGothic" pitchFamily="34" charset="-128"/>
                <a:cs typeface="ＭＳ Ｐゴシック" pitchFamily="-65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D2DB9"/>
                </a:solidFill>
                <a:latin typeface="Arial" charset="0"/>
                <a:ea typeface="MS PGothic" pitchFamily="34" charset="-128"/>
                <a:cs typeface="ＭＳ Ｐゴシック" pitchFamily="-65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>
                <a:solidFill>
                  <a:srgbClr val="222222"/>
                </a:solidFill>
                <a:latin typeface="Arial" charset="0"/>
              </a:defRPr>
            </a:lvl9pPr>
          </a:lstStyle>
          <a:p>
            <a:pPr defTabSz="914400"/>
            <a:r>
              <a:rPr lang="en-US" altLang="en-US" sz="4400" kern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kern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en-US" kern="0" spc="-25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kern="0" spc="-10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kern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kern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kern="0" spc="-100" dirty="0"/>
          </a:p>
        </p:txBody>
      </p:sp>
    </p:spTree>
    <p:extLst>
      <p:ext uri="{BB962C8B-B14F-4D97-AF65-F5344CB8AC3E}">
        <p14:creationId xmlns:p14="http://schemas.microsoft.com/office/powerpoint/2010/main" val="265429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862" y="0"/>
            <a:ext cx="9144000" cy="762000"/>
          </a:xfrm>
        </p:spPr>
        <p:txBody>
          <a:bodyPr/>
          <a:lstStyle/>
          <a:p>
            <a:r>
              <a:rPr lang="en-US" altLang="en-US" sz="4400" dirty="0">
                <a:latin typeface="Elephant" panose="02020904090505020303" pitchFamily="18" charset="0"/>
                <a:ea typeface="Lucida Grande"/>
              </a:rPr>
              <a:t>Using</a:t>
            </a:r>
            <a:r>
              <a:rPr lang="en-US" altLang="en-US" sz="4400" dirty="0">
                <a:latin typeface="Arial" panose="020B0604020202020204" pitchFamily="34" charset="0"/>
                <a:ea typeface="Lucida Grande"/>
              </a:rPr>
              <a:t> </a:t>
            </a:r>
            <a:r>
              <a:rPr lang="en-US" altLang="en-US" spc="-25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yield </a:t>
            </a:r>
            <a:r>
              <a:rPr lang="en-US" altLang="en-US" spc="-1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</a:rPr>
              <a:t>from </a:t>
            </a:r>
            <a:r>
              <a:rPr lang="en-US" altLang="en-US" sz="4000" dirty="0">
                <a:latin typeface="Elephant" panose="02020904090505020303" pitchFamily="18" charset="0"/>
                <a:ea typeface="Lucida Grande"/>
              </a:rPr>
              <a:t>to Delegate (</a:t>
            </a:r>
            <a:r>
              <a:rPr lang="zh-TW" altLang="en-US" sz="3200" dirty="0">
                <a:latin typeface="Elephant" panose="02020904090505020303" pitchFamily="18" charset="0"/>
                <a:ea typeface="Lucida Grande"/>
              </a:rPr>
              <a:t>委派</a:t>
            </a:r>
            <a:r>
              <a:rPr lang="en-US" altLang="en-US" sz="4000" dirty="0">
                <a:latin typeface="Elephant" panose="02020904090505020303" pitchFamily="18" charset="0"/>
                <a:ea typeface="Lucida Grande"/>
              </a:rPr>
              <a:t>) </a:t>
            </a:r>
            <a:endParaRPr lang="en-US" sz="4000" spc="-100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9262" y="637793"/>
            <a:ext cx="8991600" cy="626825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0" indent="0" algn="just">
              <a:spcBef>
                <a:spcPct val="0"/>
              </a:spcBef>
              <a:buClrTx/>
              <a:buNone/>
            </a:pP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The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</a:t>
            </a:r>
            <a:r>
              <a:rPr lang="en-US" altLang="en-US" sz="1600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lang="en-US" altLang="en-US" spc="-5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</a:t>
            </a:r>
            <a:r>
              <a:rPr lang="en-US" altLang="en-US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ro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m"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</a:t>
            </a:r>
            <a:r>
              <a:rPr lang="en-US" altLang="en-US" sz="2800" spc="-30" dirty="0">
                <a:solidFill>
                  <a:srgbClr val="4D4D4D"/>
                </a:solidFill>
                <a:latin typeface="Arial"/>
                <a:ea typeface="Lucida Grande"/>
              </a:rPr>
              <a:t>syntax allows code containing</a:t>
            </a:r>
            <a:r>
              <a:rPr lang="en-US" altLang="en-US" sz="2800" spc="-100" dirty="0">
                <a:solidFill>
                  <a:srgbClr val="4D4D4D"/>
                </a:solidFill>
                <a:latin typeface="Arial"/>
                <a:ea typeface="Lucida Grande"/>
              </a:rPr>
              <a:t> "</a:t>
            </a:r>
            <a:r>
              <a:rPr lang="en-US" altLang="en-US" spc="-100" dirty="0">
                <a:solidFill>
                  <a:srgbClr val="4D4D4D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yield"</a:t>
            </a:r>
            <a:endParaRPr lang="en-US" altLang="en-US" spc="-100" dirty="0">
              <a:solidFill>
                <a:srgbClr val="4D4D4D"/>
              </a:solidFill>
              <a:latin typeface="Arial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 to be delegated out to another generator. </a:t>
            </a:r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The value returned by that </a:t>
            </a:r>
            <a:r>
              <a:rPr lang="en-US" altLang="en-US" sz="2800" dirty="0" err="1">
                <a:solidFill>
                  <a:srgbClr val="4D4D4D"/>
                </a:solidFill>
                <a:ea typeface="Lucida Grande"/>
              </a:rPr>
              <a:t>subgenerator</a:t>
            </a:r>
            <a:r>
              <a:rPr lang="en-US" altLang="en-US" sz="2800" dirty="0">
                <a:solidFill>
                  <a:srgbClr val="4D4D4D"/>
                </a:solidFill>
                <a:ea typeface="Lucida Grande"/>
              </a:rPr>
              <a:t> then becomes the value that is yielded.</a:t>
            </a:r>
          </a:p>
          <a:p>
            <a:pPr marL="0" indent="0">
              <a:lnSpc>
                <a:spcPct val="90000"/>
              </a:lnSpc>
              <a:spcBef>
                <a:spcPts val="600"/>
              </a:spcBef>
              <a:buClrTx/>
              <a:buNone/>
            </a:pP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Typically, “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 from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 is used as a shorter way to say: “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 item in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66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 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FFA30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iterable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 yield item</a:t>
            </a:r>
            <a:r>
              <a:rPr lang="en-US" altLang="en-US" sz="2800" dirty="0">
                <a:solidFill>
                  <a:srgbClr val="222222"/>
                </a:solidFill>
                <a:ea typeface="Lucida Grande"/>
              </a:rPr>
              <a:t>”:</a:t>
            </a:r>
            <a:endParaRPr lang="en-US" altLang="en-US" sz="1100" dirty="0"/>
          </a:p>
          <a:p>
            <a:pPr marL="0" indent="0">
              <a:spcBef>
                <a:spcPts val="60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def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for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in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range(</a:t>
            </a:r>
            <a:r>
              <a:rPr lang="en-US" altLang="en-US" sz="2400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x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: yield </a:t>
            </a:r>
            <a:r>
              <a:rPr lang="en-US" altLang="en-US" sz="2400" b="1" dirty="0" err="1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endParaRPr lang="en-US" altLang="en-US" sz="2400" b="1" dirty="0">
              <a:solidFill>
                <a:srgbClr val="00B0F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yield '   '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   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yield from </a:t>
            </a:r>
            <a:r>
              <a:rPr lang="en-US" altLang="en-US" sz="2400" b="1" dirty="0">
                <a:solidFill>
                  <a:srgbClr val="FFA3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"Hi"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 list(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g(</a:t>
            </a:r>
            <a:r>
              <a:rPr lang="en-US" altLang="en-US" sz="2400" b="1" dirty="0">
                <a:solidFill>
                  <a:srgbClr val="7030A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4</a:t>
            </a:r>
            <a:r>
              <a:rPr lang="en-US" altLang="en-US" sz="2400" b="1" dirty="0">
                <a:solidFill>
                  <a:srgbClr val="2D2DB9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Tx/>
              <a:buNone/>
            </a:pP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[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1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2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</a:t>
            </a:r>
            <a:r>
              <a:rPr lang="en-US" altLang="en-US" sz="2400" b="1" dirty="0">
                <a:solidFill>
                  <a:srgbClr val="00B0F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3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, '   ', '</a:t>
            </a:r>
            <a:r>
              <a:rPr lang="en-US" altLang="en-US" sz="2400" dirty="0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H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', '</a:t>
            </a:r>
            <a:r>
              <a:rPr lang="en-US" altLang="en-US" sz="2400" dirty="0" err="1">
                <a:solidFill>
                  <a:srgbClr val="FF0000"/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i</a:t>
            </a:r>
            <a:r>
              <a:rPr lang="en-US" altLang="en-US" sz="2400" dirty="0"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']</a:t>
            </a:r>
          </a:p>
          <a:p>
            <a:pPr marL="0" indent="0">
              <a:lnSpc>
                <a:spcPct val="86000"/>
              </a:lnSpc>
              <a:spcBef>
                <a:spcPts val="0"/>
              </a:spcBef>
              <a:buClrTx/>
              <a:buNone/>
            </a:pPr>
            <a:r>
              <a:rPr lang="en-US" altLang="en-US" sz="2400" dirty="0">
                <a:solidFill>
                  <a:schemeClr val="bg1">
                    <a:lumMod val="85000"/>
                  </a:scheme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&gt;&gt;&gt;</a:t>
            </a:r>
          </a:p>
        </p:txBody>
      </p:sp>
      <p:sp>
        <p:nvSpPr>
          <p:cNvPr id="4" name="Rectangle 1"/>
          <p:cNvSpPr txBox="1">
            <a:spLocks noChangeArrowheads="1"/>
          </p:cNvSpPr>
          <p:nvPr/>
        </p:nvSpPr>
        <p:spPr bwMode="auto">
          <a:xfrm>
            <a:off x="449262" y="4105656"/>
            <a:ext cx="8382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D2DB9"/>
              </a:buClr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  <a:cs typeface="ＭＳ Ｐゴシック" pitchFamily="-65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66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  <a:p>
            <a:pPr marL="0" indent="0" defTabSz="914400">
              <a:spcBef>
                <a:spcPts val="0"/>
              </a:spcBef>
              <a:buClrTx/>
              <a:buNone/>
            </a:pPr>
            <a:r>
              <a:rPr lang="en-US" altLang="en-US" sz="2400" kern="0" dirty="0">
                <a:solidFill>
                  <a:srgbClr val="FFFFFF">
                    <a:lumMod val="85000"/>
                  </a:srgbClr>
                </a:solidFill>
                <a:latin typeface="Lucida Console" panose="020B0609040504020204" pitchFamily="49" charset="0"/>
                <a:ea typeface="Lucida Grande"/>
                <a:cs typeface="Courier New" panose="02070309020205020404" pitchFamily="49" charset="0"/>
              </a:rPr>
              <a:t>...</a:t>
            </a:r>
            <a:endParaRPr lang="en-US" altLang="en-US" sz="2400" kern="0" dirty="0">
              <a:solidFill>
                <a:srgbClr val="000000"/>
              </a:solidFill>
              <a:latin typeface="Lucida Console" panose="020B0609040504020204" pitchFamily="49" charset="0"/>
              <a:ea typeface="Lucida Grande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7231062" y="6172200"/>
            <a:ext cx="2209800" cy="5334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latin typeface="Times New Roman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60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000000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28410</TotalTime>
  <Words>21218</Words>
  <Application>Microsoft Office PowerPoint</Application>
  <PresentationFormat>自訂</PresentationFormat>
  <Paragraphs>2819</Paragraphs>
  <Slides>129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16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129</vt:i4>
      </vt:variant>
    </vt:vector>
  </HeadingPairs>
  <TitlesOfParts>
    <vt:vector size="150" baseType="lpstr">
      <vt:lpstr>Agency FB</vt:lpstr>
      <vt:lpstr>Arial</vt:lpstr>
      <vt:lpstr>Arial Narrow</vt:lpstr>
      <vt:lpstr>Arial Rounded MT Bold</vt:lpstr>
      <vt:lpstr>Bahnschrift</vt:lpstr>
      <vt:lpstr>Calibri</vt:lpstr>
      <vt:lpstr>Calibri Light</vt:lpstr>
      <vt:lpstr>Consolas</vt:lpstr>
      <vt:lpstr>Courier New</vt:lpstr>
      <vt:lpstr>Elephant</vt:lpstr>
      <vt:lpstr>Lucida Console</vt:lpstr>
      <vt:lpstr>Lucida Fax</vt:lpstr>
      <vt:lpstr>Lucida Sans Typewriter</vt:lpstr>
      <vt:lpstr>Times New Roman</vt:lpstr>
      <vt:lpstr>Verdana</vt:lpstr>
      <vt:lpstr>Wingdings</vt:lpstr>
      <vt:lpstr>Default Design</vt:lpstr>
      <vt:lpstr>4_Default Design</vt:lpstr>
      <vt:lpstr>8_Default Design</vt:lpstr>
      <vt:lpstr>9_Office Theme</vt:lpstr>
      <vt:lpstr>1_Office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Comprehensions</vt:lpstr>
      <vt:lpstr>Comprehensions w/  nested loops</vt:lpstr>
      <vt:lpstr>Comprehensions w/  ifs</vt:lpstr>
      <vt:lpstr>Some comprehensions w/ prime( )</vt:lpstr>
      <vt:lpstr>Equivalent filters xy12z</vt:lpstr>
      <vt:lpstr>xyz2 Equivalent comprehensions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 mapping is a concept from math</vt:lpstr>
      <vt:lpstr>A mapping is a concept from math</vt:lpstr>
      <vt:lpstr>A mapping is a concept from math</vt:lpstr>
      <vt:lpstr>A mapping is a concept from math</vt:lpstr>
      <vt:lpstr>A mapping is a concept from math</vt:lpstr>
      <vt:lpstr>PowerPoint 簡報</vt:lpstr>
      <vt:lpstr>A map/lamda multi-list example:</vt:lpstr>
      <vt:lpstr>Another map( ) example:</vt:lpstr>
      <vt:lpstr>A map( ) example with lambda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 very complex functional program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Function Generators</vt:lpstr>
      <vt:lpstr>PowerPoint 簡報</vt:lpstr>
      <vt:lpstr>Function Generators</vt:lpstr>
      <vt:lpstr>next with a Function Generator</vt:lpstr>
      <vt:lpstr>PowerPoint 簡報</vt:lpstr>
      <vt:lpstr>PowerPoint 簡報</vt:lpstr>
      <vt:lpstr>Comprehensions</vt:lpstr>
      <vt:lpstr>PowerPoint 簡報</vt:lpstr>
      <vt:lpstr>PowerPoint 簡報</vt:lpstr>
      <vt:lpstr>PowerPoint 簡報</vt:lpstr>
      <vt:lpstr>Definitions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Iterables vs. Iterators  vs. Generators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Using yield from to Delegate (委派)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variable names</dc:title>
  <dc:creator>Steve Haga</dc:creator>
  <cp:lastModifiedBy>黃啟桓</cp:lastModifiedBy>
  <cp:revision>1036</cp:revision>
  <dcterms:created xsi:type="dcterms:W3CDTF">2017-03-07T03:26:49Z</dcterms:created>
  <dcterms:modified xsi:type="dcterms:W3CDTF">2021-04-27T12:11:17Z</dcterms:modified>
</cp:coreProperties>
</file>